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33"/>
  </p:notesMasterIdLst>
  <p:handoutMasterIdLst>
    <p:handoutMasterId r:id="rId34"/>
  </p:handoutMasterIdLst>
  <p:sldIdLst>
    <p:sldId id="272" r:id="rId5"/>
    <p:sldId id="841" r:id="rId6"/>
    <p:sldId id="842" r:id="rId7"/>
    <p:sldId id="843" r:id="rId8"/>
    <p:sldId id="844" r:id="rId9"/>
    <p:sldId id="845" r:id="rId10"/>
    <p:sldId id="846" r:id="rId11"/>
    <p:sldId id="847" r:id="rId12"/>
    <p:sldId id="851" r:id="rId13"/>
    <p:sldId id="852" r:id="rId14"/>
    <p:sldId id="853" r:id="rId15"/>
    <p:sldId id="854" r:id="rId16"/>
    <p:sldId id="855" r:id="rId17"/>
    <p:sldId id="856" r:id="rId18"/>
    <p:sldId id="848" r:id="rId19"/>
    <p:sldId id="860" r:id="rId20"/>
    <p:sldId id="850" r:id="rId21"/>
    <p:sldId id="866" r:id="rId22"/>
    <p:sldId id="867" r:id="rId23"/>
    <p:sldId id="849" r:id="rId24"/>
    <p:sldId id="857" r:id="rId25"/>
    <p:sldId id="858" r:id="rId26"/>
    <p:sldId id="862" r:id="rId27"/>
    <p:sldId id="861" r:id="rId28"/>
    <p:sldId id="863" r:id="rId29"/>
    <p:sldId id="864" r:id="rId30"/>
    <p:sldId id="868" r:id="rId31"/>
    <p:sldId id="865" r:id="rId32"/>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CC"/>
    <a:srgbClr val="993366"/>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38405" cy="38405"/>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24579"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24580"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24581"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77E50B8E-F93F-41F9-A655-DFB0C3C76729}" type="slidenum">
              <a:rPr lang="en-US"/>
              <a:pPr>
                <a:defRPr/>
              </a:pPr>
              <a:t>‹#›</a:t>
            </a:fld>
            <a:endParaRPr lang="en-US"/>
          </a:p>
        </p:txBody>
      </p:sp>
    </p:spTree>
    <p:extLst>
      <p:ext uri="{BB962C8B-B14F-4D97-AF65-F5344CB8AC3E}">
        <p14:creationId xmlns:p14="http://schemas.microsoft.com/office/powerpoint/2010/main" val="27469463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6147"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105FC705-5F52-4357-8602-6AAE5B6DAA19}" type="slidenum">
              <a:rPr lang="en-US"/>
              <a:pPr>
                <a:defRPr/>
              </a:pPr>
              <a:t>‹#›</a:t>
            </a:fld>
            <a:endParaRPr lang="en-US"/>
          </a:p>
        </p:txBody>
      </p:sp>
    </p:spTree>
    <p:extLst>
      <p:ext uri="{BB962C8B-B14F-4D97-AF65-F5344CB8AC3E}">
        <p14:creationId xmlns:p14="http://schemas.microsoft.com/office/powerpoint/2010/main" val="33449783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7A730-9904-2AD7-D570-72ABC585A4F9}"/>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9FD0AEAD-508E-2467-2E1C-44424C102F5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8312F2-412E-82A3-53A1-E8B946C6F9AD}"/>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9A1BCE75-1151-E41A-DD55-27CFF702DE0E}"/>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E4DE3C45-EE9A-D739-2A92-9A8464518191}"/>
              </a:ext>
            </a:extLst>
          </p:cNvPr>
          <p:cNvSpPr>
            <a:spLocks noGrp="1"/>
          </p:cNvSpPr>
          <p:nvPr>
            <p:ph type="sldNum" sz="quarter" idx="12"/>
          </p:nvPr>
        </p:nvSpPr>
        <p:spPr/>
        <p:txBody>
          <a:bodyPr/>
          <a:lstStyle/>
          <a:p>
            <a:pPr>
              <a:defRPr/>
            </a:pPr>
            <a:fld id="{4F7DA2C5-2BB8-4522-9A47-076A7DD0C497}" type="slidenum">
              <a:rPr lang="en-US" smtClean="0"/>
              <a:pPr>
                <a:defRPr/>
              </a:pPr>
              <a:t>‹#›</a:t>
            </a:fld>
            <a:endParaRPr lang="en-US"/>
          </a:p>
        </p:txBody>
      </p:sp>
    </p:spTree>
    <p:extLst>
      <p:ext uri="{BB962C8B-B14F-4D97-AF65-F5344CB8AC3E}">
        <p14:creationId xmlns:p14="http://schemas.microsoft.com/office/powerpoint/2010/main" val="2965433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980D2-2104-B4F8-5372-25F0596D50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5CA7D5-8E0F-A95F-1DAA-280EF06BD7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BF2234-42C2-E894-E8B9-18F7B00F8B6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F7345F01-2DD3-0DED-64E1-9482D64B23E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3CFE9333-A1B1-8CB2-EAA4-B038F70C53FC}"/>
              </a:ext>
            </a:extLst>
          </p:cNvPr>
          <p:cNvSpPr>
            <a:spLocks noGrp="1"/>
          </p:cNvSpPr>
          <p:nvPr>
            <p:ph type="sldNum" sz="quarter" idx="12"/>
          </p:nvPr>
        </p:nvSpPr>
        <p:spPr/>
        <p:txBody>
          <a:bodyPr/>
          <a:lstStyle/>
          <a:p>
            <a:pPr>
              <a:defRPr/>
            </a:pPr>
            <a:fld id="{A9C960E8-E978-4BEA-9D97-7036CF6E680C}" type="slidenum">
              <a:rPr lang="en-US" smtClean="0"/>
              <a:pPr>
                <a:defRPr/>
              </a:pPr>
              <a:t>‹#›</a:t>
            </a:fld>
            <a:endParaRPr lang="en-US"/>
          </a:p>
        </p:txBody>
      </p:sp>
    </p:spTree>
    <p:extLst>
      <p:ext uri="{BB962C8B-B14F-4D97-AF65-F5344CB8AC3E}">
        <p14:creationId xmlns:p14="http://schemas.microsoft.com/office/powerpoint/2010/main" val="2996220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D6EE7-D831-110C-759E-A73DD953B7A1}"/>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112AE32-4B9C-D6F9-4A48-99F7B712E142}"/>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B1A5B0-8568-5D87-9E8A-676483240198}"/>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24B08A98-0EA0-6D06-AEBE-31397D11F481}"/>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CD1FE23-4C6E-65A0-5CB2-F65143E95398}"/>
              </a:ext>
            </a:extLst>
          </p:cNvPr>
          <p:cNvSpPr>
            <a:spLocks noGrp="1"/>
          </p:cNvSpPr>
          <p:nvPr>
            <p:ph type="sldNum" sz="quarter" idx="12"/>
          </p:nvPr>
        </p:nvSpPr>
        <p:spPr/>
        <p:txBody>
          <a:bodyPr/>
          <a:lstStyle/>
          <a:p>
            <a:pPr>
              <a:defRPr/>
            </a:pPr>
            <a:fld id="{43B0D6B6-BFB5-4194-836E-CD650205B770}" type="slidenum">
              <a:rPr lang="en-US" smtClean="0"/>
              <a:pPr>
                <a:defRPr/>
              </a:pPr>
              <a:t>‹#›</a:t>
            </a:fld>
            <a:endParaRPr lang="en-US"/>
          </a:p>
        </p:txBody>
      </p:sp>
    </p:spTree>
    <p:extLst>
      <p:ext uri="{BB962C8B-B14F-4D97-AF65-F5344CB8AC3E}">
        <p14:creationId xmlns:p14="http://schemas.microsoft.com/office/powerpoint/2010/main" val="3927727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ED73D-9889-BD3C-F42E-3DF4023977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850F2A-2B64-F8AE-2496-4070053E2D30}"/>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9245449-A1C6-1744-784A-A5C70D23EE0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9F12BB-7CEE-1FAE-CCDB-FA0626D85BF5}"/>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2B40616-590F-97E2-3728-0E78D1DEFFA2}"/>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49CD91AB-CE61-5A49-7C48-53110EC65F9F}"/>
              </a:ext>
            </a:extLst>
          </p:cNvPr>
          <p:cNvSpPr>
            <a:spLocks noGrp="1"/>
          </p:cNvSpPr>
          <p:nvPr>
            <p:ph type="sldNum" sz="quarter" idx="12"/>
          </p:nvPr>
        </p:nvSpPr>
        <p:spPr/>
        <p:txBody>
          <a:bodyPr/>
          <a:lstStyle/>
          <a:p>
            <a:pPr>
              <a:defRPr/>
            </a:pPr>
            <a:fld id="{3E25BD93-F1CB-4E8F-80E9-0A43E107C8EF}" type="slidenum">
              <a:rPr lang="en-US" smtClean="0"/>
              <a:pPr>
                <a:defRPr/>
              </a:pPr>
              <a:t>‹#›</a:t>
            </a:fld>
            <a:endParaRPr lang="en-US"/>
          </a:p>
        </p:txBody>
      </p:sp>
    </p:spTree>
    <p:extLst>
      <p:ext uri="{BB962C8B-B14F-4D97-AF65-F5344CB8AC3E}">
        <p14:creationId xmlns:p14="http://schemas.microsoft.com/office/powerpoint/2010/main" val="1692793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E57ED-008A-B56F-06BF-94F18CA32F11}"/>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D1D5FD-A237-6BED-048E-350C83C17BA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B0F4F-CFBE-8BBF-6CEB-18922A75E63F}"/>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D9B8C09-80EF-55DF-5457-AF6860C0D38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871CD6F-6654-0395-EFB7-4D953C17163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921D1BF-0E56-BCA5-08C8-55F55BEC850C}"/>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B7AA6B77-D87F-832C-6300-D03B19929405}"/>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CF597BFD-0F6B-5AFB-A122-25B6EFEA099A}"/>
              </a:ext>
            </a:extLst>
          </p:cNvPr>
          <p:cNvSpPr>
            <a:spLocks noGrp="1"/>
          </p:cNvSpPr>
          <p:nvPr>
            <p:ph type="sldNum" sz="quarter" idx="12"/>
          </p:nvPr>
        </p:nvSpPr>
        <p:spPr/>
        <p:txBody>
          <a:bodyPr/>
          <a:lstStyle/>
          <a:p>
            <a:pPr>
              <a:defRPr/>
            </a:pPr>
            <a:fld id="{24E45889-D3CE-4D62-91D5-BEA0F8918102}" type="slidenum">
              <a:rPr lang="en-US" smtClean="0"/>
              <a:pPr>
                <a:defRPr/>
              </a:pPr>
              <a:t>‹#›</a:t>
            </a:fld>
            <a:endParaRPr lang="en-US"/>
          </a:p>
        </p:txBody>
      </p:sp>
    </p:spTree>
    <p:extLst>
      <p:ext uri="{BB962C8B-B14F-4D97-AF65-F5344CB8AC3E}">
        <p14:creationId xmlns:p14="http://schemas.microsoft.com/office/powerpoint/2010/main" val="2796998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B6F9A-B72C-A4F2-1F06-7244E92AAF6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98A040D-4A86-1395-CBB6-511EEF5E693D}"/>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AF0EE93A-8C4A-65C0-A17C-A4A5978E7E87}"/>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EFA862C2-C5F4-96D2-374A-3AB0B2FCFD1C}"/>
              </a:ext>
            </a:extLst>
          </p:cNvPr>
          <p:cNvSpPr>
            <a:spLocks noGrp="1"/>
          </p:cNvSpPr>
          <p:nvPr>
            <p:ph type="sldNum" sz="quarter" idx="12"/>
          </p:nvPr>
        </p:nvSpPr>
        <p:spPr/>
        <p:txBody>
          <a:bodyPr/>
          <a:lstStyle/>
          <a:p>
            <a:pPr>
              <a:defRPr/>
            </a:pPr>
            <a:fld id="{2C7CD2AD-4955-400B-8C57-3ABE06FC16E8}" type="slidenum">
              <a:rPr lang="en-US" smtClean="0"/>
              <a:pPr>
                <a:defRPr/>
              </a:pPr>
              <a:t>‹#›</a:t>
            </a:fld>
            <a:endParaRPr lang="en-US"/>
          </a:p>
        </p:txBody>
      </p:sp>
    </p:spTree>
    <p:extLst>
      <p:ext uri="{BB962C8B-B14F-4D97-AF65-F5344CB8AC3E}">
        <p14:creationId xmlns:p14="http://schemas.microsoft.com/office/powerpoint/2010/main" val="3004024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5A47C6-A159-C612-8B12-ADACF758AE07}"/>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7B7AE193-A1DD-AB31-2C35-7AC6CFF9B3F0}"/>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7FA1F020-C747-3308-E59E-80A8538F4D45}"/>
              </a:ext>
            </a:extLst>
          </p:cNvPr>
          <p:cNvSpPr>
            <a:spLocks noGrp="1"/>
          </p:cNvSpPr>
          <p:nvPr>
            <p:ph type="sldNum" sz="quarter" idx="12"/>
          </p:nvPr>
        </p:nvSpPr>
        <p:spPr/>
        <p:txBody>
          <a:bodyPr/>
          <a:lstStyle/>
          <a:p>
            <a:pPr>
              <a:defRPr/>
            </a:pPr>
            <a:fld id="{8021CD6F-4286-4527-A08C-4D3E10FE5C9F}" type="slidenum">
              <a:rPr lang="en-US" smtClean="0"/>
              <a:pPr>
                <a:defRPr/>
              </a:pPr>
              <a:t>‹#›</a:t>
            </a:fld>
            <a:endParaRPr lang="en-US"/>
          </a:p>
        </p:txBody>
      </p:sp>
    </p:spTree>
    <p:extLst>
      <p:ext uri="{BB962C8B-B14F-4D97-AF65-F5344CB8AC3E}">
        <p14:creationId xmlns:p14="http://schemas.microsoft.com/office/powerpoint/2010/main" val="1787016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B94B1-D716-7270-266D-AEA5CD59130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632AB0-1B32-DFB9-4914-70114084CF9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81736D-4DDD-B7E8-4252-520D10CB21B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4311926-BA3C-2AAA-3DD7-86E4CDB4CBFE}"/>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FE7320C1-A101-FD9C-794D-7BE3ADB8DF1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E67E43D7-C9EE-C9BE-5731-877C275AE997}"/>
              </a:ext>
            </a:extLst>
          </p:cNvPr>
          <p:cNvSpPr>
            <a:spLocks noGrp="1"/>
          </p:cNvSpPr>
          <p:nvPr>
            <p:ph type="sldNum" sz="quarter" idx="12"/>
          </p:nvPr>
        </p:nvSpPr>
        <p:spPr/>
        <p:txBody>
          <a:bodyPr/>
          <a:lstStyle/>
          <a:p>
            <a:pPr>
              <a:defRPr/>
            </a:pPr>
            <a:fld id="{0C4E226B-D5DB-4065-B5DE-97FD057F8E85}" type="slidenum">
              <a:rPr lang="en-US" smtClean="0"/>
              <a:pPr>
                <a:defRPr/>
              </a:pPr>
              <a:t>‹#›</a:t>
            </a:fld>
            <a:endParaRPr lang="en-US"/>
          </a:p>
        </p:txBody>
      </p:sp>
    </p:spTree>
    <p:extLst>
      <p:ext uri="{BB962C8B-B14F-4D97-AF65-F5344CB8AC3E}">
        <p14:creationId xmlns:p14="http://schemas.microsoft.com/office/powerpoint/2010/main" val="3741709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90B97-C641-F00F-2C28-1382797A312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A6A849-149D-7D28-0915-A56AF40D01E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IN"/>
          </a:p>
        </p:txBody>
      </p:sp>
      <p:sp>
        <p:nvSpPr>
          <p:cNvPr id="4" name="Text Placeholder 3">
            <a:extLst>
              <a:ext uri="{FF2B5EF4-FFF2-40B4-BE49-F238E27FC236}">
                <a16:creationId xmlns:a16="http://schemas.microsoft.com/office/drawing/2014/main" id="{52E9F361-3D11-20DD-8241-3FCAE4A46D8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8EF19EF-7D8B-5754-41AC-83A7DED0378B}"/>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B2E26B0B-A88B-92FB-A105-FD3CCDF57C7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691DD99C-70D4-6DB3-6807-CF68F39E4755}"/>
              </a:ext>
            </a:extLst>
          </p:cNvPr>
          <p:cNvSpPr>
            <a:spLocks noGrp="1"/>
          </p:cNvSpPr>
          <p:nvPr>
            <p:ph type="sldNum" sz="quarter" idx="12"/>
          </p:nvPr>
        </p:nvSpPr>
        <p:spPr/>
        <p:txBody>
          <a:bodyPr/>
          <a:lstStyle/>
          <a:p>
            <a:pPr>
              <a:defRPr/>
            </a:pPr>
            <a:fld id="{03177C91-4FF9-4713-9602-F1BC26582132}" type="slidenum">
              <a:rPr lang="en-US" smtClean="0"/>
              <a:pPr>
                <a:defRPr/>
              </a:pPr>
              <a:t>‹#›</a:t>
            </a:fld>
            <a:endParaRPr lang="en-US"/>
          </a:p>
        </p:txBody>
      </p:sp>
    </p:spTree>
    <p:extLst>
      <p:ext uri="{BB962C8B-B14F-4D97-AF65-F5344CB8AC3E}">
        <p14:creationId xmlns:p14="http://schemas.microsoft.com/office/powerpoint/2010/main" val="1386463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88A52-F321-ADFF-B443-5FE6D6A9E4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98F5F5-7E1A-D164-C05C-9D69B8D61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92AD9E-8E64-296E-C8CB-B7CA3C55EB2C}"/>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E16960E1-0285-8C47-8655-A6D860A37737}"/>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EC57C3EF-0AF8-E027-07EE-2D5E946A6524}"/>
              </a:ext>
            </a:extLst>
          </p:cNvPr>
          <p:cNvSpPr>
            <a:spLocks noGrp="1"/>
          </p:cNvSpPr>
          <p:nvPr>
            <p:ph type="sldNum" sz="quarter" idx="12"/>
          </p:nvPr>
        </p:nvSpPr>
        <p:spPr/>
        <p:txBody>
          <a:bodyPr/>
          <a:lstStyle/>
          <a:p>
            <a:pPr>
              <a:defRPr/>
            </a:pPr>
            <a:fld id="{1028BCE2-90CC-4814-B65E-DCF8DBC50354}" type="slidenum">
              <a:rPr lang="en-US" smtClean="0"/>
              <a:pPr>
                <a:defRPr/>
              </a:pPr>
              <a:t>‹#›</a:t>
            </a:fld>
            <a:endParaRPr lang="en-US"/>
          </a:p>
        </p:txBody>
      </p:sp>
    </p:spTree>
    <p:extLst>
      <p:ext uri="{BB962C8B-B14F-4D97-AF65-F5344CB8AC3E}">
        <p14:creationId xmlns:p14="http://schemas.microsoft.com/office/powerpoint/2010/main" val="44700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D0206E-6B44-1E45-4CE3-F8AB533D4E5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C46A0E-948A-A6CB-BEF4-05255EACC088}"/>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BE1760-10E6-50C2-6718-30EE8AC834FC}"/>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6718B169-9A1E-F795-7548-39B40F4AA44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704D328-977E-AA38-920E-9D3F45F066F2}"/>
              </a:ext>
            </a:extLst>
          </p:cNvPr>
          <p:cNvSpPr>
            <a:spLocks noGrp="1"/>
          </p:cNvSpPr>
          <p:nvPr>
            <p:ph type="sldNum" sz="quarter" idx="12"/>
          </p:nvPr>
        </p:nvSpPr>
        <p:spPr/>
        <p:txBody>
          <a:bodyPr/>
          <a:lstStyle/>
          <a:p>
            <a:pPr>
              <a:defRPr/>
            </a:pPr>
            <a:fld id="{CCDA8E0B-6A8F-4DCF-AEF1-3E21DF7AC6E5}" type="slidenum">
              <a:rPr lang="en-US" smtClean="0"/>
              <a:pPr>
                <a:defRPr/>
              </a:pPr>
              <a:t>‹#›</a:t>
            </a:fld>
            <a:endParaRPr lang="en-US"/>
          </a:p>
        </p:txBody>
      </p:sp>
    </p:spTree>
    <p:extLst>
      <p:ext uri="{BB962C8B-B14F-4D97-AF65-F5344CB8AC3E}">
        <p14:creationId xmlns:p14="http://schemas.microsoft.com/office/powerpoint/2010/main" val="1679471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F4C6F-46BE-C765-FD5B-1E997D350BD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628E95-3970-8EC5-93F4-88A2996F739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8D38BE-875A-3A1C-94FB-439045E7AA8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98BC94FB-EFB2-6641-808B-FB84C503A28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6DD5D862-92C0-92C0-F50A-3AB8CE8B14B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159FF940-99A9-44A3-9649-F974F07A955B}" type="slidenum">
              <a:rPr lang="en-US" smtClean="0"/>
              <a:pPr>
                <a:defRPr/>
              </a:pPr>
              <a:t>‹#›</a:t>
            </a:fld>
            <a:endParaRPr lang="en-US"/>
          </a:p>
        </p:txBody>
      </p:sp>
    </p:spTree>
    <p:extLst>
      <p:ext uri="{BB962C8B-B14F-4D97-AF65-F5344CB8AC3E}">
        <p14:creationId xmlns:p14="http://schemas.microsoft.com/office/powerpoint/2010/main" val="22705064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4"/>
          <p:cNvSpPr txBox="1">
            <a:spLocks noChangeArrowheads="1"/>
          </p:cNvSpPr>
          <p:nvPr/>
        </p:nvSpPr>
        <p:spPr bwMode="auto">
          <a:xfrm>
            <a:off x="304800" y="1066800"/>
            <a:ext cx="236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endParaRPr lang="en-US" sz="1800"/>
          </a:p>
        </p:txBody>
      </p:sp>
      <p:sp>
        <p:nvSpPr>
          <p:cNvPr id="3" name="TextBox 2">
            <a:extLst>
              <a:ext uri="{FF2B5EF4-FFF2-40B4-BE49-F238E27FC236}">
                <a16:creationId xmlns:a16="http://schemas.microsoft.com/office/drawing/2014/main" id="{04A94770-3EA6-BAA3-7850-52E9B80F5E5B}"/>
              </a:ext>
            </a:extLst>
          </p:cNvPr>
          <p:cNvSpPr txBox="1"/>
          <p:nvPr/>
        </p:nvSpPr>
        <p:spPr>
          <a:xfrm>
            <a:off x="1153955" y="2468875"/>
            <a:ext cx="5704045" cy="899926"/>
          </a:xfrm>
          <a:prstGeom prst="rect">
            <a:avLst/>
          </a:prstGeom>
          <a:noFill/>
        </p:spPr>
        <p:txBody>
          <a:bodyPr wrap="square">
            <a:spAutoFit/>
          </a:bodyPr>
          <a:lstStyle/>
          <a:p>
            <a:pPr marL="0" marR="0" algn="ctr">
              <a:lnSpc>
                <a:spcPct val="115000"/>
              </a:lnSpc>
              <a:spcAft>
                <a:spcPts val="800"/>
              </a:spcAft>
              <a:buNone/>
            </a:pPr>
            <a:r>
              <a:rPr lang="en-US" sz="4800" b="1" kern="100" dirty="0">
                <a:effectLst/>
                <a:latin typeface="Aptos" panose="020B0004020202020204" pitchFamily="34" charset="0"/>
                <a:ea typeface="Aptos" panose="020B0004020202020204" pitchFamily="34" charset="0"/>
                <a:cs typeface="Times New Roman" panose="02020603050405020304" pitchFamily="18" charset="0"/>
              </a:rPr>
              <a:t>WEEK 7: Generics</a:t>
            </a:r>
            <a:endParaRPr lang="en-US" sz="4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62665" y="1337330"/>
            <a:ext cx="7988240" cy="2585323"/>
          </a:xfrm>
          <a:prstGeom prst="rect">
            <a:avLst/>
          </a:prstGeom>
          <a:noFill/>
        </p:spPr>
        <p:txBody>
          <a:bodyPr wrap="square">
            <a:spAutoFit/>
          </a:bodyPr>
          <a:lstStyle/>
          <a:p>
            <a:pPr algn="just"/>
            <a:r>
              <a:rPr lang="en-US" sz="1800" b="0" i="0" u="none" strike="noStrike" baseline="0" dirty="0">
                <a:latin typeface="+mn-lt"/>
              </a:rPr>
              <a:t>Through the use of generics, it is possible to create classes, interfaces, and methods that will work in a type-safe manner with various kinds of data.</a:t>
            </a:r>
          </a:p>
          <a:p>
            <a:pPr algn="just"/>
            <a:endParaRPr lang="en-US" sz="1800" dirty="0">
              <a:latin typeface="+mn-lt"/>
            </a:endParaRPr>
          </a:p>
          <a:p>
            <a:pPr algn="just"/>
            <a:r>
              <a:rPr lang="en-US" sz="1800" b="0" i="0" u="none" strike="noStrike" baseline="0" dirty="0">
                <a:latin typeface="+mn-lt"/>
              </a:rPr>
              <a:t>With generics, you can define an algorithm once, independently of any specific type of data, and then apply that algorithm to a wide variety of data types without any additional </a:t>
            </a:r>
            <a:r>
              <a:rPr lang="en-IN" sz="1800" b="0" i="0" u="none" strike="noStrike" baseline="0" dirty="0">
                <a:latin typeface="+mn-lt"/>
              </a:rPr>
              <a:t>effort.</a:t>
            </a:r>
          </a:p>
          <a:p>
            <a:pPr algn="just"/>
            <a:endParaRPr lang="en-IN" sz="1800" dirty="0">
              <a:latin typeface="+mn-lt"/>
            </a:endParaRPr>
          </a:p>
          <a:p>
            <a:pPr algn="just"/>
            <a:r>
              <a:rPr lang="en-US" sz="1800" b="0" i="0" u="none" strike="noStrike" baseline="0" dirty="0">
                <a:latin typeface="Palatino-Roman"/>
              </a:rPr>
              <a:t>Perhaps the one feature of Java that has been most significantly affected by generics is </a:t>
            </a:r>
            <a:r>
              <a:rPr lang="en-IN" sz="1800" b="0" i="0" u="none" strike="noStrike" baseline="0" dirty="0">
                <a:latin typeface="Palatino-Roman"/>
              </a:rPr>
              <a:t>the </a:t>
            </a:r>
            <a:r>
              <a:rPr lang="en-IN" sz="1800" b="0" i="1" u="none" strike="noStrike" baseline="0" dirty="0">
                <a:latin typeface="Palatino-Italic"/>
              </a:rPr>
              <a:t>Collections Framework.</a:t>
            </a:r>
            <a:endParaRPr lang="en-IN" sz="1800" dirty="0">
              <a:latin typeface="+mn-lt"/>
            </a:endParaRPr>
          </a:p>
        </p:txBody>
      </p:sp>
    </p:spTree>
    <p:extLst>
      <p:ext uri="{BB962C8B-B14F-4D97-AF65-F5344CB8AC3E}">
        <p14:creationId xmlns:p14="http://schemas.microsoft.com/office/powerpoint/2010/main" val="1632027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62664" y="1337330"/>
            <a:ext cx="8257075" cy="3693319"/>
          </a:xfrm>
          <a:prstGeom prst="rect">
            <a:avLst/>
          </a:prstGeom>
          <a:noFill/>
        </p:spPr>
        <p:txBody>
          <a:bodyPr wrap="square">
            <a:spAutoFit/>
          </a:bodyPr>
          <a:lstStyle/>
          <a:p>
            <a:pPr algn="just"/>
            <a:r>
              <a:rPr lang="en-IN" sz="1800" b="1" i="0" u="none" strike="noStrike" baseline="0" dirty="0">
                <a:latin typeface="FranklinGothic-DemiCnd"/>
              </a:rPr>
              <a:t>What Are Generics?</a:t>
            </a:r>
          </a:p>
          <a:p>
            <a:pPr algn="just"/>
            <a:endParaRPr lang="en-IN" sz="1800" b="1" i="0" u="none" strike="noStrike" baseline="0" dirty="0">
              <a:latin typeface="FranklinGothic-DemiCnd"/>
            </a:endParaRPr>
          </a:p>
          <a:p>
            <a:pPr algn="just"/>
            <a:r>
              <a:rPr lang="en-US" sz="1800" b="0" i="0" u="none" strike="noStrike" baseline="0" dirty="0">
                <a:latin typeface="Palatino-Roman"/>
              </a:rPr>
              <a:t>At its core, the term </a:t>
            </a:r>
            <a:r>
              <a:rPr lang="en-US" sz="1800" b="0" i="1" u="none" strike="noStrike" baseline="0" dirty="0">
                <a:latin typeface="Palatino-Italic"/>
              </a:rPr>
              <a:t>generics </a:t>
            </a:r>
            <a:r>
              <a:rPr lang="en-US" sz="1800" b="0" i="0" u="none" strike="noStrike" baseline="0" dirty="0">
                <a:latin typeface="Palatino-Roman"/>
              </a:rPr>
              <a:t>means </a:t>
            </a:r>
            <a:r>
              <a:rPr lang="en-US" sz="1800" b="0" i="1" u="none" strike="noStrike" baseline="0" dirty="0">
                <a:latin typeface="Palatino-Italic"/>
              </a:rPr>
              <a:t>parameterized types. </a:t>
            </a:r>
          </a:p>
          <a:p>
            <a:pPr algn="just"/>
            <a:endParaRPr lang="en-US" sz="1800" i="1" dirty="0">
              <a:latin typeface="Palatino-Italic"/>
            </a:endParaRPr>
          </a:p>
          <a:p>
            <a:pPr algn="just"/>
            <a:r>
              <a:rPr lang="en-US" sz="1800" b="0" i="0" u="none" strike="noStrike" baseline="0" dirty="0">
                <a:latin typeface="Palatino-Roman"/>
              </a:rPr>
              <a:t>Parameterized types are important because they enable you to create classes, interfaces, and methods in which the type of data upon which they operate is specified as a parameter. </a:t>
            </a:r>
          </a:p>
          <a:p>
            <a:pPr algn="just"/>
            <a:endParaRPr lang="en-US" sz="1800" dirty="0">
              <a:latin typeface="Palatino-Roman"/>
            </a:endParaRPr>
          </a:p>
          <a:p>
            <a:pPr algn="just"/>
            <a:r>
              <a:rPr lang="en-US" sz="1800" b="0" i="0" u="none" strike="noStrike" baseline="0" dirty="0">
                <a:latin typeface="Palatino-Roman"/>
              </a:rPr>
              <a:t>Using generics, it is possible to create a single class, for example, that automatically works with different types of data. </a:t>
            </a:r>
          </a:p>
          <a:p>
            <a:pPr algn="just"/>
            <a:endParaRPr lang="en-US" sz="1800" dirty="0">
              <a:latin typeface="Palatino-Roman"/>
            </a:endParaRPr>
          </a:p>
          <a:p>
            <a:pPr algn="just"/>
            <a:r>
              <a:rPr lang="en-US" sz="1800" b="0" i="0" u="none" strike="noStrike" baseline="0" dirty="0">
                <a:latin typeface="Palatino-Roman"/>
              </a:rPr>
              <a:t>A class, interface, or method that operates on a parameterized type is called </a:t>
            </a:r>
            <a:r>
              <a:rPr lang="en-US" sz="1800" b="0" i="1" u="none" strike="noStrike" baseline="0" dirty="0">
                <a:latin typeface="Palatino-Italic"/>
              </a:rPr>
              <a:t>generic, </a:t>
            </a:r>
            <a:r>
              <a:rPr lang="en-US" sz="1800" b="0" i="0" u="none" strike="noStrike" baseline="0" dirty="0">
                <a:latin typeface="Palatino-Roman"/>
              </a:rPr>
              <a:t>as in </a:t>
            </a:r>
            <a:r>
              <a:rPr lang="en-US" sz="1800" b="0" i="1" u="none" strike="noStrike" baseline="0" dirty="0">
                <a:latin typeface="Palatino-Italic"/>
              </a:rPr>
              <a:t>generic class </a:t>
            </a:r>
            <a:r>
              <a:rPr lang="en-IN" sz="1800" b="0" i="0" u="none" strike="noStrike" baseline="0" dirty="0">
                <a:latin typeface="Palatino-Roman"/>
              </a:rPr>
              <a:t>or </a:t>
            </a:r>
            <a:r>
              <a:rPr lang="en-IN" sz="1800" b="0" i="1" u="none" strike="noStrike" baseline="0" dirty="0">
                <a:latin typeface="Palatino-Italic"/>
              </a:rPr>
              <a:t>generic method.</a:t>
            </a:r>
          </a:p>
        </p:txBody>
      </p:sp>
    </p:spTree>
    <p:extLst>
      <p:ext uri="{BB962C8B-B14F-4D97-AF65-F5344CB8AC3E}">
        <p14:creationId xmlns:p14="http://schemas.microsoft.com/office/powerpoint/2010/main" val="3330743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471815"/>
            <a:ext cx="8257075" cy="6186309"/>
          </a:xfrm>
          <a:prstGeom prst="rect">
            <a:avLst/>
          </a:prstGeom>
          <a:noFill/>
        </p:spPr>
        <p:txBody>
          <a:bodyPr wrap="square">
            <a:spAutoFit/>
          </a:bodyPr>
          <a:lstStyle/>
          <a:p>
            <a:pPr algn="just"/>
            <a:r>
              <a:rPr lang="en-IN" sz="1800" b="1" i="0" u="none" strike="noStrike" baseline="0" dirty="0">
                <a:latin typeface="FranklinGothic-DemiCnd"/>
              </a:rPr>
              <a:t>What Are Generics?</a:t>
            </a:r>
          </a:p>
          <a:p>
            <a:pPr algn="just"/>
            <a:r>
              <a:rPr lang="en-US" sz="1800" b="0" i="0" u="none" strike="noStrike" baseline="0" dirty="0">
                <a:latin typeface="Palatino-Roman"/>
              </a:rPr>
              <a:t>It is important to understand that Java has always given you the ability to create generalized classes, interfaces, and methods by operating through references of type </a:t>
            </a:r>
            <a:r>
              <a:rPr lang="en-US" sz="1800" b="1" i="0" u="none" strike="noStrike" baseline="0" dirty="0">
                <a:latin typeface="Palatino-Bold"/>
              </a:rPr>
              <a:t>Object</a:t>
            </a:r>
            <a:r>
              <a:rPr lang="en-US" sz="1800" b="0" i="0" u="none" strike="noStrike" baseline="0" dirty="0">
                <a:latin typeface="Palatino-Roman"/>
              </a:rPr>
              <a:t>. </a:t>
            </a:r>
          </a:p>
          <a:p>
            <a:pPr algn="just"/>
            <a:endParaRPr lang="en-US" sz="1800" dirty="0">
              <a:latin typeface="Palatino-Roman"/>
            </a:endParaRPr>
          </a:p>
          <a:p>
            <a:pPr algn="just"/>
            <a:r>
              <a:rPr lang="en-US" sz="1800" b="0" i="0" u="none" strike="noStrike" baseline="0" dirty="0">
                <a:latin typeface="Palatino-Roman"/>
              </a:rPr>
              <a:t>Because </a:t>
            </a:r>
            <a:r>
              <a:rPr lang="en-US" sz="1800" b="1" i="0" u="none" strike="noStrike" baseline="0" dirty="0">
                <a:latin typeface="Palatino-Bold"/>
              </a:rPr>
              <a:t>Object </a:t>
            </a:r>
            <a:r>
              <a:rPr lang="en-US" sz="1800" b="0" i="0" u="none" strike="noStrike" baseline="0" dirty="0">
                <a:latin typeface="Palatino-Roman"/>
              </a:rPr>
              <a:t>is the superclass of all other classes, an </a:t>
            </a:r>
            <a:r>
              <a:rPr lang="en-US" sz="1800" b="1" i="0" u="none" strike="noStrike" baseline="0" dirty="0">
                <a:latin typeface="Palatino-Bold"/>
              </a:rPr>
              <a:t>Object </a:t>
            </a:r>
            <a:r>
              <a:rPr lang="en-US" sz="1800" b="0" i="0" u="none" strike="noStrike" baseline="0" dirty="0">
                <a:latin typeface="Palatino-Roman"/>
              </a:rPr>
              <a:t>reference can refer to any type object. </a:t>
            </a:r>
          </a:p>
          <a:p>
            <a:pPr algn="just"/>
            <a:endParaRPr lang="en-US" sz="1800" dirty="0">
              <a:latin typeface="Palatino-Roman"/>
            </a:endParaRPr>
          </a:p>
          <a:p>
            <a:pPr algn="just"/>
            <a:r>
              <a:rPr lang="en-US" sz="1800" b="0" i="0" u="none" strike="noStrike" baseline="0" dirty="0">
                <a:latin typeface="Palatino-Roman"/>
              </a:rPr>
              <a:t>Thus, in pre-generics code, generalized classes, interfaces, and methods used </a:t>
            </a:r>
            <a:r>
              <a:rPr lang="en-US" sz="1800" b="1" i="0" u="none" strike="noStrike" baseline="0" dirty="0">
                <a:latin typeface="Palatino-Bold"/>
              </a:rPr>
              <a:t>Object </a:t>
            </a:r>
            <a:r>
              <a:rPr lang="en-US" sz="1800" b="0" i="0" u="none" strike="noStrike" baseline="0" dirty="0">
                <a:latin typeface="Palatino-Roman"/>
              </a:rPr>
              <a:t>references to operate on various types of objects. </a:t>
            </a:r>
          </a:p>
          <a:p>
            <a:pPr algn="just"/>
            <a:endParaRPr lang="en-US" sz="1800" dirty="0">
              <a:latin typeface="Palatino-Roman"/>
            </a:endParaRPr>
          </a:p>
          <a:p>
            <a:pPr algn="just"/>
            <a:r>
              <a:rPr lang="en-US" sz="1800" b="1" i="0" u="none" strike="noStrike" baseline="0" dirty="0">
                <a:latin typeface="Palatino-Roman"/>
              </a:rPr>
              <a:t>The problem was that they could not do so with type safety.</a:t>
            </a:r>
          </a:p>
          <a:p>
            <a:pPr algn="just"/>
            <a:endParaRPr lang="en-US" sz="1800" b="0" i="0" u="none" strike="noStrike" baseline="0" dirty="0">
              <a:latin typeface="Palatino-Roman"/>
            </a:endParaRPr>
          </a:p>
          <a:p>
            <a:pPr algn="just"/>
            <a:r>
              <a:rPr lang="en-US" sz="1800" b="1" i="0" u="none" strike="noStrike" baseline="0" dirty="0">
                <a:latin typeface="Palatino-Roman"/>
              </a:rPr>
              <a:t>Generics add the type safety that was lacking. </a:t>
            </a:r>
          </a:p>
          <a:p>
            <a:pPr algn="just"/>
            <a:endParaRPr lang="en-US" sz="1800" b="1" dirty="0">
              <a:latin typeface="Palatino-Roman"/>
            </a:endParaRPr>
          </a:p>
          <a:p>
            <a:pPr algn="just"/>
            <a:r>
              <a:rPr lang="en-US" sz="1800" b="0" i="0" u="none" strike="noStrike" baseline="0" dirty="0">
                <a:latin typeface="Palatino-Roman"/>
              </a:rPr>
              <a:t>They also streamline the process, because it is no longer necessary to explicitly employ casts to translate between </a:t>
            </a:r>
            <a:r>
              <a:rPr lang="en-US" sz="1800" b="1" i="0" u="none" strike="noStrike" baseline="0" dirty="0">
                <a:latin typeface="Palatino-Bold"/>
              </a:rPr>
              <a:t>Object </a:t>
            </a:r>
            <a:r>
              <a:rPr lang="en-US" sz="1800" b="0" i="0" u="none" strike="noStrike" baseline="0" dirty="0">
                <a:latin typeface="Palatino-Roman"/>
              </a:rPr>
              <a:t>and the type of data that is actually being operated upon.</a:t>
            </a:r>
          </a:p>
          <a:p>
            <a:pPr algn="just"/>
            <a:endParaRPr lang="en-US" sz="1800" dirty="0">
              <a:latin typeface="Palatino-Roman"/>
            </a:endParaRPr>
          </a:p>
          <a:p>
            <a:pPr algn="just"/>
            <a:r>
              <a:rPr lang="en-US" sz="1800" b="0" i="0" u="none" strike="noStrike" baseline="0" dirty="0">
                <a:latin typeface="Palatino-Roman"/>
              </a:rPr>
              <a:t>With generics, all casts are automatic and implicit.</a:t>
            </a:r>
          </a:p>
          <a:p>
            <a:pPr algn="just"/>
            <a:r>
              <a:rPr lang="en-US" sz="1800" b="0" i="0" u="none" strike="noStrike" baseline="0" dirty="0">
                <a:solidFill>
                  <a:srgbClr val="FF0000"/>
                </a:solidFill>
                <a:latin typeface="Palatino-Roman"/>
              </a:rPr>
              <a:t>Thus, generics expand your ability to reuse code and let you do so safely and easily.</a:t>
            </a:r>
            <a:endParaRPr lang="en-IN" sz="1800" dirty="0">
              <a:solidFill>
                <a:srgbClr val="FF0000"/>
              </a:solidFill>
              <a:latin typeface="+mn-lt"/>
            </a:endParaRPr>
          </a:p>
        </p:txBody>
      </p:sp>
    </p:spTree>
    <p:extLst>
      <p:ext uri="{BB962C8B-B14F-4D97-AF65-F5344CB8AC3E}">
        <p14:creationId xmlns:p14="http://schemas.microsoft.com/office/powerpoint/2010/main" val="271840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779055"/>
            <a:ext cx="8257075" cy="4247317"/>
          </a:xfrm>
          <a:prstGeom prst="rect">
            <a:avLst/>
          </a:prstGeom>
          <a:noFill/>
        </p:spPr>
        <p:txBody>
          <a:bodyPr wrap="square">
            <a:spAutoFit/>
          </a:bodyPr>
          <a:lstStyle/>
          <a:p>
            <a:pPr algn="just"/>
            <a:r>
              <a:rPr lang="en-US" sz="1800" b="0" i="0" u="none" strike="noStrike" baseline="0" dirty="0">
                <a:latin typeface="Palatino-Roman"/>
              </a:rPr>
              <a:t>Before moving on, it’s necessary to state that the Java compiler does not actually create different versions of </a:t>
            </a:r>
            <a:r>
              <a:rPr lang="en-US" sz="1800" b="1" i="0" u="none" strike="noStrike" baseline="0" dirty="0">
                <a:latin typeface="Palatino-Bold"/>
              </a:rPr>
              <a:t>Gen</a:t>
            </a:r>
            <a:r>
              <a:rPr lang="en-US" sz="1800" b="0" i="0" u="none" strike="noStrike" baseline="0" dirty="0">
                <a:latin typeface="Palatino-Roman"/>
              </a:rPr>
              <a:t>, or of any other generic class. </a:t>
            </a:r>
          </a:p>
          <a:p>
            <a:pPr algn="just"/>
            <a:endParaRPr lang="en-US" sz="1800" dirty="0">
              <a:latin typeface="Palatino-Roman"/>
            </a:endParaRPr>
          </a:p>
          <a:p>
            <a:pPr algn="just"/>
            <a:endParaRPr lang="en-US" sz="1800" b="0" i="0" u="none" strike="noStrike" baseline="0" dirty="0">
              <a:latin typeface="Palatino-Roman"/>
            </a:endParaRPr>
          </a:p>
          <a:p>
            <a:pPr algn="just"/>
            <a:r>
              <a:rPr lang="en-US" sz="1800" b="0" i="0" u="none" strike="noStrike" baseline="0" dirty="0">
                <a:latin typeface="Palatino-Roman"/>
              </a:rPr>
              <a:t>Although it’s helpful to think in these terms, it is not what actually happens.</a:t>
            </a:r>
          </a:p>
          <a:p>
            <a:pPr algn="just"/>
            <a:endParaRPr lang="en-US" sz="1800" dirty="0">
              <a:latin typeface="Palatino-Roman"/>
            </a:endParaRPr>
          </a:p>
          <a:p>
            <a:pPr algn="just"/>
            <a:r>
              <a:rPr lang="en-US" sz="1800" b="0" i="0" u="none" strike="noStrike" baseline="0" dirty="0">
                <a:latin typeface="Palatino-Roman"/>
              </a:rPr>
              <a:t> Instead, the compiler removes all generic type information, substituting the necessary casts, to make your code </a:t>
            </a:r>
            <a:r>
              <a:rPr lang="en-US" sz="1800" b="0" i="1" u="none" strike="noStrike" baseline="0" dirty="0">
                <a:latin typeface="Palatino-Italic"/>
              </a:rPr>
              <a:t>behave as if </a:t>
            </a:r>
            <a:r>
              <a:rPr lang="en-US" sz="1800" b="0" i="0" u="none" strike="noStrike" baseline="0" dirty="0">
                <a:latin typeface="Palatino-Roman"/>
              </a:rPr>
              <a:t>a specific version of </a:t>
            </a:r>
            <a:r>
              <a:rPr lang="en-US" sz="1800" b="1" i="0" u="none" strike="noStrike" baseline="0" dirty="0">
                <a:latin typeface="Palatino-Bold"/>
              </a:rPr>
              <a:t>Gen </a:t>
            </a:r>
            <a:r>
              <a:rPr lang="en-US" sz="1800" b="0" i="0" u="none" strike="noStrike" baseline="0" dirty="0">
                <a:latin typeface="Palatino-Roman"/>
              </a:rPr>
              <a:t>were created. </a:t>
            </a:r>
          </a:p>
          <a:p>
            <a:pPr algn="just"/>
            <a:endParaRPr lang="en-US" sz="1800" dirty="0">
              <a:latin typeface="Palatino-Roman"/>
            </a:endParaRPr>
          </a:p>
          <a:p>
            <a:pPr algn="just"/>
            <a:r>
              <a:rPr lang="en-US" sz="1800" b="0" i="0" u="none" strike="noStrike" baseline="0" dirty="0">
                <a:latin typeface="Palatino-Roman"/>
              </a:rPr>
              <a:t>Thus, there is really only one version of </a:t>
            </a:r>
            <a:r>
              <a:rPr lang="en-US" sz="1800" b="1" i="0" u="none" strike="noStrike" baseline="0" dirty="0">
                <a:latin typeface="Palatino-Bold"/>
              </a:rPr>
              <a:t>Gen </a:t>
            </a:r>
            <a:r>
              <a:rPr lang="en-US" sz="1800" b="0" i="0" u="none" strike="noStrike" baseline="0" dirty="0">
                <a:latin typeface="Palatino-Roman"/>
              </a:rPr>
              <a:t>that actually exists in your</a:t>
            </a:r>
          </a:p>
          <a:p>
            <a:pPr algn="just"/>
            <a:r>
              <a:rPr lang="en-US" sz="1800" b="0" i="0" u="none" strike="noStrike" baseline="0" dirty="0">
                <a:latin typeface="Palatino-Roman"/>
              </a:rPr>
              <a:t>program.</a:t>
            </a:r>
          </a:p>
          <a:p>
            <a:pPr algn="just"/>
            <a:endParaRPr lang="en-US" sz="1800" dirty="0">
              <a:latin typeface="Palatino-Roman"/>
            </a:endParaRPr>
          </a:p>
          <a:p>
            <a:pPr algn="just"/>
            <a:r>
              <a:rPr lang="en-US" sz="1800" b="0" i="0" u="none" strike="noStrike" baseline="0" dirty="0">
                <a:latin typeface="Palatino-Roman"/>
              </a:rPr>
              <a:t> The process of removing generic type information is called </a:t>
            </a:r>
            <a:r>
              <a:rPr lang="en-US" sz="1800" b="0" i="1" u="none" strike="noStrike" baseline="0" dirty="0">
                <a:latin typeface="Palatino-Italic"/>
              </a:rPr>
              <a:t>erasure, </a:t>
            </a:r>
            <a:r>
              <a:rPr lang="en-US" sz="1800" b="0" i="0" u="none" strike="noStrike" baseline="0" dirty="0">
                <a:latin typeface="Palatino-Roman"/>
              </a:rPr>
              <a:t>and we will</a:t>
            </a:r>
          </a:p>
          <a:p>
            <a:pPr algn="just"/>
            <a:r>
              <a:rPr lang="en-US" sz="1800" b="0" i="0" u="none" strike="noStrike" baseline="0" dirty="0">
                <a:latin typeface="Palatino-Roman"/>
              </a:rPr>
              <a:t>return to this topic later in this chapter.</a:t>
            </a:r>
            <a:endParaRPr lang="en-IN" sz="1800" dirty="0">
              <a:solidFill>
                <a:srgbClr val="FF0000"/>
              </a:solidFill>
              <a:latin typeface="+mn-lt"/>
            </a:endParaRPr>
          </a:p>
        </p:txBody>
      </p:sp>
    </p:spTree>
    <p:extLst>
      <p:ext uri="{BB962C8B-B14F-4D97-AF65-F5344CB8AC3E}">
        <p14:creationId xmlns:p14="http://schemas.microsoft.com/office/powerpoint/2010/main" val="258532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779055"/>
            <a:ext cx="8257075" cy="3970318"/>
          </a:xfrm>
          <a:prstGeom prst="rect">
            <a:avLst/>
          </a:prstGeom>
          <a:noFill/>
        </p:spPr>
        <p:txBody>
          <a:bodyPr wrap="square">
            <a:spAutoFit/>
          </a:bodyPr>
          <a:lstStyle/>
          <a:p>
            <a:pPr algn="l"/>
            <a:r>
              <a:rPr lang="en-IN" sz="1800" b="1" i="0" u="none" strike="noStrike" baseline="0" dirty="0">
                <a:latin typeface="FranklinGothic-DemiCnd"/>
              </a:rPr>
              <a:t>Bounded Types</a:t>
            </a:r>
          </a:p>
          <a:p>
            <a:pPr algn="just"/>
            <a:r>
              <a:rPr lang="en-US" sz="1800" b="0" i="0" u="none" strike="noStrike" baseline="0" dirty="0">
                <a:latin typeface="Palatino-Roman"/>
              </a:rPr>
              <a:t>In the preceding examples, the type parameters could be replaced by any class type. This is fine for many purposes, but sometimes it is useful to limit the types that can be passed to a type parameter. </a:t>
            </a:r>
          </a:p>
          <a:p>
            <a:pPr algn="just"/>
            <a:endParaRPr lang="en-US" sz="1800" dirty="0">
              <a:latin typeface="Palatino-Roman"/>
            </a:endParaRPr>
          </a:p>
          <a:p>
            <a:pPr algn="just"/>
            <a:r>
              <a:rPr lang="en-US" sz="1800" b="0" i="0" u="none" strike="noStrike" baseline="0" dirty="0">
                <a:latin typeface="Palatino-Roman"/>
              </a:rPr>
              <a:t>For example, assume that you want to create a generic class that contains a method that returns the average of an array of numbers. </a:t>
            </a:r>
          </a:p>
          <a:p>
            <a:pPr algn="just"/>
            <a:endParaRPr lang="en-US" sz="1800" dirty="0">
              <a:latin typeface="Palatino-Roman"/>
            </a:endParaRPr>
          </a:p>
          <a:p>
            <a:pPr algn="just"/>
            <a:r>
              <a:rPr lang="en-US" sz="1800" b="1" i="0" u="none" strike="noStrike" baseline="0" dirty="0">
                <a:latin typeface="Palatino-Roman"/>
              </a:rPr>
              <a:t>Furthermore, you want to use the class to obtain the average of an array of any type of number, including integers, floats, and doubles. </a:t>
            </a:r>
          </a:p>
          <a:p>
            <a:pPr algn="just"/>
            <a:endParaRPr lang="en-US" sz="1800" dirty="0">
              <a:latin typeface="Palatino-Roman"/>
            </a:endParaRPr>
          </a:p>
          <a:p>
            <a:pPr algn="just"/>
            <a:r>
              <a:rPr lang="en-US" sz="1800" b="0" i="0" u="none" strike="noStrike" baseline="0" dirty="0">
                <a:latin typeface="Palatino-Roman"/>
              </a:rPr>
              <a:t>Thus, you want to specify the type of the numbers generically, using a type parameter.</a:t>
            </a:r>
          </a:p>
          <a:p>
            <a:pPr algn="just"/>
            <a:r>
              <a:rPr lang="en-US" sz="1800" b="0" i="0" u="none" strike="noStrike" baseline="0" dirty="0">
                <a:latin typeface="Palatino-Roman"/>
              </a:rPr>
              <a:t>To create such a class, you might try something like this:</a:t>
            </a:r>
            <a:endParaRPr lang="en-IN" sz="1800" dirty="0">
              <a:solidFill>
                <a:srgbClr val="FF0000"/>
              </a:solidFill>
              <a:latin typeface="+mn-lt"/>
            </a:endParaRPr>
          </a:p>
        </p:txBody>
      </p:sp>
    </p:spTree>
    <p:extLst>
      <p:ext uri="{BB962C8B-B14F-4D97-AF65-F5344CB8AC3E}">
        <p14:creationId xmlns:p14="http://schemas.microsoft.com/office/powerpoint/2010/main" val="2745541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779055"/>
            <a:ext cx="8257075" cy="3693319"/>
          </a:xfrm>
          <a:prstGeom prst="rect">
            <a:avLst/>
          </a:prstGeom>
          <a:noFill/>
        </p:spPr>
        <p:txBody>
          <a:bodyPr wrap="square">
            <a:spAutoFit/>
          </a:bodyPr>
          <a:lstStyle/>
          <a:p>
            <a:pPr algn="just"/>
            <a:r>
              <a:rPr lang="en-US" sz="1800" b="0" i="0" u="none" strike="noStrike" baseline="0" dirty="0">
                <a:latin typeface="Palatino-Roman"/>
              </a:rPr>
              <a:t>To handle such situations, Java provides </a:t>
            </a:r>
            <a:r>
              <a:rPr lang="en-US" sz="1800" b="0" i="1" u="none" strike="noStrike" baseline="0" dirty="0">
                <a:latin typeface="Palatino-Italic"/>
              </a:rPr>
              <a:t>bounded types. </a:t>
            </a:r>
            <a:r>
              <a:rPr lang="en-US" sz="1800" b="0" i="0" u="none" strike="noStrike" baseline="0" dirty="0">
                <a:latin typeface="Palatino-Roman"/>
              </a:rPr>
              <a:t>When specifying a type parameter, you can create an upper bound that declares the superclass from which all type arguments must be derived. </a:t>
            </a:r>
          </a:p>
          <a:p>
            <a:pPr algn="just"/>
            <a:endParaRPr lang="en-US" sz="1800" dirty="0">
              <a:latin typeface="Palatino-Roman"/>
            </a:endParaRPr>
          </a:p>
          <a:p>
            <a:pPr algn="just"/>
            <a:r>
              <a:rPr lang="en-US" sz="1800" b="0" i="0" u="none" strike="noStrike" baseline="0" dirty="0">
                <a:latin typeface="Palatino-Roman"/>
              </a:rPr>
              <a:t>This is accomplished through the use of an </a:t>
            </a:r>
            <a:r>
              <a:rPr lang="en-US" sz="1800" b="1" i="0" u="none" strike="noStrike" baseline="0" dirty="0">
                <a:latin typeface="Palatino-Bold"/>
              </a:rPr>
              <a:t>extends </a:t>
            </a:r>
            <a:r>
              <a:rPr lang="en-US" sz="1800" b="0" i="0" u="none" strike="noStrike" baseline="0" dirty="0">
                <a:latin typeface="Palatino-Roman"/>
              </a:rPr>
              <a:t>clause when specifying the type parameter, as shown here:</a:t>
            </a:r>
          </a:p>
          <a:p>
            <a:pPr algn="l"/>
            <a:endParaRPr lang="en-US" sz="1800" b="0" i="0" u="none" strike="noStrike" baseline="0" dirty="0">
              <a:latin typeface="Palatino-Roman"/>
            </a:endParaRPr>
          </a:p>
          <a:p>
            <a:pPr algn="l"/>
            <a:r>
              <a:rPr lang="en-IN" sz="1800" b="0" i="0" u="none" strike="noStrike" baseline="0" dirty="0">
                <a:latin typeface="Palatino-Roman"/>
              </a:rPr>
              <a:t>&lt;</a:t>
            </a:r>
            <a:r>
              <a:rPr lang="en-IN" sz="1800" b="0" i="1" u="none" strike="noStrike" baseline="0" dirty="0">
                <a:latin typeface="Palatino-Italic"/>
              </a:rPr>
              <a:t>T </a:t>
            </a:r>
            <a:r>
              <a:rPr lang="en-IN" sz="1800" b="0" i="0" u="none" strike="noStrike" baseline="0" dirty="0">
                <a:latin typeface="Palatino-Roman"/>
              </a:rPr>
              <a:t>extends </a:t>
            </a:r>
            <a:r>
              <a:rPr lang="en-IN" sz="1800" b="0" i="1" u="none" strike="noStrike" baseline="0" dirty="0">
                <a:latin typeface="Palatino-Italic"/>
              </a:rPr>
              <a:t>superclass</a:t>
            </a:r>
            <a:r>
              <a:rPr lang="en-IN" sz="1800" b="0" i="0" u="none" strike="noStrike" baseline="0" dirty="0">
                <a:latin typeface="Palatino-Roman"/>
              </a:rPr>
              <a:t>&gt;</a:t>
            </a:r>
          </a:p>
          <a:p>
            <a:pPr algn="l"/>
            <a:endParaRPr lang="en-IN" sz="1800" b="0" i="0" u="none" strike="noStrike" baseline="0" dirty="0">
              <a:latin typeface="Palatino-Roman"/>
            </a:endParaRPr>
          </a:p>
          <a:p>
            <a:pPr algn="just"/>
            <a:r>
              <a:rPr lang="en-US" sz="1800" b="0" i="0" u="none" strike="noStrike" baseline="0" dirty="0">
                <a:latin typeface="Palatino-Roman"/>
              </a:rPr>
              <a:t>This specifies that </a:t>
            </a:r>
            <a:r>
              <a:rPr lang="en-US" sz="1800" b="0" i="1" u="none" strike="noStrike" baseline="0" dirty="0">
                <a:latin typeface="Palatino-Italic"/>
              </a:rPr>
              <a:t>T </a:t>
            </a:r>
            <a:r>
              <a:rPr lang="en-US" sz="1800" b="0" i="0" u="none" strike="noStrike" baseline="0" dirty="0">
                <a:latin typeface="Palatino-Roman"/>
              </a:rPr>
              <a:t>can only be replaced by </a:t>
            </a:r>
            <a:r>
              <a:rPr lang="en-US" sz="1800" b="0" i="1" u="none" strike="noStrike" baseline="0" dirty="0">
                <a:latin typeface="Palatino-Italic"/>
              </a:rPr>
              <a:t>superclass, </a:t>
            </a:r>
            <a:r>
              <a:rPr lang="en-US" sz="1800" b="0" i="0" u="none" strike="noStrike" baseline="0" dirty="0">
                <a:latin typeface="Palatino-Roman"/>
              </a:rPr>
              <a:t>or subclasses of </a:t>
            </a:r>
            <a:r>
              <a:rPr lang="en-US" sz="1800" b="0" i="1" u="none" strike="noStrike" baseline="0" dirty="0">
                <a:latin typeface="Palatino-Italic"/>
              </a:rPr>
              <a:t>superclass. </a:t>
            </a:r>
          </a:p>
          <a:p>
            <a:pPr algn="just"/>
            <a:endParaRPr lang="en-US" sz="1800" i="1" dirty="0">
              <a:latin typeface="Palatino-Italic"/>
            </a:endParaRPr>
          </a:p>
          <a:p>
            <a:pPr algn="just"/>
            <a:r>
              <a:rPr lang="en-US" sz="1800" b="0" i="0" u="none" strike="noStrike" baseline="0" dirty="0">
                <a:latin typeface="Palatino-Roman"/>
              </a:rPr>
              <a:t>Thus, </a:t>
            </a:r>
            <a:r>
              <a:rPr lang="en-US" sz="1800" b="0" i="1" u="none" strike="noStrike" baseline="0" dirty="0">
                <a:latin typeface="Palatino-Italic"/>
              </a:rPr>
              <a:t>superclass </a:t>
            </a:r>
            <a:r>
              <a:rPr lang="en-US" sz="1800" b="0" i="0" u="none" strike="noStrike" baseline="0" dirty="0">
                <a:latin typeface="Palatino-Roman"/>
              </a:rPr>
              <a:t>defines an inclusive, upper limit.</a:t>
            </a:r>
            <a:endParaRPr lang="en-IN" sz="1800" dirty="0">
              <a:solidFill>
                <a:srgbClr val="FF0000"/>
              </a:solidFill>
              <a:latin typeface="+mn-lt"/>
            </a:endParaRPr>
          </a:p>
        </p:txBody>
      </p:sp>
    </p:spTree>
    <p:extLst>
      <p:ext uri="{BB962C8B-B14F-4D97-AF65-F5344CB8AC3E}">
        <p14:creationId xmlns:p14="http://schemas.microsoft.com/office/powerpoint/2010/main" val="3616196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779055"/>
            <a:ext cx="8257075" cy="923330"/>
          </a:xfrm>
          <a:prstGeom prst="rect">
            <a:avLst/>
          </a:prstGeom>
          <a:noFill/>
        </p:spPr>
        <p:txBody>
          <a:bodyPr wrap="square">
            <a:spAutoFit/>
          </a:bodyPr>
          <a:lstStyle/>
          <a:p>
            <a:pPr algn="just"/>
            <a:r>
              <a:rPr lang="en-US" sz="1800" b="0" i="0" u="none" strike="noStrike" baseline="0" dirty="0">
                <a:latin typeface="Courier"/>
              </a:rPr>
              <a:t>class Stats&lt;T extends Number&gt; {</a:t>
            </a:r>
          </a:p>
          <a:p>
            <a:pPr algn="just"/>
            <a:endParaRPr lang="en-US" sz="1800" dirty="0">
              <a:solidFill>
                <a:srgbClr val="FF0000"/>
              </a:solidFill>
              <a:latin typeface="Courier"/>
            </a:endParaRPr>
          </a:p>
          <a:p>
            <a:pPr algn="just"/>
            <a:r>
              <a:rPr lang="en-US" sz="1800" b="0" i="0" u="none" strike="noStrike" baseline="0" dirty="0">
                <a:latin typeface="Courier"/>
              </a:rPr>
              <a:t>class Gen&lt;T extends </a:t>
            </a:r>
            <a:r>
              <a:rPr lang="en-US" sz="1800" b="0" i="0" u="none" strike="noStrike" baseline="0" dirty="0" err="1">
                <a:latin typeface="Courier"/>
              </a:rPr>
              <a:t>MyClass</a:t>
            </a:r>
            <a:r>
              <a:rPr lang="en-US" sz="1800" b="0" i="0" u="none" strike="noStrike" baseline="0" dirty="0">
                <a:latin typeface="Courier"/>
              </a:rPr>
              <a:t> &amp; </a:t>
            </a:r>
            <a:r>
              <a:rPr lang="en-US" sz="1800" b="0" i="0" u="none" strike="noStrike" baseline="0" dirty="0" err="1">
                <a:latin typeface="Courier"/>
              </a:rPr>
              <a:t>MyInterface</a:t>
            </a:r>
            <a:r>
              <a:rPr lang="en-US" sz="1800" b="0" i="0" u="none" strike="noStrike" baseline="0" dirty="0">
                <a:latin typeface="Courier"/>
              </a:rPr>
              <a:t>&gt; { // ...</a:t>
            </a:r>
            <a:endParaRPr lang="en-IN" sz="1800" dirty="0">
              <a:solidFill>
                <a:srgbClr val="FF0000"/>
              </a:solidFill>
              <a:latin typeface="+mn-lt"/>
            </a:endParaRPr>
          </a:p>
        </p:txBody>
      </p:sp>
    </p:spTree>
    <p:extLst>
      <p:ext uri="{BB962C8B-B14F-4D97-AF65-F5344CB8AC3E}">
        <p14:creationId xmlns:p14="http://schemas.microsoft.com/office/powerpoint/2010/main" val="1719754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385855" y="471815"/>
            <a:ext cx="8257075" cy="5447645"/>
          </a:xfrm>
          <a:prstGeom prst="rect">
            <a:avLst/>
          </a:prstGeom>
          <a:noFill/>
        </p:spPr>
        <p:txBody>
          <a:bodyPr wrap="square">
            <a:spAutoFit/>
          </a:bodyPr>
          <a:lstStyle/>
          <a:p>
            <a:pPr algn="l"/>
            <a:r>
              <a:rPr lang="en-IN" sz="1800" b="1" i="0" u="none" strike="noStrike" baseline="0" dirty="0">
                <a:solidFill>
                  <a:srgbClr val="000000"/>
                </a:solidFill>
                <a:latin typeface="FranklinGothic-DemiCnd"/>
              </a:rPr>
              <a:t>Generic Class Hierarchies</a:t>
            </a:r>
          </a:p>
          <a:p>
            <a:pPr algn="just"/>
            <a:r>
              <a:rPr lang="en-US" sz="1800" b="0" i="0" u="none" strike="noStrike" baseline="0" dirty="0">
                <a:solidFill>
                  <a:srgbClr val="000000"/>
                </a:solidFill>
                <a:latin typeface="Palatino-Roman"/>
              </a:rPr>
              <a:t>Generic class can act as a superclass or be a subclass.</a:t>
            </a:r>
          </a:p>
          <a:p>
            <a:pPr algn="just"/>
            <a:r>
              <a:rPr lang="en-US" sz="1800" b="0" i="0" u="none" strike="noStrike" baseline="0" dirty="0">
                <a:solidFill>
                  <a:srgbClr val="000000"/>
                </a:solidFill>
                <a:latin typeface="Palatino-Roman"/>
              </a:rPr>
              <a:t> The key difference between generic and non-generic hierarchies is that in a generic hierarchy, any type arguments needed by a generic superclass must be passed up the hierarchy by all subclasses. This is similar to the way that constructor arguments must be passed up a hierarchy.</a:t>
            </a:r>
          </a:p>
          <a:p>
            <a:pPr algn="l"/>
            <a:endParaRPr lang="en-IN" sz="1800" b="1" i="0" u="none" strike="noStrike" baseline="0" dirty="0">
              <a:solidFill>
                <a:srgbClr val="000000"/>
              </a:solidFill>
              <a:latin typeface="FranklinGothic-DemiCnd"/>
            </a:endParaRPr>
          </a:p>
          <a:p>
            <a:pPr algn="l"/>
            <a:r>
              <a:rPr lang="en-IN" sz="1800" b="1" i="0" u="none" strike="noStrike" baseline="0" dirty="0">
                <a:solidFill>
                  <a:srgbClr val="000000"/>
                </a:solidFill>
                <a:latin typeface="FranklinGothic-DemiCnd"/>
              </a:rPr>
              <a:t>Using a Generic Superclass</a:t>
            </a:r>
          </a:p>
          <a:p>
            <a:pPr algn="l"/>
            <a:endParaRPr lang="en-IN" sz="1200" b="0" i="0" u="none" strike="noStrike" baseline="0" dirty="0">
              <a:solidFill>
                <a:srgbClr val="000000"/>
              </a:solidFill>
              <a:latin typeface="Courier"/>
            </a:endParaRPr>
          </a:p>
          <a:p>
            <a:pPr algn="l"/>
            <a:r>
              <a:rPr lang="en-IN" sz="1200" b="0" i="0" u="none" strike="noStrike" baseline="0" dirty="0">
                <a:solidFill>
                  <a:srgbClr val="000000"/>
                </a:solidFill>
                <a:latin typeface="Courier"/>
              </a:rPr>
              <a:t>class Gen&lt;T&gt; {</a:t>
            </a:r>
          </a:p>
          <a:p>
            <a:pPr algn="l"/>
            <a:r>
              <a:rPr lang="en-IN" sz="1200" b="0" i="0" u="none" strike="noStrike" baseline="0" dirty="0">
                <a:solidFill>
                  <a:srgbClr val="000000"/>
                </a:solidFill>
                <a:latin typeface="Courier"/>
              </a:rPr>
              <a:t>T </a:t>
            </a:r>
            <a:r>
              <a:rPr lang="en-IN" sz="1200" b="0" i="0" u="none" strike="noStrike" baseline="0" dirty="0" err="1">
                <a:solidFill>
                  <a:srgbClr val="000000"/>
                </a:solidFill>
                <a:latin typeface="Courier"/>
              </a:rPr>
              <a:t>ob</a:t>
            </a:r>
            <a:r>
              <a:rPr lang="en-IN" sz="1200" b="0" i="0" u="none" strike="noStrike" baseline="0" dirty="0">
                <a:solidFill>
                  <a:srgbClr val="000000"/>
                </a:solidFill>
                <a:latin typeface="Courier"/>
              </a:rPr>
              <a:t>;</a:t>
            </a:r>
          </a:p>
          <a:p>
            <a:pPr algn="l"/>
            <a:r>
              <a:rPr lang="en-IN" sz="1200" b="0" i="0" u="none" strike="noStrike" baseline="0" dirty="0">
                <a:solidFill>
                  <a:srgbClr val="000000"/>
                </a:solidFill>
                <a:latin typeface="Courier"/>
              </a:rPr>
              <a:t>Gen(T o) {</a:t>
            </a:r>
          </a:p>
          <a:p>
            <a:pPr algn="l"/>
            <a:r>
              <a:rPr lang="en-IN" sz="1200" b="0" i="0" u="none" strike="noStrike" baseline="0" dirty="0" err="1">
                <a:solidFill>
                  <a:srgbClr val="000000"/>
                </a:solidFill>
                <a:latin typeface="Courier"/>
              </a:rPr>
              <a:t>ob</a:t>
            </a:r>
            <a:r>
              <a:rPr lang="en-IN" sz="1200" b="0" i="0" u="none" strike="noStrike" baseline="0" dirty="0">
                <a:solidFill>
                  <a:srgbClr val="000000"/>
                </a:solidFill>
                <a:latin typeface="Courier"/>
              </a:rPr>
              <a:t> = o;</a:t>
            </a:r>
          </a:p>
          <a:p>
            <a:pPr algn="l"/>
            <a:r>
              <a:rPr lang="en-IN" sz="1200" b="0" i="0" u="none" strike="noStrike" baseline="0" dirty="0">
                <a:solidFill>
                  <a:srgbClr val="000000"/>
                </a:solidFill>
                <a:latin typeface="Courier"/>
              </a:rPr>
              <a:t>}</a:t>
            </a:r>
          </a:p>
          <a:p>
            <a:pPr algn="l"/>
            <a:r>
              <a:rPr lang="en-IN" sz="1200" b="0" i="0" u="none" strike="noStrike" baseline="0" dirty="0">
                <a:solidFill>
                  <a:srgbClr val="000000"/>
                </a:solidFill>
                <a:latin typeface="Courier"/>
              </a:rPr>
              <a:t>// Return ob.</a:t>
            </a:r>
          </a:p>
          <a:p>
            <a:pPr algn="l"/>
            <a:r>
              <a:rPr lang="en-IN" sz="1200" b="0" i="0" u="none" strike="noStrike" baseline="0" dirty="0">
                <a:solidFill>
                  <a:srgbClr val="000000"/>
                </a:solidFill>
                <a:latin typeface="Courier"/>
              </a:rPr>
              <a:t>T </a:t>
            </a:r>
            <a:r>
              <a:rPr lang="en-IN" sz="1200" b="0" i="0" u="none" strike="noStrike" baseline="0" dirty="0" err="1">
                <a:solidFill>
                  <a:srgbClr val="000000"/>
                </a:solidFill>
                <a:latin typeface="Courier"/>
              </a:rPr>
              <a:t>getob</a:t>
            </a:r>
            <a:r>
              <a:rPr lang="en-IN" sz="1200" b="0" i="0" u="none" strike="noStrike" baseline="0" dirty="0">
                <a:solidFill>
                  <a:srgbClr val="000000"/>
                </a:solidFill>
                <a:latin typeface="Courier"/>
              </a:rPr>
              <a:t>() {</a:t>
            </a:r>
          </a:p>
          <a:p>
            <a:pPr algn="l"/>
            <a:r>
              <a:rPr lang="en-IN" sz="1200" b="0" i="0" u="none" strike="noStrike" baseline="0" dirty="0">
                <a:solidFill>
                  <a:srgbClr val="000000"/>
                </a:solidFill>
                <a:latin typeface="Courier"/>
              </a:rPr>
              <a:t>return </a:t>
            </a:r>
            <a:r>
              <a:rPr lang="en-IN" sz="1200" b="0" i="0" u="none" strike="noStrike" baseline="0" dirty="0" err="1">
                <a:solidFill>
                  <a:srgbClr val="000000"/>
                </a:solidFill>
                <a:latin typeface="Courier"/>
              </a:rPr>
              <a:t>ob</a:t>
            </a:r>
            <a:r>
              <a:rPr lang="en-IN" sz="1200" b="0" i="0" u="none" strike="noStrike" baseline="0" dirty="0">
                <a:solidFill>
                  <a:srgbClr val="000000"/>
                </a:solidFill>
                <a:latin typeface="Courier"/>
              </a:rPr>
              <a:t>;</a:t>
            </a:r>
          </a:p>
          <a:p>
            <a:pPr algn="l"/>
            <a:r>
              <a:rPr lang="en-IN" sz="1200" b="0" i="0" u="none" strike="noStrike" baseline="0" dirty="0">
                <a:solidFill>
                  <a:srgbClr val="000000"/>
                </a:solidFill>
                <a:latin typeface="Courier"/>
              </a:rPr>
              <a:t>}</a:t>
            </a:r>
          </a:p>
          <a:p>
            <a:pPr algn="l"/>
            <a:r>
              <a:rPr lang="en-IN" sz="1200" b="0" i="0" u="none" strike="noStrike" baseline="0" dirty="0">
                <a:solidFill>
                  <a:srgbClr val="000000"/>
                </a:solidFill>
                <a:latin typeface="Courier"/>
              </a:rPr>
              <a:t>}</a:t>
            </a:r>
          </a:p>
          <a:p>
            <a:pPr algn="l"/>
            <a:r>
              <a:rPr lang="en-IN" sz="1200" b="0" i="0" u="none" strike="noStrike" baseline="0" dirty="0">
                <a:solidFill>
                  <a:srgbClr val="000000"/>
                </a:solidFill>
                <a:latin typeface="Courier"/>
              </a:rPr>
              <a:t>// A subclass of Gen.</a:t>
            </a:r>
          </a:p>
          <a:p>
            <a:pPr algn="l"/>
            <a:r>
              <a:rPr lang="de-DE" sz="1200" b="0" i="0" u="none" strike="noStrike" baseline="0" dirty="0">
                <a:solidFill>
                  <a:srgbClr val="000000"/>
                </a:solidFill>
                <a:latin typeface="Courier"/>
              </a:rPr>
              <a:t>class Gen2&lt;T&gt; extends Gen&lt;T&gt; {</a:t>
            </a:r>
          </a:p>
          <a:p>
            <a:pPr algn="l"/>
            <a:r>
              <a:rPr lang="en-IN" sz="1200" b="0" i="0" u="none" strike="noStrike" baseline="0" dirty="0">
                <a:solidFill>
                  <a:srgbClr val="000000"/>
                </a:solidFill>
                <a:latin typeface="Courier"/>
              </a:rPr>
              <a:t>Gen2(T o) {</a:t>
            </a:r>
          </a:p>
          <a:p>
            <a:pPr algn="l"/>
            <a:r>
              <a:rPr lang="en-IN" sz="1200" b="0" i="0" u="none" strike="noStrike" baseline="0" dirty="0">
                <a:solidFill>
                  <a:srgbClr val="000000"/>
                </a:solidFill>
                <a:latin typeface="Courier"/>
              </a:rPr>
              <a:t>super(o);</a:t>
            </a:r>
          </a:p>
          <a:p>
            <a:pPr algn="l"/>
            <a:r>
              <a:rPr lang="en-IN" sz="1200" b="0" i="0" u="none" strike="noStrike" baseline="0" dirty="0">
                <a:solidFill>
                  <a:srgbClr val="000000"/>
                </a:solidFill>
                <a:latin typeface="Courier"/>
              </a:rPr>
              <a:t>}</a:t>
            </a:r>
          </a:p>
          <a:p>
            <a:pPr algn="l"/>
            <a:r>
              <a:rPr lang="en-IN" sz="1200" b="0" i="0" u="none" strike="noStrike" baseline="0" dirty="0">
                <a:solidFill>
                  <a:srgbClr val="000000"/>
                </a:solidFill>
                <a:latin typeface="Courier"/>
              </a:rPr>
              <a:t>}</a:t>
            </a:r>
            <a:endParaRPr lang="en-IN" sz="1200" dirty="0">
              <a:solidFill>
                <a:srgbClr val="FF0000"/>
              </a:solidFill>
              <a:latin typeface="+mn-lt"/>
            </a:endParaRPr>
          </a:p>
        </p:txBody>
      </p:sp>
    </p:spTree>
    <p:extLst>
      <p:ext uri="{BB962C8B-B14F-4D97-AF65-F5344CB8AC3E}">
        <p14:creationId xmlns:p14="http://schemas.microsoft.com/office/powerpoint/2010/main" val="4279361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347450" y="428178"/>
            <a:ext cx="8257075" cy="5478423"/>
          </a:xfrm>
          <a:prstGeom prst="rect">
            <a:avLst/>
          </a:prstGeom>
          <a:noFill/>
        </p:spPr>
        <p:txBody>
          <a:bodyPr wrap="square">
            <a:spAutoFit/>
          </a:bodyPr>
          <a:lstStyle/>
          <a:p>
            <a:pPr algn="l"/>
            <a:r>
              <a:rPr lang="en-US" sz="1400" b="1" i="0" u="none" strike="noStrike" baseline="0" dirty="0">
                <a:solidFill>
                  <a:srgbClr val="FF0000"/>
                </a:solidFill>
                <a:latin typeface="Courier"/>
              </a:rPr>
              <a:t>// A subclass can add its own type parameters.</a:t>
            </a:r>
          </a:p>
          <a:p>
            <a:pPr algn="l"/>
            <a:r>
              <a:rPr lang="en-IN" sz="1400" b="0" i="0" u="none" strike="noStrike" baseline="0" dirty="0">
                <a:latin typeface="Courier"/>
              </a:rPr>
              <a:t>class Gen&lt;T&gt; {</a:t>
            </a:r>
          </a:p>
          <a:p>
            <a:pPr algn="l"/>
            <a:r>
              <a:rPr lang="en-IN" sz="1400" b="0" i="0" u="none" strike="noStrike" baseline="0" dirty="0">
                <a:latin typeface="Courier"/>
              </a:rPr>
              <a:t>T </a:t>
            </a:r>
            <a:r>
              <a:rPr lang="en-IN" sz="1400" b="0" i="0" u="none" strike="noStrike" baseline="0" dirty="0" err="1">
                <a:latin typeface="Courier"/>
              </a:rPr>
              <a:t>ob</a:t>
            </a:r>
            <a:r>
              <a:rPr lang="en-IN" sz="1400" b="0" i="0" u="none" strike="noStrike" baseline="0" dirty="0">
                <a:latin typeface="Courier"/>
              </a:rPr>
              <a:t>; // declare an object of type T</a:t>
            </a:r>
          </a:p>
          <a:p>
            <a:pPr algn="l"/>
            <a:r>
              <a:rPr lang="en-US" sz="1400" b="0" i="0" u="none" strike="noStrike" baseline="0" dirty="0">
                <a:latin typeface="Courier"/>
              </a:rPr>
              <a:t>// Pass the constructor a reference to</a:t>
            </a:r>
          </a:p>
          <a:p>
            <a:pPr algn="l"/>
            <a:r>
              <a:rPr lang="en-US" sz="1400" b="0" i="0" u="none" strike="noStrike" baseline="0" dirty="0">
                <a:latin typeface="Courier"/>
              </a:rPr>
              <a:t>// an object of type T.</a:t>
            </a:r>
          </a:p>
          <a:p>
            <a:pPr algn="l"/>
            <a:r>
              <a:rPr lang="en-IN" sz="1400" b="0" i="0" u="none" strike="noStrike" baseline="0" dirty="0">
                <a:latin typeface="Courier"/>
              </a:rPr>
              <a:t>Gen(T o) {</a:t>
            </a:r>
          </a:p>
          <a:p>
            <a:pPr algn="l"/>
            <a:r>
              <a:rPr lang="en-IN" sz="1400" b="0" i="0" u="none" strike="noStrike" baseline="0" dirty="0" err="1">
                <a:latin typeface="Courier"/>
              </a:rPr>
              <a:t>ob</a:t>
            </a:r>
            <a:r>
              <a:rPr lang="en-IN" sz="1400" b="0" i="0" u="none" strike="noStrike" baseline="0" dirty="0">
                <a:latin typeface="Courier"/>
              </a:rPr>
              <a:t> = o;</a:t>
            </a:r>
          </a:p>
          <a:p>
            <a:pPr algn="l"/>
            <a:r>
              <a:rPr lang="en-IN" sz="1400" b="0" i="0" u="none" strike="noStrike" baseline="0" dirty="0">
                <a:latin typeface="Courier"/>
              </a:rPr>
              <a:t>}</a:t>
            </a:r>
          </a:p>
          <a:p>
            <a:pPr algn="l"/>
            <a:r>
              <a:rPr lang="en-IN" sz="1400" b="0" i="0" u="none" strike="noStrike" baseline="0" dirty="0">
                <a:latin typeface="Courier"/>
              </a:rPr>
              <a:t>// Return ob.</a:t>
            </a:r>
          </a:p>
          <a:p>
            <a:pPr algn="l"/>
            <a:r>
              <a:rPr lang="en-IN" sz="1400" b="0" i="0" u="none" strike="noStrike" baseline="0" dirty="0">
                <a:latin typeface="Courier"/>
              </a:rPr>
              <a:t>T </a:t>
            </a:r>
            <a:r>
              <a:rPr lang="en-IN" sz="1400" b="0" i="0" u="none" strike="noStrike" baseline="0" dirty="0" err="1">
                <a:latin typeface="Courier"/>
              </a:rPr>
              <a:t>getob</a:t>
            </a:r>
            <a:r>
              <a:rPr lang="en-IN" sz="1400" b="0" i="0" u="none" strike="noStrike" baseline="0" dirty="0">
                <a:latin typeface="Courier"/>
              </a:rPr>
              <a:t>() {</a:t>
            </a:r>
          </a:p>
          <a:p>
            <a:pPr algn="l"/>
            <a:r>
              <a:rPr lang="en-IN" sz="1400" b="0" i="0" u="none" strike="noStrike" baseline="0" dirty="0">
                <a:latin typeface="Courier"/>
              </a:rPr>
              <a:t>return </a:t>
            </a:r>
            <a:r>
              <a:rPr lang="en-IN" sz="1400" b="0" i="0" u="none" strike="noStrike" baseline="0" dirty="0" err="1">
                <a:latin typeface="Courier"/>
              </a:rPr>
              <a:t>ob</a:t>
            </a:r>
            <a:r>
              <a:rPr lang="en-IN" sz="1400" b="0" i="0" u="none" strike="noStrike" baseline="0" dirty="0">
                <a:latin typeface="Courier"/>
              </a:rPr>
              <a:t>;</a:t>
            </a:r>
          </a:p>
          <a:p>
            <a:pPr algn="l"/>
            <a:r>
              <a:rPr lang="en-IN" sz="1400" b="0" i="0" u="none" strike="noStrike" baseline="0" dirty="0">
                <a:latin typeface="Courier"/>
              </a:rPr>
              <a:t>}</a:t>
            </a:r>
          </a:p>
          <a:p>
            <a:pPr algn="l"/>
            <a:r>
              <a:rPr lang="en-IN" sz="1400" b="0" i="0" u="none" strike="noStrike" baseline="0" dirty="0">
                <a:latin typeface="Courier"/>
              </a:rPr>
              <a:t>}</a:t>
            </a:r>
          </a:p>
          <a:p>
            <a:pPr algn="l"/>
            <a:r>
              <a:rPr lang="en-US" sz="1400" b="0" i="0" u="none" strike="noStrike" baseline="0" dirty="0">
                <a:latin typeface="Courier"/>
              </a:rPr>
              <a:t>// A subclass of Gen that defines a second</a:t>
            </a:r>
          </a:p>
          <a:p>
            <a:pPr algn="l"/>
            <a:r>
              <a:rPr lang="en-IN" sz="1400" b="0" i="0" u="none" strike="noStrike" baseline="0" dirty="0">
                <a:latin typeface="Courier"/>
              </a:rPr>
              <a:t>// type parameter, called V.</a:t>
            </a:r>
          </a:p>
          <a:p>
            <a:pPr algn="l"/>
            <a:r>
              <a:rPr lang="de-DE" sz="1400" b="0" i="0" u="none" strike="noStrike" baseline="0" dirty="0">
                <a:latin typeface="Courier"/>
              </a:rPr>
              <a:t>class Gen2&lt;T, V&gt; extends Gen&lt;T&gt; {</a:t>
            </a:r>
          </a:p>
          <a:p>
            <a:pPr algn="l"/>
            <a:r>
              <a:rPr lang="en-IN" sz="1400" b="0" i="0" u="none" strike="noStrike" baseline="0" dirty="0">
                <a:latin typeface="Courier"/>
              </a:rPr>
              <a:t>V ob2;</a:t>
            </a:r>
          </a:p>
          <a:p>
            <a:pPr algn="l"/>
            <a:r>
              <a:rPr lang="pt-BR" sz="1400" b="0" i="0" u="none" strike="noStrike" baseline="0" dirty="0">
                <a:latin typeface="Courier"/>
              </a:rPr>
              <a:t>Gen2(T o, V o2) {</a:t>
            </a:r>
          </a:p>
          <a:p>
            <a:pPr algn="l"/>
            <a:r>
              <a:rPr lang="en-IN" sz="1400" b="0" i="0" u="none" strike="noStrike" baseline="0" dirty="0">
                <a:latin typeface="Courier"/>
              </a:rPr>
              <a:t>super(o);</a:t>
            </a:r>
          </a:p>
          <a:p>
            <a:pPr algn="l"/>
            <a:r>
              <a:rPr lang="en-IN" sz="1400" b="0" i="0" u="none" strike="noStrike" baseline="0" dirty="0">
                <a:latin typeface="Courier"/>
              </a:rPr>
              <a:t>ob2 = o2;</a:t>
            </a:r>
          </a:p>
          <a:p>
            <a:pPr algn="l"/>
            <a:r>
              <a:rPr lang="en-IN" sz="1400" b="0" i="0" u="none" strike="noStrike" baseline="0" dirty="0">
                <a:latin typeface="Courier"/>
              </a:rPr>
              <a:t>}</a:t>
            </a:r>
          </a:p>
          <a:p>
            <a:pPr algn="l"/>
            <a:r>
              <a:rPr lang="en-IN" sz="1400" b="0" i="0" u="none" strike="noStrike" baseline="0" dirty="0">
                <a:latin typeface="Courier"/>
              </a:rPr>
              <a:t>V getob2() {</a:t>
            </a:r>
          </a:p>
          <a:p>
            <a:pPr algn="l"/>
            <a:r>
              <a:rPr lang="en-IN" sz="1400" b="0" i="0" u="none" strike="noStrike" baseline="0" dirty="0">
                <a:latin typeface="Courier"/>
              </a:rPr>
              <a:t>return ob2;</a:t>
            </a:r>
          </a:p>
          <a:p>
            <a:pPr algn="l"/>
            <a:r>
              <a:rPr lang="en-IN" sz="1400" b="0" i="0" u="none" strike="noStrike" baseline="0" dirty="0">
                <a:latin typeface="Courier"/>
              </a:rPr>
              <a:t>}</a:t>
            </a:r>
          </a:p>
          <a:p>
            <a:pPr algn="l"/>
            <a:r>
              <a:rPr lang="en-IN" sz="1400" b="0" i="0" u="none" strike="noStrike" baseline="0" dirty="0">
                <a:latin typeface="Courier"/>
              </a:rPr>
              <a:t>}</a:t>
            </a:r>
            <a:endParaRPr lang="en-IN" sz="1400" b="1" i="0" u="none" strike="noStrike" baseline="0" dirty="0">
              <a:solidFill>
                <a:srgbClr val="000000"/>
              </a:solidFill>
              <a:latin typeface="FranklinGothic-DemiCnd"/>
            </a:endParaRPr>
          </a:p>
        </p:txBody>
      </p:sp>
    </p:spTree>
    <p:extLst>
      <p:ext uri="{BB962C8B-B14F-4D97-AF65-F5344CB8AC3E}">
        <p14:creationId xmlns:p14="http://schemas.microsoft.com/office/powerpoint/2010/main" val="1875827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347450" y="428178"/>
            <a:ext cx="8257075" cy="5909310"/>
          </a:xfrm>
          <a:prstGeom prst="rect">
            <a:avLst/>
          </a:prstGeom>
          <a:noFill/>
        </p:spPr>
        <p:txBody>
          <a:bodyPr wrap="square">
            <a:spAutoFit/>
          </a:bodyPr>
          <a:lstStyle/>
          <a:p>
            <a:pPr algn="l"/>
            <a:r>
              <a:rPr lang="en-IN" b="1" i="0" u="none" strike="noStrike" baseline="0" dirty="0">
                <a:latin typeface="+mn-lt"/>
              </a:rPr>
              <a:t>A Generic Subclass</a:t>
            </a:r>
          </a:p>
          <a:p>
            <a:pPr algn="l"/>
            <a:r>
              <a:rPr lang="en-US" b="0" i="0" u="none" strike="noStrike" baseline="0" dirty="0">
                <a:solidFill>
                  <a:srgbClr val="FF0000"/>
                </a:solidFill>
                <a:latin typeface="+mn-lt"/>
              </a:rPr>
              <a:t>It is perfectly acceptable for a non-generic class to be the superclass of a generic subclass.</a:t>
            </a:r>
          </a:p>
          <a:p>
            <a:pPr algn="l"/>
            <a:r>
              <a:rPr lang="en-IN" b="0" i="0" u="none" strike="noStrike" baseline="0" dirty="0">
                <a:latin typeface="+mn-lt"/>
              </a:rPr>
              <a:t>class </a:t>
            </a:r>
            <a:r>
              <a:rPr lang="en-IN" b="0" i="0" u="none" strike="noStrike" baseline="0" dirty="0" err="1">
                <a:latin typeface="+mn-lt"/>
              </a:rPr>
              <a:t>NonGen</a:t>
            </a:r>
            <a:r>
              <a:rPr lang="en-IN" b="0" i="0" u="none" strike="noStrike" baseline="0" dirty="0">
                <a:latin typeface="+mn-lt"/>
              </a:rPr>
              <a:t> {</a:t>
            </a:r>
          </a:p>
          <a:p>
            <a:pPr algn="l"/>
            <a:r>
              <a:rPr lang="en-IN" b="0" i="0" u="none" strike="noStrike" baseline="0" dirty="0">
                <a:latin typeface="+mn-lt"/>
              </a:rPr>
              <a:t>int </a:t>
            </a:r>
            <a:r>
              <a:rPr lang="en-IN" b="0" i="0" u="none" strike="noStrike" baseline="0" dirty="0" err="1">
                <a:latin typeface="+mn-lt"/>
              </a:rPr>
              <a:t>num</a:t>
            </a:r>
            <a:r>
              <a:rPr lang="en-IN" b="0" i="0" u="none" strike="noStrike" baseline="0" dirty="0">
                <a:latin typeface="+mn-lt"/>
              </a:rPr>
              <a:t>;</a:t>
            </a:r>
          </a:p>
          <a:p>
            <a:pPr algn="l"/>
            <a:r>
              <a:rPr lang="en-IN" b="0" i="0" u="none" strike="noStrike" baseline="0" dirty="0" err="1">
                <a:latin typeface="+mn-lt"/>
              </a:rPr>
              <a:t>NonGen</a:t>
            </a:r>
            <a:r>
              <a:rPr lang="en-IN" b="0" i="0" u="none" strike="noStrike" baseline="0" dirty="0">
                <a:latin typeface="+mn-lt"/>
              </a:rPr>
              <a:t>(int </a:t>
            </a:r>
            <a:r>
              <a:rPr lang="en-IN" b="0" i="0" u="none" strike="noStrike" baseline="0" dirty="0" err="1">
                <a:latin typeface="+mn-lt"/>
              </a:rPr>
              <a:t>i</a:t>
            </a:r>
            <a:r>
              <a:rPr lang="en-IN" b="0" i="0" u="none" strike="noStrike" baseline="0" dirty="0">
                <a:latin typeface="+mn-lt"/>
              </a:rPr>
              <a:t>) {</a:t>
            </a:r>
          </a:p>
          <a:p>
            <a:pPr algn="l"/>
            <a:r>
              <a:rPr lang="en-IN" b="0" i="0" u="none" strike="noStrike" baseline="0" dirty="0" err="1">
                <a:latin typeface="+mn-lt"/>
              </a:rPr>
              <a:t>num</a:t>
            </a:r>
            <a:r>
              <a:rPr lang="en-IN" b="0" i="0" u="none" strike="noStrike" baseline="0" dirty="0">
                <a:latin typeface="+mn-lt"/>
              </a:rPr>
              <a:t> = </a:t>
            </a:r>
            <a:r>
              <a:rPr lang="en-IN" b="0" i="0" u="none" strike="noStrike" baseline="0" dirty="0" err="1">
                <a:latin typeface="+mn-lt"/>
              </a:rPr>
              <a:t>i</a:t>
            </a:r>
            <a:r>
              <a:rPr lang="en-IN" b="0" i="0" u="none" strike="noStrike" baseline="0" dirty="0">
                <a:latin typeface="+mn-lt"/>
              </a:rPr>
              <a:t>;</a:t>
            </a:r>
          </a:p>
          <a:p>
            <a:pPr algn="l"/>
            <a:r>
              <a:rPr lang="en-IN" b="0" i="0" u="none" strike="noStrike" baseline="0" dirty="0">
                <a:latin typeface="+mn-lt"/>
              </a:rPr>
              <a:t>}</a:t>
            </a:r>
          </a:p>
          <a:p>
            <a:pPr algn="l"/>
            <a:r>
              <a:rPr lang="en-IN" b="0" i="0" u="none" strike="noStrike" baseline="0" dirty="0">
                <a:latin typeface="+mn-lt"/>
              </a:rPr>
              <a:t>int </a:t>
            </a:r>
            <a:r>
              <a:rPr lang="en-IN" b="0" i="0" u="none" strike="noStrike" baseline="0" dirty="0" err="1">
                <a:latin typeface="+mn-lt"/>
              </a:rPr>
              <a:t>getnum</a:t>
            </a:r>
            <a:r>
              <a:rPr lang="en-IN" b="0" i="0" u="none" strike="noStrike" baseline="0" dirty="0">
                <a:latin typeface="+mn-lt"/>
              </a:rPr>
              <a:t>() {</a:t>
            </a:r>
          </a:p>
          <a:p>
            <a:pPr algn="l"/>
            <a:r>
              <a:rPr lang="en-IN" b="0" i="0" u="none" strike="noStrike" baseline="0" dirty="0">
                <a:latin typeface="+mn-lt"/>
              </a:rPr>
              <a:t>return </a:t>
            </a:r>
            <a:r>
              <a:rPr lang="en-IN" b="0" i="0" u="none" strike="noStrike" baseline="0" dirty="0" err="1">
                <a:latin typeface="+mn-lt"/>
              </a:rPr>
              <a:t>num</a:t>
            </a:r>
            <a:r>
              <a:rPr lang="en-IN" b="0" i="0" u="none" strike="noStrike" baseline="0" dirty="0">
                <a:latin typeface="+mn-lt"/>
              </a:rPr>
              <a:t>;</a:t>
            </a:r>
          </a:p>
          <a:p>
            <a:pPr algn="l"/>
            <a:r>
              <a:rPr lang="en-IN" b="0" i="0" u="none" strike="noStrike" baseline="0" dirty="0">
                <a:latin typeface="+mn-lt"/>
              </a:rPr>
              <a:t>}</a:t>
            </a:r>
          </a:p>
          <a:p>
            <a:pPr algn="l"/>
            <a:r>
              <a:rPr lang="en-IN" b="0" i="0" u="none" strike="noStrike" baseline="0" dirty="0">
                <a:latin typeface="+mn-lt"/>
              </a:rPr>
              <a:t>}</a:t>
            </a:r>
          </a:p>
          <a:p>
            <a:pPr algn="l"/>
            <a:r>
              <a:rPr lang="en-IN" b="0" i="0" u="none" strike="noStrike" baseline="0" dirty="0">
                <a:latin typeface="+mn-lt"/>
              </a:rPr>
              <a:t>// A generic subclass.</a:t>
            </a:r>
          </a:p>
          <a:p>
            <a:pPr algn="l"/>
            <a:r>
              <a:rPr lang="en-IN" b="0" i="0" u="none" strike="noStrike" baseline="0" dirty="0">
                <a:latin typeface="+mn-lt"/>
              </a:rPr>
              <a:t>class Gen&lt;T&gt; extends </a:t>
            </a:r>
            <a:r>
              <a:rPr lang="en-IN" b="0" i="0" u="none" strike="noStrike" baseline="0" dirty="0" err="1">
                <a:latin typeface="+mn-lt"/>
              </a:rPr>
              <a:t>NonGen</a:t>
            </a:r>
            <a:r>
              <a:rPr lang="en-IN" b="0" i="0" u="none" strike="noStrike" baseline="0" dirty="0">
                <a:latin typeface="+mn-lt"/>
              </a:rPr>
              <a:t> {</a:t>
            </a:r>
          </a:p>
          <a:p>
            <a:pPr algn="l"/>
            <a:r>
              <a:rPr lang="en-IN" b="0" i="0" u="none" strike="noStrike" baseline="0" dirty="0">
                <a:latin typeface="+mn-lt"/>
              </a:rPr>
              <a:t>T </a:t>
            </a:r>
            <a:r>
              <a:rPr lang="en-IN" b="0" i="0" u="none" strike="noStrike" baseline="0" dirty="0" err="1">
                <a:latin typeface="+mn-lt"/>
              </a:rPr>
              <a:t>ob</a:t>
            </a:r>
            <a:r>
              <a:rPr lang="en-IN" b="0" i="0" u="none" strike="noStrike" baseline="0" dirty="0">
                <a:latin typeface="+mn-lt"/>
              </a:rPr>
              <a:t>; // declare an object of type T</a:t>
            </a:r>
          </a:p>
          <a:p>
            <a:pPr algn="l"/>
            <a:r>
              <a:rPr lang="en-US" b="0" i="0" u="none" strike="noStrike" baseline="0" dirty="0">
                <a:latin typeface="+mn-lt"/>
              </a:rPr>
              <a:t>// Pass the constructor a reference to</a:t>
            </a:r>
          </a:p>
          <a:p>
            <a:pPr algn="l"/>
            <a:r>
              <a:rPr lang="en-US" b="0" i="0" u="none" strike="noStrike" baseline="0" dirty="0">
                <a:latin typeface="+mn-lt"/>
              </a:rPr>
              <a:t>// an object of type T.</a:t>
            </a:r>
          </a:p>
          <a:p>
            <a:pPr algn="l"/>
            <a:r>
              <a:rPr lang="en-IN" b="0" i="0" u="none" strike="noStrike" baseline="0" dirty="0">
                <a:latin typeface="+mn-lt"/>
              </a:rPr>
              <a:t>Gen(T o, int </a:t>
            </a:r>
            <a:r>
              <a:rPr lang="en-IN" b="0" i="0" u="none" strike="noStrike" baseline="0" dirty="0" err="1">
                <a:latin typeface="+mn-lt"/>
              </a:rPr>
              <a:t>i</a:t>
            </a:r>
            <a:r>
              <a:rPr lang="en-IN" b="0" i="0" u="none" strike="noStrike" baseline="0" dirty="0">
                <a:latin typeface="+mn-lt"/>
              </a:rPr>
              <a:t>) {</a:t>
            </a:r>
          </a:p>
          <a:p>
            <a:pPr algn="l"/>
            <a:r>
              <a:rPr lang="en-IN" b="0" i="0" u="none" strike="noStrike" baseline="0" dirty="0">
                <a:latin typeface="+mn-lt"/>
              </a:rPr>
              <a:t>super(</a:t>
            </a:r>
            <a:r>
              <a:rPr lang="en-IN" b="0" i="0" u="none" strike="noStrike" baseline="0" dirty="0" err="1">
                <a:latin typeface="+mn-lt"/>
              </a:rPr>
              <a:t>i</a:t>
            </a:r>
            <a:r>
              <a:rPr lang="en-IN" b="0" i="0" u="none" strike="noStrike" baseline="0" dirty="0">
                <a:latin typeface="+mn-lt"/>
              </a:rPr>
              <a:t>);</a:t>
            </a:r>
          </a:p>
          <a:p>
            <a:pPr algn="l"/>
            <a:r>
              <a:rPr lang="en-IN" b="0" i="0" u="none" strike="noStrike" baseline="0" dirty="0" err="1">
                <a:latin typeface="+mn-lt"/>
              </a:rPr>
              <a:t>ob</a:t>
            </a:r>
            <a:r>
              <a:rPr lang="en-IN" b="0" i="0" u="none" strike="noStrike" baseline="0" dirty="0">
                <a:latin typeface="+mn-lt"/>
              </a:rPr>
              <a:t> = o;</a:t>
            </a:r>
          </a:p>
          <a:p>
            <a:pPr algn="l"/>
            <a:r>
              <a:rPr lang="en-IN" b="0" i="0" u="none" strike="noStrike" baseline="0" dirty="0">
                <a:latin typeface="+mn-lt"/>
              </a:rPr>
              <a:t>}</a:t>
            </a:r>
            <a:endParaRPr lang="en-IN" b="1" i="0" u="none" strike="noStrike" baseline="0" dirty="0">
              <a:solidFill>
                <a:srgbClr val="000000"/>
              </a:solidFill>
              <a:latin typeface="+mn-lt"/>
            </a:endParaRPr>
          </a:p>
        </p:txBody>
      </p:sp>
    </p:spTree>
    <p:extLst>
      <p:ext uri="{BB962C8B-B14F-4D97-AF65-F5344CB8AC3E}">
        <p14:creationId xmlns:p14="http://schemas.microsoft.com/office/powerpoint/2010/main" val="1465009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347450" y="428178"/>
            <a:ext cx="8257075" cy="3970318"/>
          </a:xfrm>
          <a:prstGeom prst="rect">
            <a:avLst/>
          </a:prstGeom>
          <a:noFill/>
        </p:spPr>
        <p:txBody>
          <a:bodyPr wrap="square">
            <a:spAutoFit/>
          </a:bodyPr>
          <a:lstStyle/>
          <a:p>
            <a:pPr algn="l"/>
            <a:r>
              <a:rPr lang="en-IN" sz="1800" b="0" i="0" u="none" strike="noStrike" baseline="0" dirty="0">
                <a:solidFill>
                  <a:srgbClr val="231F20"/>
                </a:solidFill>
                <a:latin typeface="Courier"/>
              </a:rPr>
              <a:t>// Return ob.</a:t>
            </a:r>
          </a:p>
          <a:p>
            <a:pPr algn="l"/>
            <a:r>
              <a:rPr lang="en-IN" sz="1800" b="0" i="0" u="none" strike="noStrike" baseline="0" dirty="0">
                <a:solidFill>
                  <a:srgbClr val="231F20"/>
                </a:solidFill>
                <a:latin typeface="Courier"/>
              </a:rPr>
              <a:t>T </a:t>
            </a:r>
            <a:r>
              <a:rPr lang="en-IN" sz="1800" b="0" i="0" u="none" strike="noStrike" baseline="0" dirty="0" err="1">
                <a:solidFill>
                  <a:srgbClr val="231F20"/>
                </a:solidFill>
                <a:latin typeface="Courier"/>
              </a:rPr>
              <a:t>getob</a:t>
            </a:r>
            <a:r>
              <a:rPr lang="en-IN" sz="1800" b="0" i="0" u="none" strike="noStrike" baseline="0" dirty="0">
                <a:solidFill>
                  <a:srgbClr val="231F20"/>
                </a:solidFill>
                <a:latin typeface="Courier"/>
              </a:rPr>
              <a:t>() {</a:t>
            </a:r>
          </a:p>
          <a:p>
            <a:pPr algn="l"/>
            <a:r>
              <a:rPr lang="en-IN" sz="1800" b="0" i="0" u="none" strike="noStrike" baseline="0" dirty="0">
                <a:solidFill>
                  <a:srgbClr val="231F20"/>
                </a:solidFill>
                <a:latin typeface="Courier"/>
              </a:rPr>
              <a:t>return </a:t>
            </a:r>
            <a:r>
              <a:rPr lang="en-IN" sz="1800" b="0" i="0" u="none" strike="noStrike" baseline="0" dirty="0" err="1">
                <a:solidFill>
                  <a:srgbClr val="231F20"/>
                </a:solidFill>
                <a:latin typeface="Courier"/>
              </a:rPr>
              <a:t>ob</a:t>
            </a:r>
            <a:r>
              <a:rPr lang="en-IN" sz="1800" b="0" i="0" u="none" strike="noStrike" baseline="0" dirty="0">
                <a:solidFill>
                  <a:srgbClr val="231F20"/>
                </a:solidFill>
                <a:latin typeface="Courier"/>
              </a:rPr>
              <a:t>;</a:t>
            </a:r>
          </a:p>
          <a:p>
            <a:pPr algn="l"/>
            <a:r>
              <a:rPr lang="en-IN" sz="1800" b="0" i="0" u="none" strike="noStrike" baseline="0" dirty="0">
                <a:solidFill>
                  <a:srgbClr val="231F20"/>
                </a:solidFill>
                <a:latin typeface="Courier"/>
              </a:rPr>
              <a:t>}</a:t>
            </a:r>
          </a:p>
          <a:p>
            <a:pPr algn="l"/>
            <a:r>
              <a:rPr lang="en-IN" sz="1800" b="0" i="0" u="none" strike="noStrike" baseline="0" dirty="0">
                <a:solidFill>
                  <a:srgbClr val="231F20"/>
                </a:solidFill>
                <a:latin typeface="Courier"/>
              </a:rPr>
              <a:t>}</a:t>
            </a:r>
          </a:p>
          <a:p>
            <a:pPr algn="l"/>
            <a:r>
              <a:rPr lang="en-IN" sz="1800" b="0" i="0" u="none" strike="noStrike" baseline="0" dirty="0">
                <a:solidFill>
                  <a:srgbClr val="231F20"/>
                </a:solidFill>
                <a:latin typeface="Courier"/>
              </a:rPr>
              <a:t>// Create a Gen object.</a:t>
            </a:r>
          </a:p>
          <a:p>
            <a:pPr algn="l"/>
            <a:r>
              <a:rPr lang="en-IN" sz="1800" b="0" i="0" u="none" strike="noStrike" baseline="0" dirty="0">
                <a:solidFill>
                  <a:srgbClr val="231F20"/>
                </a:solidFill>
                <a:latin typeface="Courier"/>
              </a:rPr>
              <a:t>class HierDemo2 {</a:t>
            </a:r>
          </a:p>
          <a:p>
            <a:pPr algn="l"/>
            <a:r>
              <a:rPr lang="en-US" sz="1800" b="0" i="0" u="none" strike="noStrike" baseline="0" dirty="0">
                <a:solidFill>
                  <a:srgbClr val="231F20"/>
                </a:solidFill>
                <a:latin typeface="Courier"/>
              </a:rPr>
              <a:t>public static void main(String </a:t>
            </a:r>
            <a:r>
              <a:rPr lang="en-US" sz="1800" b="0" i="0" u="none" strike="noStrike" baseline="0" dirty="0" err="1">
                <a:solidFill>
                  <a:srgbClr val="231F20"/>
                </a:solidFill>
                <a:latin typeface="Courier"/>
              </a:rPr>
              <a:t>args</a:t>
            </a:r>
            <a:r>
              <a:rPr lang="en-US" sz="1800" b="0" i="0" u="none" strike="noStrike" baseline="0" dirty="0">
                <a:solidFill>
                  <a:srgbClr val="231F20"/>
                </a:solidFill>
                <a:latin typeface="Courier"/>
              </a:rPr>
              <a:t>[]) {</a:t>
            </a:r>
          </a:p>
          <a:p>
            <a:pPr algn="l"/>
            <a:r>
              <a:rPr lang="en-US" sz="1800" b="0" i="0" u="none" strike="noStrike" baseline="0" dirty="0">
                <a:solidFill>
                  <a:srgbClr val="231F20"/>
                </a:solidFill>
                <a:latin typeface="Courier"/>
              </a:rPr>
              <a:t>// Create a Gen object for String.</a:t>
            </a:r>
          </a:p>
          <a:p>
            <a:pPr algn="l"/>
            <a:r>
              <a:rPr lang="en-IN" sz="1800" b="0" i="0" u="none" strike="noStrike" baseline="0" dirty="0">
                <a:solidFill>
                  <a:srgbClr val="231F20"/>
                </a:solidFill>
                <a:latin typeface="Courier"/>
              </a:rPr>
              <a:t>Gen&lt;String&gt; w = new Gen&lt;String&gt;("Hello", 47);</a:t>
            </a:r>
          </a:p>
          <a:p>
            <a:pPr algn="l"/>
            <a:r>
              <a:rPr lang="en-IN" sz="1800" b="0" i="0" u="none" strike="noStrike" baseline="0" dirty="0" err="1">
                <a:solidFill>
                  <a:srgbClr val="231F20"/>
                </a:solidFill>
                <a:latin typeface="Courier"/>
              </a:rPr>
              <a:t>System.out.print</a:t>
            </a:r>
            <a:r>
              <a:rPr lang="en-IN" sz="1800" b="0" i="0" u="none" strike="noStrike" baseline="0" dirty="0">
                <a:solidFill>
                  <a:srgbClr val="231F20"/>
                </a:solidFill>
                <a:latin typeface="Courier"/>
              </a:rPr>
              <a:t>(</a:t>
            </a:r>
            <a:r>
              <a:rPr lang="en-IN" sz="1800" b="0" i="0" u="none" strike="noStrike" baseline="0" dirty="0" err="1">
                <a:solidFill>
                  <a:srgbClr val="231F20"/>
                </a:solidFill>
                <a:latin typeface="Courier"/>
              </a:rPr>
              <a:t>w.getob</a:t>
            </a:r>
            <a:r>
              <a:rPr lang="en-IN" sz="1800" b="0" i="0" u="none" strike="noStrike" baseline="0" dirty="0">
                <a:solidFill>
                  <a:srgbClr val="231F20"/>
                </a:solidFill>
                <a:latin typeface="Courier"/>
              </a:rPr>
              <a:t>() + " ");</a:t>
            </a:r>
          </a:p>
          <a:p>
            <a:pPr algn="l"/>
            <a:r>
              <a:rPr lang="en-IN" sz="1800" b="0" i="0" u="none" strike="noStrike" baseline="0" dirty="0" err="1">
                <a:solidFill>
                  <a:srgbClr val="231F20"/>
                </a:solidFill>
                <a:latin typeface="Courier"/>
              </a:rPr>
              <a:t>System.out.println</a:t>
            </a:r>
            <a:r>
              <a:rPr lang="en-IN" sz="1800" b="0" i="0" u="none" strike="noStrike" baseline="0" dirty="0">
                <a:solidFill>
                  <a:srgbClr val="231F20"/>
                </a:solidFill>
                <a:latin typeface="Courier"/>
              </a:rPr>
              <a:t>(</a:t>
            </a:r>
            <a:r>
              <a:rPr lang="en-IN" sz="1800" b="0" i="0" u="none" strike="noStrike" baseline="0" dirty="0" err="1">
                <a:solidFill>
                  <a:srgbClr val="231F20"/>
                </a:solidFill>
                <a:latin typeface="Courier"/>
              </a:rPr>
              <a:t>w.getnum</a:t>
            </a:r>
            <a:r>
              <a:rPr lang="en-IN" sz="1800" b="0" i="0" u="none" strike="noStrike" baseline="0" dirty="0">
                <a:solidFill>
                  <a:srgbClr val="231F20"/>
                </a:solidFill>
                <a:latin typeface="Courier"/>
              </a:rPr>
              <a:t>());</a:t>
            </a:r>
          </a:p>
          <a:p>
            <a:pPr algn="l"/>
            <a:r>
              <a:rPr lang="en-IN" sz="1800" b="0" i="0" u="none" strike="noStrike" baseline="0" dirty="0">
                <a:solidFill>
                  <a:srgbClr val="231F20"/>
                </a:solidFill>
                <a:latin typeface="Courier"/>
              </a:rPr>
              <a:t>}</a:t>
            </a:r>
          </a:p>
          <a:p>
            <a:pPr algn="l"/>
            <a:r>
              <a:rPr lang="en-IN" sz="1800" b="0" i="0" u="none" strike="noStrike" baseline="0" dirty="0">
                <a:solidFill>
                  <a:srgbClr val="231F20"/>
                </a:solidFill>
                <a:latin typeface="Courier"/>
              </a:rPr>
              <a:t>}</a:t>
            </a:r>
            <a:endParaRPr lang="en-IN" b="1" i="0" u="none" strike="noStrike" baseline="0" dirty="0">
              <a:solidFill>
                <a:srgbClr val="000000"/>
              </a:solidFill>
              <a:latin typeface="+mn-lt"/>
            </a:endParaRPr>
          </a:p>
        </p:txBody>
      </p:sp>
    </p:spTree>
    <p:extLst>
      <p:ext uri="{BB962C8B-B14F-4D97-AF65-F5344CB8AC3E}">
        <p14:creationId xmlns:p14="http://schemas.microsoft.com/office/powerpoint/2010/main" val="3443408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347450" y="428178"/>
            <a:ext cx="8257075" cy="6278642"/>
          </a:xfrm>
          <a:prstGeom prst="rect">
            <a:avLst/>
          </a:prstGeom>
          <a:noFill/>
        </p:spPr>
        <p:txBody>
          <a:bodyPr wrap="square">
            <a:spAutoFit/>
          </a:bodyPr>
          <a:lstStyle/>
          <a:p>
            <a:pPr algn="l"/>
            <a:r>
              <a:rPr lang="en-US" sz="2000" b="1" i="0" u="none" strike="noStrike" baseline="0" dirty="0">
                <a:latin typeface="+mn-lt"/>
              </a:rPr>
              <a:t>Overriding Methods in a Generic Class</a:t>
            </a:r>
          </a:p>
          <a:p>
            <a:pPr algn="l"/>
            <a:r>
              <a:rPr lang="en-US" b="0" i="0" u="none" strike="noStrike" baseline="0" dirty="0">
                <a:latin typeface="+mn-lt"/>
              </a:rPr>
              <a:t>A </a:t>
            </a:r>
            <a:r>
              <a:rPr lang="en-US" sz="1400" b="0" i="0" u="none" strike="noStrike" baseline="0" dirty="0">
                <a:latin typeface="+mn-lt"/>
              </a:rPr>
              <a:t>method in a generic class can be overridden just like any other method. For example,</a:t>
            </a:r>
          </a:p>
          <a:p>
            <a:pPr algn="l"/>
            <a:r>
              <a:rPr lang="en-US" sz="1400" b="0" i="0" u="none" strike="noStrike" baseline="0" dirty="0">
                <a:latin typeface="+mn-lt"/>
              </a:rPr>
              <a:t>consider this program in which the method </a:t>
            </a:r>
            <a:r>
              <a:rPr lang="en-US" sz="1400" b="1" i="0" u="none" strike="noStrike" baseline="0" dirty="0" err="1">
                <a:latin typeface="+mn-lt"/>
              </a:rPr>
              <a:t>getob</a:t>
            </a:r>
            <a:r>
              <a:rPr lang="en-US" sz="1400" b="1" i="0" u="none" strike="noStrike" baseline="0" dirty="0">
                <a:latin typeface="+mn-lt"/>
              </a:rPr>
              <a:t>( ) </a:t>
            </a:r>
            <a:r>
              <a:rPr lang="en-US" sz="1400" b="0" i="0" u="none" strike="noStrike" baseline="0" dirty="0">
                <a:latin typeface="+mn-lt"/>
              </a:rPr>
              <a:t>is overridden:</a:t>
            </a:r>
          </a:p>
          <a:p>
            <a:pPr algn="l"/>
            <a:r>
              <a:rPr lang="en-US" sz="1400" b="0" i="0" u="none" strike="noStrike" baseline="0" dirty="0">
                <a:latin typeface="+mn-lt"/>
              </a:rPr>
              <a:t>// Overriding a generic method in a generic class.</a:t>
            </a:r>
          </a:p>
          <a:p>
            <a:pPr algn="l"/>
            <a:r>
              <a:rPr lang="en-IN" sz="1400" b="0" i="0" u="none" strike="noStrike" baseline="0" dirty="0">
                <a:latin typeface="+mn-lt"/>
              </a:rPr>
              <a:t>class Gen&lt;T&gt; {</a:t>
            </a:r>
          </a:p>
          <a:p>
            <a:pPr algn="l"/>
            <a:r>
              <a:rPr lang="en-IN" sz="1400" b="0" i="0" u="none" strike="noStrike" baseline="0" dirty="0">
                <a:latin typeface="+mn-lt"/>
              </a:rPr>
              <a:t>T </a:t>
            </a:r>
            <a:r>
              <a:rPr lang="en-IN" sz="1400" b="0" i="0" u="none" strike="noStrike" baseline="0" dirty="0" err="1">
                <a:latin typeface="+mn-lt"/>
              </a:rPr>
              <a:t>ob</a:t>
            </a:r>
            <a:r>
              <a:rPr lang="en-IN" sz="1400" b="0" i="0" u="none" strike="noStrike" baseline="0" dirty="0">
                <a:latin typeface="+mn-lt"/>
              </a:rPr>
              <a:t>; // declare an object of type T</a:t>
            </a:r>
          </a:p>
          <a:p>
            <a:pPr algn="l"/>
            <a:r>
              <a:rPr lang="en-US" sz="1400" b="0" i="0" u="none" strike="noStrike" baseline="0" dirty="0">
                <a:latin typeface="+mn-lt"/>
              </a:rPr>
              <a:t>// Pass the constructor a reference to</a:t>
            </a:r>
          </a:p>
          <a:p>
            <a:pPr algn="l"/>
            <a:r>
              <a:rPr lang="en-US" sz="1400" b="0" i="0" u="none" strike="noStrike" baseline="0" dirty="0">
                <a:latin typeface="+mn-lt"/>
              </a:rPr>
              <a:t>// an object of type T.</a:t>
            </a:r>
          </a:p>
          <a:p>
            <a:pPr algn="l"/>
            <a:r>
              <a:rPr lang="en-IN" sz="1400" b="0" i="0" u="none" strike="noStrike" baseline="0" dirty="0">
                <a:latin typeface="+mn-lt"/>
              </a:rPr>
              <a:t>Gen(T o) {</a:t>
            </a:r>
          </a:p>
          <a:p>
            <a:pPr algn="l"/>
            <a:r>
              <a:rPr lang="en-IN" sz="1400" b="0" i="0" u="none" strike="noStrike" baseline="0" dirty="0" err="1">
                <a:latin typeface="+mn-lt"/>
              </a:rPr>
              <a:t>ob</a:t>
            </a:r>
            <a:r>
              <a:rPr lang="en-IN" sz="1400" b="0" i="0" u="none" strike="noStrike" baseline="0" dirty="0">
                <a:latin typeface="+mn-lt"/>
              </a:rPr>
              <a:t> = o;</a:t>
            </a:r>
          </a:p>
          <a:p>
            <a:pPr algn="l"/>
            <a:r>
              <a:rPr lang="en-IN" sz="1400" b="0" i="0" u="none" strike="noStrike" baseline="0" dirty="0">
                <a:latin typeface="+mn-lt"/>
              </a:rPr>
              <a:t>}</a:t>
            </a:r>
          </a:p>
          <a:p>
            <a:pPr algn="l"/>
            <a:r>
              <a:rPr lang="en-IN" sz="1400" b="0" i="0" u="none" strike="noStrike" baseline="0" dirty="0">
                <a:latin typeface="+mn-lt"/>
              </a:rPr>
              <a:t>// Return ob.</a:t>
            </a:r>
          </a:p>
          <a:p>
            <a:pPr algn="l"/>
            <a:r>
              <a:rPr lang="en-IN" sz="1400" b="0" i="0" u="none" strike="noStrike" baseline="0" dirty="0">
                <a:latin typeface="+mn-lt"/>
              </a:rPr>
              <a:t>T </a:t>
            </a:r>
            <a:r>
              <a:rPr lang="en-IN" sz="1400" b="0" i="0" u="none" strike="noStrike" baseline="0" dirty="0" err="1">
                <a:latin typeface="+mn-lt"/>
              </a:rPr>
              <a:t>getob</a:t>
            </a:r>
            <a:r>
              <a:rPr lang="en-IN" sz="1400" b="0" i="0" u="none" strike="noStrike" baseline="0" dirty="0">
                <a:latin typeface="+mn-lt"/>
              </a:rPr>
              <a:t>() {</a:t>
            </a:r>
          </a:p>
          <a:p>
            <a:pPr algn="l"/>
            <a:r>
              <a:rPr lang="en-US" sz="1400" b="0" i="0" u="none" strike="noStrike" baseline="0" dirty="0" err="1">
                <a:latin typeface="+mn-lt"/>
              </a:rPr>
              <a:t>System.out.print</a:t>
            </a:r>
            <a:r>
              <a:rPr lang="en-US" sz="1400" b="0" i="0" u="none" strike="noStrike" baseline="0" dirty="0">
                <a:latin typeface="+mn-lt"/>
              </a:rPr>
              <a:t>("Gen's </a:t>
            </a:r>
            <a:r>
              <a:rPr lang="en-US" sz="1400" b="0" i="0" u="none" strike="noStrike" baseline="0" dirty="0" err="1">
                <a:latin typeface="+mn-lt"/>
              </a:rPr>
              <a:t>getob</a:t>
            </a:r>
            <a:r>
              <a:rPr lang="en-US" sz="1400" b="0" i="0" u="none" strike="noStrike" baseline="0" dirty="0">
                <a:latin typeface="+mn-lt"/>
              </a:rPr>
              <a:t>(): " );</a:t>
            </a:r>
          </a:p>
          <a:p>
            <a:pPr algn="l"/>
            <a:r>
              <a:rPr lang="en-IN" sz="1400" b="0" i="0" u="none" strike="noStrike" baseline="0" dirty="0">
                <a:latin typeface="+mn-lt"/>
              </a:rPr>
              <a:t>return </a:t>
            </a:r>
            <a:r>
              <a:rPr lang="en-IN" sz="1400" b="0" i="0" u="none" strike="noStrike" baseline="0" dirty="0" err="1">
                <a:latin typeface="+mn-lt"/>
              </a:rPr>
              <a:t>ob</a:t>
            </a:r>
            <a:r>
              <a:rPr lang="en-IN" sz="1400" b="0" i="0" u="none" strike="noStrike" baseline="0" dirty="0">
                <a:latin typeface="+mn-lt"/>
              </a:rPr>
              <a:t>;</a:t>
            </a:r>
          </a:p>
          <a:p>
            <a:pPr algn="l"/>
            <a:r>
              <a:rPr lang="en-IN" sz="1400" b="0" i="0" u="none" strike="noStrike" baseline="0" dirty="0">
                <a:latin typeface="+mn-lt"/>
              </a:rPr>
              <a:t>}</a:t>
            </a:r>
          </a:p>
          <a:p>
            <a:pPr algn="l"/>
            <a:r>
              <a:rPr lang="en-IN" sz="1400" b="0" i="0" u="none" strike="noStrike" baseline="0" dirty="0">
                <a:latin typeface="+mn-lt"/>
              </a:rPr>
              <a:t>}</a:t>
            </a:r>
          </a:p>
          <a:p>
            <a:pPr algn="l"/>
            <a:r>
              <a:rPr lang="en-US" sz="1400" b="0" i="0" u="none" strike="noStrike" baseline="0" dirty="0">
                <a:latin typeface="+mn-lt"/>
              </a:rPr>
              <a:t>// A subclass of Gen that overrides </a:t>
            </a:r>
            <a:r>
              <a:rPr lang="en-US" sz="1400" b="0" i="0" u="none" strike="noStrike" baseline="0" dirty="0" err="1">
                <a:latin typeface="+mn-lt"/>
              </a:rPr>
              <a:t>getob</a:t>
            </a:r>
            <a:r>
              <a:rPr lang="en-US" sz="1400" b="0" i="0" u="none" strike="noStrike" baseline="0" dirty="0">
                <a:latin typeface="+mn-lt"/>
              </a:rPr>
              <a:t>().</a:t>
            </a:r>
          </a:p>
          <a:p>
            <a:pPr algn="l"/>
            <a:r>
              <a:rPr lang="de-DE" sz="1400" b="0" i="0" u="none" strike="noStrike" baseline="0" dirty="0">
                <a:latin typeface="+mn-lt"/>
              </a:rPr>
              <a:t>class Gen2&lt;T&gt; extends Gen&lt;T&gt; {</a:t>
            </a:r>
          </a:p>
          <a:p>
            <a:pPr algn="l"/>
            <a:r>
              <a:rPr lang="en-IN" sz="1400" b="0" i="0" u="none" strike="noStrike" baseline="0" dirty="0">
                <a:latin typeface="+mn-lt"/>
              </a:rPr>
              <a:t>Gen2(T o) {</a:t>
            </a:r>
          </a:p>
          <a:p>
            <a:pPr algn="l"/>
            <a:r>
              <a:rPr lang="en-IN" sz="1400" b="0" i="0" u="none" strike="noStrike" baseline="0" dirty="0">
                <a:latin typeface="+mn-lt"/>
              </a:rPr>
              <a:t>super(o);</a:t>
            </a:r>
          </a:p>
          <a:p>
            <a:pPr algn="l"/>
            <a:r>
              <a:rPr lang="en-IN" sz="1400" b="0" i="0" u="none" strike="noStrike" baseline="0" dirty="0">
                <a:latin typeface="+mn-lt"/>
              </a:rPr>
              <a:t>}</a:t>
            </a:r>
          </a:p>
          <a:p>
            <a:pPr algn="l"/>
            <a:r>
              <a:rPr lang="en-IN" sz="1400" b="0" i="0" u="none" strike="noStrike" baseline="0" dirty="0">
                <a:latin typeface="+mn-lt"/>
              </a:rPr>
              <a:t>// Override </a:t>
            </a:r>
            <a:r>
              <a:rPr lang="en-IN" sz="1400" b="0" i="0" u="none" strike="noStrike" baseline="0" dirty="0" err="1">
                <a:latin typeface="+mn-lt"/>
              </a:rPr>
              <a:t>getob</a:t>
            </a:r>
            <a:r>
              <a:rPr lang="en-IN" sz="1400" b="0" i="0" u="none" strike="noStrike" baseline="0" dirty="0">
                <a:latin typeface="+mn-lt"/>
              </a:rPr>
              <a:t>().</a:t>
            </a:r>
          </a:p>
          <a:p>
            <a:pPr algn="l"/>
            <a:r>
              <a:rPr lang="en-IN" sz="1400" b="0" i="0" u="none" strike="noStrike" baseline="0" dirty="0">
                <a:latin typeface="+mn-lt"/>
              </a:rPr>
              <a:t>T </a:t>
            </a:r>
            <a:r>
              <a:rPr lang="en-IN" sz="1400" b="0" i="0" u="none" strike="noStrike" baseline="0" dirty="0" err="1">
                <a:latin typeface="+mn-lt"/>
              </a:rPr>
              <a:t>getob</a:t>
            </a:r>
            <a:r>
              <a:rPr lang="en-IN" sz="1400" b="0" i="0" u="none" strike="noStrike" baseline="0" dirty="0">
                <a:latin typeface="+mn-lt"/>
              </a:rPr>
              <a:t>() {</a:t>
            </a:r>
          </a:p>
          <a:p>
            <a:pPr algn="l"/>
            <a:r>
              <a:rPr lang="en-IN" sz="1400" b="0" i="0" u="none" strike="noStrike" baseline="0" dirty="0" err="1">
                <a:latin typeface="+mn-lt"/>
              </a:rPr>
              <a:t>System.out.print</a:t>
            </a:r>
            <a:r>
              <a:rPr lang="en-IN" sz="1400" b="0" i="0" u="none" strike="noStrike" baseline="0" dirty="0">
                <a:latin typeface="+mn-lt"/>
              </a:rPr>
              <a:t>("Gen2's </a:t>
            </a:r>
            <a:r>
              <a:rPr lang="en-IN" sz="1400" b="0" i="0" u="none" strike="noStrike" baseline="0" dirty="0" err="1">
                <a:latin typeface="+mn-lt"/>
              </a:rPr>
              <a:t>getob</a:t>
            </a:r>
            <a:r>
              <a:rPr lang="en-IN" sz="1400" b="0" i="0" u="none" strike="noStrike" baseline="0" dirty="0">
                <a:latin typeface="+mn-lt"/>
              </a:rPr>
              <a:t>(): ");</a:t>
            </a:r>
          </a:p>
          <a:p>
            <a:pPr algn="l"/>
            <a:r>
              <a:rPr lang="en-IN" sz="1400" b="0" i="0" u="none" strike="noStrike" baseline="0" dirty="0">
                <a:latin typeface="+mn-lt"/>
              </a:rPr>
              <a:t>return </a:t>
            </a:r>
            <a:r>
              <a:rPr lang="en-IN" sz="1400" b="0" i="0" u="none" strike="noStrike" baseline="0" dirty="0" err="1">
                <a:latin typeface="+mn-lt"/>
              </a:rPr>
              <a:t>ob</a:t>
            </a:r>
            <a:r>
              <a:rPr lang="en-IN" sz="1400" b="0" i="0" u="none" strike="noStrike" baseline="0" dirty="0">
                <a:latin typeface="+mn-lt"/>
              </a:rPr>
              <a:t>;</a:t>
            </a:r>
          </a:p>
          <a:p>
            <a:pPr algn="l"/>
            <a:r>
              <a:rPr lang="en-IN" sz="1400" b="0" i="0" u="none" strike="noStrike" baseline="0" dirty="0">
                <a:latin typeface="+mn-lt"/>
              </a:rPr>
              <a:t>}</a:t>
            </a:r>
          </a:p>
          <a:p>
            <a:pPr algn="l"/>
            <a:r>
              <a:rPr lang="en-IN" sz="1400" b="0" i="0" u="none" strike="noStrike" baseline="0" dirty="0">
                <a:latin typeface="+mn-lt"/>
              </a:rPr>
              <a:t>}</a:t>
            </a:r>
            <a:endParaRPr lang="en-IN" sz="1400" b="1" i="0" u="none" strike="noStrike" baseline="0" dirty="0">
              <a:solidFill>
                <a:srgbClr val="000000"/>
              </a:solidFill>
              <a:latin typeface="+mn-lt"/>
            </a:endParaRPr>
          </a:p>
        </p:txBody>
      </p:sp>
    </p:spTree>
    <p:extLst>
      <p:ext uri="{BB962C8B-B14F-4D97-AF65-F5344CB8AC3E}">
        <p14:creationId xmlns:p14="http://schemas.microsoft.com/office/powerpoint/2010/main" val="1347383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347450" y="428178"/>
            <a:ext cx="8257075" cy="3108543"/>
          </a:xfrm>
          <a:prstGeom prst="rect">
            <a:avLst/>
          </a:prstGeom>
          <a:noFill/>
        </p:spPr>
        <p:txBody>
          <a:bodyPr wrap="square">
            <a:spAutoFit/>
          </a:bodyPr>
          <a:lstStyle/>
          <a:p>
            <a:pPr algn="l"/>
            <a:r>
              <a:rPr lang="en-IN" sz="1400" b="0" i="0" u="none" strike="noStrike" baseline="0" dirty="0">
                <a:solidFill>
                  <a:srgbClr val="231F20"/>
                </a:solidFill>
                <a:latin typeface="Courier"/>
              </a:rPr>
              <a:t>// Demonstrate generic method override.</a:t>
            </a:r>
          </a:p>
          <a:p>
            <a:pPr algn="l"/>
            <a:r>
              <a:rPr lang="en-IN" sz="1400" b="0" i="0" u="none" strike="noStrike" baseline="0" dirty="0">
                <a:solidFill>
                  <a:srgbClr val="231F20"/>
                </a:solidFill>
                <a:latin typeface="Courier"/>
              </a:rPr>
              <a:t>class </a:t>
            </a:r>
            <a:r>
              <a:rPr lang="en-IN" sz="1400" b="0" i="0" u="none" strike="noStrike" baseline="0" dirty="0" err="1">
                <a:solidFill>
                  <a:srgbClr val="231F20"/>
                </a:solidFill>
                <a:latin typeface="Courier"/>
              </a:rPr>
              <a:t>OverrideDemo</a:t>
            </a:r>
            <a:r>
              <a:rPr lang="en-IN" sz="1400" b="0" i="0" u="none" strike="noStrike" baseline="0" dirty="0">
                <a:solidFill>
                  <a:srgbClr val="231F20"/>
                </a:solidFill>
                <a:latin typeface="Courier"/>
              </a:rPr>
              <a:t> {</a:t>
            </a:r>
          </a:p>
          <a:p>
            <a:pPr algn="l"/>
            <a:r>
              <a:rPr lang="en-US" sz="1400" b="0" i="0" u="none" strike="noStrike" baseline="0" dirty="0">
                <a:solidFill>
                  <a:srgbClr val="231F20"/>
                </a:solidFill>
                <a:latin typeface="Courier"/>
              </a:rPr>
              <a:t>public static void main(String </a:t>
            </a:r>
            <a:r>
              <a:rPr lang="en-US" sz="1400" b="0" i="0" u="none" strike="noStrike" baseline="0" dirty="0" err="1">
                <a:solidFill>
                  <a:srgbClr val="231F20"/>
                </a:solidFill>
                <a:latin typeface="Courier"/>
              </a:rPr>
              <a:t>args</a:t>
            </a:r>
            <a:r>
              <a:rPr lang="en-US" sz="1400" b="0" i="0" u="none" strike="noStrike" baseline="0" dirty="0">
                <a:solidFill>
                  <a:srgbClr val="231F20"/>
                </a:solidFill>
                <a:latin typeface="Courier"/>
              </a:rPr>
              <a:t>[]) {</a:t>
            </a:r>
          </a:p>
          <a:p>
            <a:pPr algn="l"/>
            <a:r>
              <a:rPr lang="en-US" sz="1400" b="0" i="0" u="none" strike="noStrike" baseline="0" dirty="0">
                <a:solidFill>
                  <a:srgbClr val="231F20"/>
                </a:solidFill>
                <a:latin typeface="Courier"/>
              </a:rPr>
              <a:t>// Create a Gen object for Integers.</a:t>
            </a:r>
          </a:p>
          <a:p>
            <a:pPr algn="l"/>
            <a:r>
              <a:rPr lang="en-IN" sz="1400" b="0" i="0" u="none" strike="noStrike" baseline="0" dirty="0">
                <a:solidFill>
                  <a:srgbClr val="231F20"/>
                </a:solidFill>
                <a:latin typeface="Courier"/>
              </a:rPr>
              <a:t>Gen&lt;Integer&gt; </a:t>
            </a:r>
            <a:r>
              <a:rPr lang="en-IN" sz="1400" b="0" i="0" u="none" strike="noStrike" baseline="0" dirty="0" err="1">
                <a:solidFill>
                  <a:srgbClr val="231F20"/>
                </a:solidFill>
                <a:latin typeface="Courier"/>
              </a:rPr>
              <a:t>iOb</a:t>
            </a:r>
            <a:r>
              <a:rPr lang="en-IN" sz="1400" b="0" i="0" u="none" strike="noStrike" baseline="0" dirty="0">
                <a:solidFill>
                  <a:srgbClr val="231F20"/>
                </a:solidFill>
                <a:latin typeface="Courier"/>
              </a:rPr>
              <a:t> = new Gen&lt;Integer&gt;(88);</a:t>
            </a:r>
          </a:p>
          <a:p>
            <a:pPr algn="l"/>
            <a:r>
              <a:rPr lang="en-US" sz="1400" b="0" i="0" u="none" strike="noStrike" baseline="0" dirty="0">
                <a:solidFill>
                  <a:srgbClr val="231F20"/>
                </a:solidFill>
                <a:latin typeface="Courier"/>
              </a:rPr>
              <a:t>// Create a Gen2 object for Integers.</a:t>
            </a:r>
          </a:p>
          <a:p>
            <a:pPr algn="l"/>
            <a:r>
              <a:rPr lang="en-IN" sz="1400" b="0" i="0" u="none" strike="noStrike" baseline="0" dirty="0">
                <a:solidFill>
                  <a:srgbClr val="231F20"/>
                </a:solidFill>
                <a:latin typeface="Courier"/>
              </a:rPr>
              <a:t>Gen2&lt;Integer&gt; iOb2 = new Gen2&lt;Integer&gt;(99);</a:t>
            </a:r>
          </a:p>
          <a:p>
            <a:pPr algn="l"/>
            <a:r>
              <a:rPr lang="en-US" sz="1400" b="0" i="0" u="none" strike="noStrike" baseline="0" dirty="0">
                <a:solidFill>
                  <a:srgbClr val="231F20"/>
                </a:solidFill>
                <a:latin typeface="Courier"/>
              </a:rPr>
              <a:t>// Create a Gen2 object for Strings.</a:t>
            </a:r>
          </a:p>
          <a:p>
            <a:pPr algn="l"/>
            <a:r>
              <a:rPr lang="en-IN" sz="1400" b="0" i="0" u="none" strike="noStrike" baseline="0" dirty="0">
                <a:solidFill>
                  <a:srgbClr val="231F20"/>
                </a:solidFill>
                <a:latin typeface="Courier"/>
              </a:rPr>
              <a:t>Gen2&lt;String&gt; strOb2 = new Gen2&lt;String&gt;("Generics Test");</a:t>
            </a:r>
          </a:p>
          <a:p>
            <a:pPr algn="l"/>
            <a:r>
              <a:rPr lang="en-IN" sz="1400" b="0" i="0" u="none" strike="noStrike" baseline="0" dirty="0" err="1">
                <a:solidFill>
                  <a:srgbClr val="231F20"/>
                </a:solidFill>
                <a:latin typeface="Courier"/>
              </a:rPr>
              <a:t>System.out.println</a:t>
            </a:r>
            <a:r>
              <a:rPr lang="en-IN" sz="1400" b="0" i="0" u="none" strike="noStrike" baseline="0" dirty="0">
                <a:solidFill>
                  <a:srgbClr val="231F20"/>
                </a:solidFill>
                <a:latin typeface="Courier"/>
              </a:rPr>
              <a:t>(</a:t>
            </a:r>
            <a:r>
              <a:rPr lang="en-IN" sz="1400" b="0" i="0" u="none" strike="noStrike" baseline="0" dirty="0" err="1">
                <a:solidFill>
                  <a:srgbClr val="231F20"/>
                </a:solidFill>
                <a:latin typeface="Courier"/>
              </a:rPr>
              <a:t>iOb.getob</a:t>
            </a:r>
            <a:r>
              <a:rPr lang="en-IN" sz="1400" b="0" i="0" u="none" strike="noStrike" baseline="0" dirty="0">
                <a:solidFill>
                  <a:srgbClr val="231F20"/>
                </a:solidFill>
                <a:latin typeface="Courier"/>
              </a:rPr>
              <a:t>());</a:t>
            </a:r>
          </a:p>
          <a:p>
            <a:pPr algn="l"/>
            <a:r>
              <a:rPr lang="en-IN" sz="1400" b="0" i="0" u="none" strike="noStrike" baseline="0" dirty="0" err="1">
                <a:solidFill>
                  <a:srgbClr val="231F20"/>
                </a:solidFill>
                <a:latin typeface="Courier"/>
              </a:rPr>
              <a:t>System.out.println</a:t>
            </a:r>
            <a:r>
              <a:rPr lang="en-IN" sz="1400" b="0" i="0" u="none" strike="noStrike" baseline="0" dirty="0">
                <a:solidFill>
                  <a:srgbClr val="231F20"/>
                </a:solidFill>
                <a:latin typeface="Courier"/>
              </a:rPr>
              <a:t>(iOb2.getob());</a:t>
            </a:r>
          </a:p>
          <a:p>
            <a:pPr algn="l"/>
            <a:r>
              <a:rPr lang="en-IN" sz="1400" b="0" i="0" u="none" strike="noStrike" baseline="0" dirty="0" err="1">
                <a:solidFill>
                  <a:srgbClr val="231F20"/>
                </a:solidFill>
                <a:latin typeface="Courier"/>
              </a:rPr>
              <a:t>System.out.println</a:t>
            </a:r>
            <a:r>
              <a:rPr lang="en-IN" sz="1400" b="0" i="0" u="none" strike="noStrike" baseline="0" dirty="0">
                <a:solidFill>
                  <a:srgbClr val="231F20"/>
                </a:solidFill>
                <a:latin typeface="Courier"/>
              </a:rPr>
              <a:t>(strOb2.getob());</a:t>
            </a:r>
          </a:p>
          <a:p>
            <a:pPr algn="l"/>
            <a:r>
              <a:rPr lang="en-IN" sz="1400" b="0" i="0" u="none" strike="noStrike" baseline="0" dirty="0">
                <a:solidFill>
                  <a:srgbClr val="231F20"/>
                </a:solidFill>
                <a:latin typeface="Courier"/>
              </a:rPr>
              <a:t>}</a:t>
            </a:r>
          </a:p>
          <a:p>
            <a:pPr algn="l"/>
            <a:r>
              <a:rPr lang="en-IN" sz="1400" b="0" i="0" u="none" strike="noStrike" baseline="0" dirty="0">
                <a:solidFill>
                  <a:srgbClr val="231F20"/>
                </a:solidFill>
                <a:latin typeface="Courier"/>
              </a:rPr>
              <a:t>}</a:t>
            </a:r>
          </a:p>
        </p:txBody>
      </p:sp>
    </p:spTree>
    <p:extLst>
      <p:ext uri="{BB962C8B-B14F-4D97-AF65-F5344CB8AC3E}">
        <p14:creationId xmlns:p14="http://schemas.microsoft.com/office/powerpoint/2010/main" val="4078543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779055"/>
            <a:ext cx="8257075" cy="4801314"/>
          </a:xfrm>
          <a:prstGeom prst="rect">
            <a:avLst/>
          </a:prstGeom>
          <a:noFill/>
        </p:spPr>
        <p:txBody>
          <a:bodyPr wrap="square">
            <a:spAutoFit/>
          </a:bodyPr>
          <a:lstStyle/>
          <a:p>
            <a:pPr algn="l"/>
            <a:r>
              <a:rPr lang="en-IN" sz="1800" b="1" i="0" u="none" strike="noStrike" baseline="0" dirty="0">
                <a:solidFill>
                  <a:srgbClr val="C00000"/>
                </a:solidFill>
                <a:latin typeface="FranklinGothic-DemiCnd"/>
              </a:rPr>
              <a:t>Generic Constructors</a:t>
            </a:r>
          </a:p>
          <a:p>
            <a:pPr algn="l"/>
            <a:r>
              <a:rPr lang="en-US" sz="1800" b="0" i="0" u="none" strike="noStrike" baseline="0" dirty="0">
                <a:latin typeface="Palatino-Roman"/>
              </a:rPr>
              <a:t>It is also possible for constructors to be generic, </a:t>
            </a:r>
            <a:r>
              <a:rPr lang="en-US" sz="1800" b="0" i="0" u="none" strike="noStrike" baseline="0" dirty="0">
                <a:solidFill>
                  <a:srgbClr val="C00000"/>
                </a:solidFill>
                <a:latin typeface="Palatino-Roman"/>
              </a:rPr>
              <a:t>even if their class is not. </a:t>
            </a:r>
          </a:p>
          <a:p>
            <a:pPr algn="l"/>
            <a:r>
              <a:rPr lang="en-US" sz="1800" b="0" i="0" u="none" strike="noStrike" baseline="0" dirty="0">
                <a:latin typeface="Palatino-Roman"/>
              </a:rPr>
              <a:t>For example, consider </a:t>
            </a:r>
            <a:r>
              <a:rPr lang="en-IN" sz="1800" b="0" i="0" u="none" strike="noStrike" baseline="0" dirty="0">
                <a:latin typeface="Palatino-Roman"/>
              </a:rPr>
              <a:t>the following short program:</a:t>
            </a:r>
          </a:p>
          <a:p>
            <a:pPr algn="l"/>
            <a:r>
              <a:rPr lang="en-IN" sz="1800" b="0" i="0" u="none" strike="noStrike" baseline="0" dirty="0">
                <a:latin typeface="Courier"/>
              </a:rPr>
              <a:t>// Use a generic constructor.</a:t>
            </a:r>
          </a:p>
          <a:p>
            <a:pPr algn="l"/>
            <a:r>
              <a:rPr lang="en-IN" sz="1800" b="0" i="0" u="none" strike="noStrike" baseline="0" dirty="0">
                <a:latin typeface="Courier"/>
              </a:rPr>
              <a:t>class </a:t>
            </a:r>
            <a:r>
              <a:rPr lang="en-IN" sz="1800" b="0" i="0" u="none" strike="noStrike" baseline="0" dirty="0" err="1">
                <a:latin typeface="Courier"/>
              </a:rPr>
              <a:t>GenCons</a:t>
            </a:r>
            <a:r>
              <a:rPr lang="en-IN" sz="1800" b="0" i="0" u="none" strike="noStrike" baseline="0" dirty="0">
                <a:latin typeface="Courier"/>
              </a:rPr>
              <a:t> {</a:t>
            </a:r>
          </a:p>
          <a:p>
            <a:pPr algn="l"/>
            <a:r>
              <a:rPr lang="en-IN" sz="1800" b="0" i="0" u="none" strike="noStrike" baseline="0" dirty="0">
                <a:latin typeface="Courier"/>
              </a:rPr>
              <a:t>private double </a:t>
            </a:r>
            <a:r>
              <a:rPr lang="en-IN" sz="1800" b="0" i="0" u="none" strike="noStrike" baseline="0" dirty="0" err="1">
                <a:latin typeface="Courier"/>
              </a:rPr>
              <a:t>val</a:t>
            </a:r>
            <a:r>
              <a:rPr lang="en-IN" sz="1800" b="0" i="0" u="none" strike="noStrike" baseline="0" dirty="0">
                <a:latin typeface="Courier"/>
              </a:rPr>
              <a:t>;</a:t>
            </a:r>
          </a:p>
          <a:p>
            <a:pPr algn="l"/>
            <a:r>
              <a:rPr lang="fr-FR" sz="1800" b="0" i="0" u="none" strike="noStrike" baseline="0" dirty="0">
                <a:latin typeface="Courier"/>
              </a:rPr>
              <a:t>&lt;T </a:t>
            </a:r>
            <a:r>
              <a:rPr lang="fr-FR" sz="1800" b="0" i="0" u="none" strike="noStrike" baseline="0" dirty="0" err="1">
                <a:latin typeface="Courier"/>
              </a:rPr>
              <a:t>extends</a:t>
            </a:r>
            <a:r>
              <a:rPr lang="fr-FR" sz="1800" b="0" i="0" u="none" strike="noStrike" baseline="0" dirty="0">
                <a:latin typeface="Courier"/>
              </a:rPr>
              <a:t> </a:t>
            </a:r>
            <a:r>
              <a:rPr lang="fr-FR" sz="1800" b="0" i="0" u="none" strike="noStrike" baseline="0" dirty="0" err="1">
                <a:latin typeface="Courier"/>
              </a:rPr>
              <a:t>Number</a:t>
            </a:r>
            <a:r>
              <a:rPr lang="fr-FR" sz="1800" b="0" i="0" u="none" strike="noStrike" baseline="0" dirty="0">
                <a:latin typeface="Courier"/>
              </a:rPr>
              <a:t>&gt; </a:t>
            </a:r>
            <a:r>
              <a:rPr lang="fr-FR" sz="1800" b="0" i="0" u="none" strike="noStrike" baseline="0" dirty="0" err="1">
                <a:latin typeface="Courier"/>
              </a:rPr>
              <a:t>GenCons</a:t>
            </a:r>
            <a:r>
              <a:rPr lang="fr-FR" sz="1800" b="0" i="0" u="none" strike="noStrike" baseline="0" dirty="0">
                <a:latin typeface="Courier"/>
              </a:rPr>
              <a:t>(T arg) {</a:t>
            </a:r>
          </a:p>
          <a:p>
            <a:pPr algn="l"/>
            <a:r>
              <a:rPr lang="en-IN" sz="1800" b="0" i="0" u="none" strike="noStrike" baseline="0" dirty="0" err="1">
                <a:latin typeface="Courier"/>
              </a:rPr>
              <a:t>val</a:t>
            </a:r>
            <a:r>
              <a:rPr lang="en-IN" sz="1800" b="0" i="0" u="none" strike="noStrike" baseline="0" dirty="0">
                <a:latin typeface="Courier"/>
              </a:rPr>
              <a:t> = </a:t>
            </a:r>
            <a:r>
              <a:rPr lang="en-IN" sz="1800" b="0" i="0" u="none" strike="noStrike" baseline="0" dirty="0" err="1">
                <a:latin typeface="Courier"/>
              </a:rPr>
              <a:t>arg.doubleValue</a:t>
            </a:r>
            <a:r>
              <a:rPr lang="en-IN" sz="1800" b="0" i="0" u="none" strike="noStrike" baseline="0" dirty="0">
                <a:latin typeface="Courier"/>
              </a:rPr>
              <a:t>();</a:t>
            </a:r>
          </a:p>
          <a:p>
            <a:pPr algn="l"/>
            <a:r>
              <a:rPr lang="en-IN" sz="1800" b="0" i="0" u="none" strike="noStrike" baseline="0" dirty="0">
                <a:latin typeface="Courier"/>
              </a:rPr>
              <a:t>}</a:t>
            </a:r>
          </a:p>
          <a:p>
            <a:pPr algn="l"/>
            <a:r>
              <a:rPr lang="en-IN" sz="1800" b="0" i="0" u="none" strike="noStrike" baseline="0" dirty="0">
                <a:latin typeface="Courier"/>
              </a:rPr>
              <a:t>void </a:t>
            </a:r>
            <a:r>
              <a:rPr lang="en-IN" sz="1800" b="0" i="0" u="none" strike="noStrike" baseline="0" dirty="0" err="1">
                <a:latin typeface="Courier"/>
              </a:rPr>
              <a:t>showval</a:t>
            </a:r>
            <a:r>
              <a:rPr lang="en-IN" sz="1800" b="0" i="0" u="none" strike="noStrike" baseline="0" dirty="0">
                <a:latin typeface="Courier"/>
              </a:rPr>
              <a:t>() {</a:t>
            </a:r>
          </a:p>
          <a:p>
            <a:pPr algn="l"/>
            <a:r>
              <a:rPr lang="nn-NO" sz="1800" b="0" i="0" u="none" strike="noStrike" baseline="0" dirty="0">
                <a:latin typeface="Courier"/>
              </a:rPr>
              <a:t>System.out.println("val: " + val);</a:t>
            </a:r>
          </a:p>
          <a:p>
            <a:pPr algn="l"/>
            <a:r>
              <a:rPr lang="en-IN" sz="1800" b="0" i="0" u="none" strike="noStrike" baseline="0" dirty="0">
                <a:latin typeface="Courier"/>
              </a:rPr>
              <a:t>}</a:t>
            </a:r>
          </a:p>
          <a:p>
            <a:pPr algn="l"/>
            <a:r>
              <a:rPr lang="en-IN" sz="1800" b="0" i="0" u="none" strike="noStrike" baseline="0" dirty="0">
                <a:latin typeface="Courier"/>
              </a:rPr>
              <a:t>}</a:t>
            </a:r>
          </a:p>
          <a:p>
            <a:pPr algn="l"/>
            <a:r>
              <a:rPr lang="en-IN" sz="1800" b="0" i="0" u="none" strike="noStrike" baseline="0" dirty="0">
                <a:latin typeface="Courier"/>
              </a:rPr>
              <a:t>class </a:t>
            </a:r>
            <a:r>
              <a:rPr lang="en-IN" sz="1800" b="0" i="0" u="none" strike="noStrike" baseline="0" dirty="0" err="1">
                <a:latin typeface="Courier"/>
              </a:rPr>
              <a:t>GenConsDemo</a:t>
            </a:r>
            <a:r>
              <a:rPr lang="en-IN" sz="1800" b="0" i="0" u="none" strike="noStrike" baseline="0" dirty="0">
                <a:latin typeface="Courier"/>
              </a:rPr>
              <a:t> {</a:t>
            </a:r>
          </a:p>
          <a:p>
            <a:pPr algn="l"/>
            <a:r>
              <a:rPr lang="en-US" sz="1800" b="0" i="0" u="none" strike="noStrike" baseline="0" dirty="0">
                <a:latin typeface="Courier"/>
              </a:rPr>
              <a:t>public static void main(String </a:t>
            </a:r>
            <a:r>
              <a:rPr lang="en-US" sz="1800" b="0" i="0" u="none" strike="noStrike" baseline="0" dirty="0" err="1">
                <a:latin typeface="Courier"/>
              </a:rPr>
              <a:t>args</a:t>
            </a:r>
            <a:r>
              <a:rPr lang="en-US" sz="1800" b="0" i="0" u="none" strike="noStrike" baseline="0" dirty="0">
                <a:latin typeface="Courier"/>
              </a:rPr>
              <a:t>[]) {</a:t>
            </a:r>
          </a:p>
          <a:p>
            <a:pPr algn="l"/>
            <a:r>
              <a:rPr lang="en-IN" sz="1800" b="0" i="0" u="none" strike="noStrike" baseline="0" dirty="0" err="1">
                <a:latin typeface="Courier"/>
              </a:rPr>
              <a:t>GenCons</a:t>
            </a:r>
            <a:r>
              <a:rPr lang="en-IN" sz="1800" b="0" i="0" u="none" strike="noStrike" baseline="0" dirty="0">
                <a:latin typeface="Courier"/>
              </a:rPr>
              <a:t> test = new </a:t>
            </a:r>
            <a:r>
              <a:rPr lang="en-IN" sz="1800" b="0" i="0" u="none" strike="noStrike" baseline="0" dirty="0" err="1">
                <a:latin typeface="Courier"/>
              </a:rPr>
              <a:t>GenCons</a:t>
            </a:r>
            <a:r>
              <a:rPr lang="en-IN" sz="1800" b="0" i="0" u="none" strike="noStrike" baseline="0" dirty="0">
                <a:latin typeface="Courier"/>
              </a:rPr>
              <a:t>(100);</a:t>
            </a:r>
          </a:p>
          <a:p>
            <a:pPr algn="l"/>
            <a:r>
              <a:rPr lang="en-IN" sz="1800" b="0" i="0" u="none" strike="noStrike" baseline="0" dirty="0" err="1">
                <a:latin typeface="Courier"/>
              </a:rPr>
              <a:t>GenCons</a:t>
            </a:r>
            <a:r>
              <a:rPr lang="en-IN" sz="1800" b="0" i="0" u="none" strike="noStrike" baseline="0" dirty="0">
                <a:latin typeface="Courier"/>
              </a:rPr>
              <a:t> test2 = new </a:t>
            </a:r>
            <a:r>
              <a:rPr lang="en-IN" sz="1800" b="0" i="0" u="none" strike="noStrike" baseline="0" dirty="0" err="1">
                <a:latin typeface="Courier"/>
              </a:rPr>
              <a:t>GenCons</a:t>
            </a:r>
            <a:r>
              <a:rPr lang="en-IN" sz="1800" b="0" i="0" u="none" strike="noStrike" baseline="0" dirty="0">
                <a:latin typeface="Courier"/>
              </a:rPr>
              <a:t>(123.5F);</a:t>
            </a:r>
            <a:endParaRPr lang="en-IN" sz="1800" dirty="0">
              <a:solidFill>
                <a:srgbClr val="FF0000"/>
              </a:solidFill>
              <a:latin typeface="+mn-lt"/>
            </a:endParaRPr>
          </a:p>
        </p:txBody>
      </p:sp>
    </p:spTree>
    <p:extLst>
      <p:ext uri="{BB962C8B-B14F-4D97-AF65-F5344CB8AC3E}">
        <p14:creationId xmlns:p14="http://schemas.microsoft.com/office/powerpoint/2010/main" val="445953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347450" y="428178"/>
            <a:ext cx="8449100" cy="5724644"/>
          </a:xfrm>
          <a:prstGeom prst="rect">
            <a:avLst/>
          </a:prstGeom>
          <a:noFill/>
        </p:spPr>
        <p:txBody>
          <a:bodyPr wrap="square">
            <a:spAutoFit/>
          </a:bodyPr>
          <a:lstStyle/>
          <a:p>
            <a:pPr algn="l"/>
            <a:r>
              <a:rPr lang="en-IN" sz="1800" b="1" i="0" u="none" strike="noStrike" baseline="0" dirty="0">
                <a:latin typeface="FranklinGothic-DemiCnd"/>
              </a:rPr>
              <a:t>Ambiguity Errors</a:t>
            </a:r>
          </a:p>
          <a:p>
            <a:pPr algn="just"/>
            <a:r>
              <a:rPr lang="en-US" b="0" i="0" u="none" strike="noStrike" baseline="0" dirty="0">
                <a:latin typeface="Palatino-Roman"/>
              </a:rPr>
              <a:t>The inclusion of generics gives rise to a new type of error that you must guard against: </a:t>
            </a:r>
            <a:r>
              <a:rPr lang="en-US" b="0" i="1" u="none" strike="noStrike" baseline="0" dirty="0">
                <a:latin typeface="Palatino-Italic"/>
              </a:rPr>
              <a:t>ambiguity. </a:t>
            </a:r>
          </a:p>
          <a:p>
            <a:pPr algn="just"/>
            <a:r>
              <a:rPr lang="en-US" b="0" i="0" u="none" strike="noStrike" baseline="0" dirty="0">
                <a:latin typeface="Palatino-Roman"/>
              </a:rPr>
              <a:t>Ambiguity errors occur when erasure causes two seemingly distinct generic</a:t>
            </a:r>
          </a:p>
          <a:p>
            <a:pPr algn="just"/>
            <a:r>
              <a:rPr lang="en-US" b="0" i="0" u="none" strike="noStrike" baseline="0" dirty="0">
                <a:latin typeface="Palatino-Roman"/>
              </a:rPr>
              <a:t>declarations to resolve to the same erased type, causing a conflict. Here is an example that </a:t>
            </a:r>
            <a:r>
              <a:rPr lang="en-IN" b="0" i="0" u="none" strike="noStrike" baseline="0" dirty="0">
                <a:latin typeface="Palatino-Roman"/>
              </a:rPr>
              <a:t>involves method overloading:</a:t>
            </a:r>
          </a:p>
          <a:p>
            <a:pPr algn="just"/>
            <a:endParaRPr lang="en-IN" b="0" i="0" u="none" strike="noStrike" baseline="0" dirty="0">
              <a:latin typeface="Palatino-Roman"/>
            </a:endParaRPr>
          </a:p>
          <a:p>
            <a:pPr algn="l"/>
            <a:r>
              <a:rPr lang="en-US" sz="1600" b="0" i="0" u="none" strike="noStrike" baseline="0" dirty="0">
                <a:latin typeface="Courier"/>
              </a:rPr>
              <a:t>// Ambiguity caused by erasure on</a:t>
            </a:r>
          </a:p>
          <a:p>
            <a:pPr algn="l"/>
            <a:r>
              <a:rPr lang="en-IN" sz="1600" b="0" i="0" u="none" strike="noStrike" baseline="0" dirty="0">
                <a:latin typeface="Courier"/>
              </a:rPr>
              <a:t>// overloaded methods.</a:t>
            </a:r>
          </a:p>
          <a:p>
            <a:pPr algn="l"/>
            <a:r>
              <a:rPr lang="en-IN" sz="1600" b="0" i="0" u="none" strike="noStrike" baseline="0" dirty="0">
                <a:latin typeface="Courier"/>
              </a:rPr>
              <a:t>class </a:t>
            </a:r>
            <a:r>
              <a:rPr lang="en-IN" sz="1600" b="0" i="0" u="none" strike="noStrike" baseline="0" dirty="0" err="1">
                <a:latin typeface="Courier"/>
              </a:rPr>
              <a:t>MyGenClass</a:t>
            </a:r>
            <a:r>
              <a:rPr lang="en-IN" sz="1600" b="0" i="0" u="none" strike="noStrike" baseline="0" dirty="0">
                <a:latin typeface="Courier"/>
              </a:rPr>
              <a:t>&lt;T, V&gt; {</a:t>
            </a:r>
          </a:p>
          <a:p>
            <a:pPr algn="l"/>
            <a:r>
              <a:rPr lang="en-IN" sz="1600" b="0" i="0" u="none" strike="noStrike" baseline="0" dirty="0">
                <a:latin typeface="Courier"/>
              </a:rPr>
              <a:t>T ob1;</a:t>
            </a:r>
          </a:p>
          <a:p>
            <a:pPr algn="l"/>
            <a:r>
              <a:rPr lang="en-IN" sz="1600" b="0" i="0" u="none" strike="noStrike" baseline="0" dirty="0">
                <a:latin typeface="Courier"/>
              </a:rPr>
              <a:t>V ob2;</a:t>
            </a:r>
          </a:p>
          <a:p>
            <a:pPr algn="l"/>
            <a:r>
              <a:rPr lang="en-IN" sz="1600" b="0" i="0" u="none" strike="noStrike" baseline="0" dirty="0">
                <a:latin typeface="Courier"/>
              </a:rPr>
              <a:t>// ...</a:t>
            </a:r>
          </a:p>
          <a:p>
            <a:pPr algn="l"/>
            <a:r>
              <a:rPr lang="en-US" sz="1600" b="0" i="0" u="none" strike="noStrike" baseline="0" dirty="0">
                <a:latin typeface="Courier"/>
              </a:rPr>
              <a:t>// These two overloaded methods are ambiguous</a:t>
            </a:r>
          </a:p>
          <a:p>
            <a:pPr algn="l"/>
            <a:r>
              <a:rPr lang="en-IN" sz="1600" b="0" i="0" u="none" strike="noStrike" baseline="0" dirty="0">
                <a:latin typeface="Courier"/>
              </a:rPr>
              <a:t>// and will not compile.</a:t>
            </a:r>
          </a:p>
          <a:p>
            <a:pPr algn="l"/>
            <a:r>
              <a:rPr lang="en-IN" sz="1600" b="0" i="0" u="none" strike="noStrike" baseline="0" dirty="0">
                <a:solidFill>
                  <a:srgbClr val="FF0000"/>
                </a:solidFill>
                <a:latin typeface="Courier"/>
              </a:rPr>
              <a:t>void set(T o) {</a:t>
            </a:r>
          </a:p>
          <a:p>
            <a:pPr algn="l"/>
            <a:r>
              <a:rPr lang="en-IN" sz="1600" b="0" i="0" u="none" strike="noStrike" baseline="0" dirty="0">
                <a:solidFill>
                  <a:srgbClr val="FF0000"/>
                </a:solidFill>
                <a:latin typeface="Courier"/>
              </a:rPr>
              <a:t>ob1 = o;</a:t>
            </a:r>
          </a:p>
          <a:p>
            <a:pPr algn="l"/>
            <a:r>
              <a:rPr lang="en-IN" sz="1600" b="0" i="0" u="none" strike="noStrike" baseline="0" dirty="0">
                <a:solidFill>
                  <a:srgbClr val="FF0000"/>
                </a:solidFill>
                <a:latin typeface="Courier"/>
              </a:rPr>
              <a:t>}</a:t>
            </a:r>
          </a:p>
          <a:p>
            <a:pPr algn="l"/>
            <a:r>
              <a:rPr lang="en-IN" sz="1600" b="0" i="0" u="none" strike="noStrike" baseline="0" dirty="0">
                <a:solidFill>
                  <a:srgbClr val="FF0000"/>
                </a:solidFill>
                <a:latin typeface="Courier"/>
              </a:rPr>
              <a:t>void set(V o) {</a:t>
            </a:r>
          </a:p>
          <a:p>
            <a:pPr algn="l"/>
            <a:r>
              <a:rPr lang="en-IN" sz="1600" b="0" i="0" u="none" strike="noStrike" baseline="0" dirty="0">
                <a:solidFill>
                  <a:srgbClr val="FF0000"/>
                </a:solidFill>
                <a:latin typeface="Courier"/>
              </a:rPr>
              <a:t>ob2 = o;</a:t>
            </a:r>
          </a:p>
          <a:p>
            <a:pPr algn="l"/>
            <a:r>
              <a:rPr lang="en-IN" sz="1600" b="0" i="0" u="none" strike="noStrike" baseline="0" dirty="0">
                <a:solidFill>
                  <a:srgbClr val="FF0000"/>
                </a:solidFill>
                <a:latin typeface="Courier"/>
              </a:rPr>
              <a:t>}</a:t>
            </a:r>
          </a:p>
          <a:p>
            <a:pPr algn="l"/>
            <a:r>
              <a:rPr lang="en-IN" sz="1600" b="0" i="0" u="none" strike="noStrike" baseline="0" dirty="0">
                <a:solidFill>
                  <a:srgbClr val="FF0000"/>
                </a:solidFill>
                <a:latin typeface="Courier"/>
              </a:rPr>
              <a:t>}</a:t>
            </a:r>
            <a:endParaRPr lang="en-IN" sz="1600" b="1" i="0" u="none" strike="noStrike" baseline="0" dirty="0">
              <a:solidFill>
                <a:srgbClr val="FF0000"/>
              </a:solidFill>
              <a:latin typeface="+mn-lt"/>
            </a:endParaRPr>
          </a:p>
        </p:txBody>
      </p:sp>
    </p:spTree>
    <p:extLst>
      <p:ext uri="{BB962C8B-B14F-4D97-AF65-F5344CB8AC3E}">
        <p14:creationId xmlns:p14="http://schemas.microsoft.com/office/powerpoint/2010/main" val="786654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779055"/>
            <a:ext cx="8257075" cy="4247317"/>
          </a:xfrm>
          <a:prstGeom prst="rect">
            <a:avLst/>
          </a:prstGeom>
          <a:noFill/>
        </p:spPr>
        <p:txBody>
          <a:bodyPr wrap="square">
            <a:spAutoFit/>
          </a:bodyPr>
          <a:lstStyle/>
          <a:p>
            <a:pPr algn="l"/>
            <a:r>
              <a:rPr lang="en-US" sz="1800" b="1" i="0" u="none" strike="noStrike" baseline="0" dirty="0">
                <a:solidFill>
                  <a:srgbClr val="000000"/>
                </a:solidFill>
                <a:latin typeface="FranklinGothic-DemiCnd"/>
              </a:rPr>
              <a:t>Raw Types and Legacy Code</a:t>
            </a:r>
          </a:p>
          <a:p>
            <a:pPr algn="just"/>
            <a:r>
              <a:rPr lang="en-US" sz="1800" b="0" i="0" u="none" strike="noStrike" baseline="0" dirty="0">
                <a:solidFill>
                  <a:srgbClr val="000000"/>
                </a:solidFill>
                <a:latin typeface="Palatino-Roman"/>
              </a:rPr>
              <a:t>Because support for generics is a recent addition to Java, it was necessary to provide some transition path from old, pre-generics code. </a:t>
            </a:r>
          </a:p>
          <a:p>
            <a:pPr algn="just"/>
            <a:endParaRPr lang="en-US" sz="1800" dirty="0">
              <a:solidFill>
                <a:srgbClr val="000000"/>
              </a:solidFill>
              <a:latin typeface="Palatino-Roman"/>
            </a:endParaRPr>
          </a:p>
          <a:p>
            <a:pPr algn="just"/>
            <a:r>
              <a:rPr lang="en-US" sz="1800" b="0" i="0" u="none" strike="noStrike" baseline="0" dirty="0">
                <a:solidFill>
                  <a:srgbClr val="000000"/>
                </a:solidFill>
                <a:latin typeface="Palatino-Roman"/>
              </a:rPr>
              <a:t>Pre-generics code must be able to work with generics, and generic code must be able to work with pre-generic code.</a:t>
            </a:r>
          </a:p>
          <a:p>
            <a:pPr algn="just"/>
            <a:endParaRPr lang="en-US" sz="1800" b="0" i="0" u="none" strike="noStrike" baseline="0" dirty="0">
              <a:solidFill>
                <a:srgbClr val="000000"/>
              </a:solidFill>
              <a:latin typeface="Palatino-Roman"/>
            </a:endParaRPr>
          </a:p>
          <a:p>
            <a:pPr algn="just"/>
            <a:r>
              <a:rPr lang="en-US" sz="1800" b="0" i="0" u="none" strike="noStrike" baseline="0" dirty="0">
                <a:solidFill>
                  <a:srgbClr val="FF0000"/>
                </a:solidFill>
                <a:latin typeface="Palatino-Roman"/>
              </a:rPr>
              <a:t>To handle the transition to generics, Java allows a generic class to be used without any type arguments. This creates a </a:t>
            </a:r>
            <a:r>
              <a:rPr lang="en-US" sz="1800" b="0" i="1" u="none" strike="noStrike" baseline="0" dirty="0">
                <a:solidFill>
                  <a:srgbClr val="FF0000"/>
                </a:solidFill>
                <a:latin typeface="Palatino-Italic"/>
              </a:rPr>
              <a:t>raw type </a:t>
            </a:r>
            <a:r>
              <a:rPr lang="en-US" sz="1800" b="0" i="0" u="none" strike="noStrike" baseline="0" dirty="0">
                <a:solidFill>
                  <a:srgbClr val="FF0000"/>
                </a:solidFill>
                <a:latin typeface="Palatino-Roman"/>
              </a:rPr>
              <a:t>for the class. </a:t>
            </a:r>
          </a:p>
          <a:p>
            <a:pPr algn="just"/>
            <a:endParaRPr lang="en-US" sz="1800" dirty="0">
              <a:solidFill>
                <a:srgbClr val="000000"/>
              </a:solidFill>
              <a:latin typeface="Palatino-Roman"/>
            </a:endParaRPr>
          </a:p>
          <a:p>
            <a:pPr algn="just"/>
            <a:r>
              <a:rPr lang="en-US" sz="1800" b="0" i="0" u="none" strike="noStrike" baseline="0" dirty="0">
                <a:solidFill>
                  <a:srgbClr val="FF0000"/>
                </a:solidFill>
                <a:latin typeface="Palatino-Roman"/>
              </a:rPr>
              <a:t>This raw type is compatible with legacy code, which has no knowledge of generics. </a:t>
            </a:r>
          </a:p>
          <a:p>
            <a:pPr algn="just"/>
            <a:endParaRPr lang="en-US" sz="1800" dirty="0">
              <a:solidFill>
                <a:srgbClr val="FF0000"/>
              </a:solidFill>
              <a:latin typeface="Palatino-Roman"/>
            </a:endParaRPr>
          </a:p>
          <a:p>
            <a:pPr algn="just"/>
            <a:r>
              <a:rPr lang="en-US" sz="1800" b="0" i="0" u="none" strike="noStrike" baseline="0" dirty="0">
                <a:solidFill>
                  <a:srgbClr val="FF0000"/>
                </a:solidFill>
                <a:latin typeface="Palatino-Roman"/>
              </a:rPr>
              <a:t>The main drawback to using the raw type is that the type safety of generics is lost.</a:t>
            </a:r>
          </a:p>
        </p:txBody>
      </p:sp>
    </p:spTree>
    <p:extLst>
      <p:ext uri="{BB962C8B-B14F-4D97-AF65-F5344CB8AC3E}">
        <p14:creationId xmlns:p14="http://schemas.microsoft.com/office/powerpoint/2010/main" val="1527270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309045" y="474766"/>
            <a:ext cx="8257075" cy="5909310"/>
          </a:xfrm>
          <a:prstGeom prst="rect">
            <a:avLst/>
          </a:prstGeom>
          <a:noFill/>
        </p:spPr>
        <p:txBody>
          <a:bodyPr wrap="square">
            <a:spAutoFit/>
          </a:bodyPr>
          <a:lstStyle/>
          <a:p>
            <a:pPr algn="l"/>
            <a:r>
              <a:rPr lang="en-IN" sz="1800" b="1" i="0" u="none" strike="noStrike" baseline="0" dirty="0">
                <a:solidFill>
                  <a:srgbClr val="C00000"/>
                </a:solidFill>
                <a:latin typeface="FranklinGothic-DemiCnd"/>
              </a:rPr>
              <a:t>Generic Interfaces</a:t>
            </a:r>
          </a:p>
          <a:p>
            <a:pPr algn="just"/>
            <a:r>
              <a:rPr lang="en-US" sz="1800" b="0" i="0" u="none" strike="noStrike" baseline="0" dirty="0">
                <a:latin typeface="Palatino-Roman"/>
              </a:rPr>
              <a:t>Generic interfaces are specified just like generic classes. </a:t>
            </a:r>
          </a:p>
          <a:p>
            <a:pPr algn="just"/>
            <a:r>
              <a:rPr lang="en-US" dirty="0">
                <a:latin typeface="Palatino-Roman"/>
              </a:rPr>
              <a:t>E</a:t>
            </a:r>
            <a:r>
              <a:rPr lang="en-US" sz="1800" b="0" i="0" u="none" strike="noStrike" baseline="0" dirty="0">
                <a:latin typeface="Palatino-Roman"/>
              </a:rPr>
              <a:t>xample. : creates an interface called </a:t>
            </a:r>
            <a:r>
              <a:rPr lang="en-US" sz="1800" b="1" i="0" u="none" strike="noStrike" baseline="0" dirty="0" err="1">
                <a:latin typeface="Palatino-Bold"/>
              </a:rPr>
              <a:t>MinMax</a:t>
            </a:r>
            <a:r>
              <a:rPr lang="en-US" sz="1800" b="1" i="0" u="none" strike="noStrike" baseline="0" dirty="0">
                <a:latin typeface="Palatino-Bold"/>
              </a:rPr>
              <a:t> </a:t>
            </a:r>
            <a:r>
              <a:rPr lang="en-US" sz="1800" b="0" i="0" u="none" strike="noStrike" baseline="0" dirty="0">
                <a:latin typeface="Palatino-Roman"/>
              </a:rPr>
              <a:t>that declares the methods </a:t>
            </a:r>
            <a:r>
              <a:rPr lang="en-US" sz="1800" b="1" i="0" u="none" strike="noStrike" baseline="0" dirty="0">
                <a:latin typeface="Palatino-Bold"/>
              </a:rPr>
              <a:t>min( ) </a:t>
            </a:r>
            <a:r>
              <a:rPr lang="en-US" sz="1800" b="0" i="0" u="none" strike="noStrike" baseline="0" dirty="0">
                <a:latin typeface="Palatino-Roman"/>
              </a:rPr>
              <a:t>and </a:t>
            </a:r>
            <a:r>
              <a:rPr lang="en-US" sz="1800" b="1" i="0" u="none" strike="noStrike" baseline="0" dirty="0">
                <a:latin typeface="Palatino-Bold"/>
              </a:rPr>
              <a:t>max( )</a:t>
            </a:r>
            <a:r>
              <a:rPr lang="en-US" sz="1800" b="0" i="0" u="none" strike="noStrike" baseline="0" dirty="0">
                <a:latin typeface="Palatino-Roman"/>
              </a:rPr>
              <a:t>, which are expected to return the minimum and maximum value of some set of objects.</a:t>
            </a:r>
          </a:p>
          <a:p>
            <a:pPr algn="just"/>
            <a:r>
              <a:rPr lang="fr-FR" sz="1800" b="0" i="0" u="none" strike="noStrike" baseline="0" dirty="0">
                <a:latin typeface="Courier"/>
              </a:rPr>
              <a:t>interface </a:t>
            </a:r>
            <a:r>
              <a:rPr lang="fr-FR" sz="1800" b="0" i="0" u="none" strike="noStrike" baseline="0" dirty="0" err="1">
                <a:latin typeface="Courier"/>
              </a:rPr>
              <a:t>MinMax</a:t>
            </a:r>
            <a:r>
              <a:rPr lang="fr-FR" sz="1800" b="0" i="0" u="none" strike="noStrike" baseline="0" dirty="0">
                <a:latin typeface="Courier"/>
              </a:rPr>
              <a:t>&lt;T </a:t>
            </a:r>
            <a:r>
              <a:rPr lang="fr-FR" sz="1800" b="0" i="0" u="none" strike="noStrike" baseline="0" dirty="0" err="1">
                <a:latin typeface="Courier"/>
              </a:rPr>
              <a:t>extends</a:t>
            </a:r>
            <a:r>
              <a:rPr lang="fr-FR" sz="1800" b="0" i="0" u="none" strike="noStrike" baseline="0" dirty="0">
                <a:latin typeface="Courier"/>
              </a:rPr>
              <a:t> Comparable&lt;T&gt;&gt; {</a:t>
            </a:r>
          </a:p>
          <a:p>
            <a:pPr algn="just"/>
            <a:r>
              <a:rPr lang="en-IN" sz="1800" b="0" i="0" u="none" strike="noStrike" baseline="0" dirty="0">
                <a:latin typeface="Courier"/>
              </a:rPr>
              <a:t>T min();</a:t>
            </a:r>
          </a:p>
          <a:p>
            <a:pPr algn="just"/>
            <a:r>
              <a:rPr lang="en-IN" sz="1800" b="0" i="0" u="none" strike="noStrike" baseline="0" dirty="0">
                <a:latin typeface="Courier"/>
              </a:rPr>
              <a:t>T max();</a:t>
            </a:r>
          </a:p>
          <a:p>
            <a:pPr algn="just"/>
            <a:r>
              <a:rPr lang="en-IN" sz="1800" b="0" i="0" u="none" strike="noStrike" baseline="0" dirty="0">
                <a:latin typeface="Courier"/>
              </a:rPr>
              <a:t>}</a:t>
            </a:r>
          </a:p>
          <a:p>
            <a:pPr algn="just"/>
            <a:endParaRPr lang="en-IN" sz="1800" b="0" i="0" u="none" strike="noStrike" baseline="0" dirty="0">
              <a:latin typeface="Courier"/>
            </a:endParaRPr>
          </a:p>
          <a:p>
            <a:pPr algn="just"/>
            <a:r>
              <a:rPr lang="fr-FR" sz="1800" b="0" i="0" u="none" strike="noStrike" baseline="0" dirty="0">
                <a:latin typeface="Courier"/>
              </a:rPr>
              <a:t>class </a:t>
            </a:r>
            <a:r>
              <a:rPr lang="fr-FR" sz="1800" b="0" i="0" u="none" strike="noStrike" baseline="0" dirty="0" err="1">
                <a:latin typeface="Courier"/>
              </a:rPr>
              <a:t>MyClass</a:t>
            </a:r>
            <a:r>
              <a:rPr lang="fr-FR" sz="1800" b="0" i="0" u="none" strike="noStrike" baseline="0" dirty="0">
                <a:latin typeface="Courier"/>
              </a:rPr>
              <a:t>&lt;T </a:t>
            </a:r>
            <a:r>
              <a:rPr lang="fr-FR" sz="1800" b="0" i="0" u="none" strike="noStrike" baseline="0" dirty="0" err="1">
                <a:latin typeface="Courier"/>
              </a:rPr>
              <a:t>extends</a:t>
            </a:r>
            <a:r>
              <a:rPr lang="fr-FR" sz="1800" b="0" i="0" u="none" strike="noStrike" baseline="0" dirty="0">
                <a:latin typeface="Courier"/>
              </a:rPr>
              <a:t> Comparable&lt;T&gt;&gt; </a:t>
            </a:r>
            <a:r>
              <a:rPr lang="fr-FR" sz="1800" b="0" i="0" u="none" strike="noStrike" baseline="0" dirty="0" err="1">
                <a:latin typeface="Courier"/>
              </a:rPr>
              <a:t>implements</a:t>
            </a:r>
            <a:r>
              <a:rPr lang="fr-FR" sz="1800" b="0" i="0" u="none" strike="noStrike" baseline="0" dirty="0">
                <a:latin typeface="Courier"/>
              </a:rPr>
              <a:t> </a:t>
            </a:r>
            <a:r>
              <a:rPr lang="fr-FR" sz="1800" b="0" i="0" u="none" strike="noStrike" baseline="0" dirty="0" err="1">
                <a:latin typeface="Courier"/>
              </a:rPr>
              <a:t>MinMax</a:t>
            </a:r>
            <a:r>
              <a:rPr lang="fr-FR" sz="1800" b="0" i="0" u="none" strike="noStrike" baseline="0" dirty="0">
                <a:latin typeface="Courier"/>
              </a:rPr>
              <a:t>&lt;T&gt; {</a:t>
            </a:r>
          </a:p>
          <a:p>
            <a:pPr algn="just"/>
            <a:r>
              <a:rPr lang="en-IN" sz="1800" b="0" i="0" u="none" strike="noStrike" baseline="0" dirty="0">
                <a:latin typeface="Courier"/>
              </a:rPr>
              <a:t>T[] </a:t>
            </a:r>
            <a:r>
              <a:rPr lang="en-IN" sz="1800" b="0" i="0" u="none" strike="noStrike" baseline="0" dirty="0" err="1">
                <a:latin typeface="Courier"/>
              </a:rPr>
              <a:t>vals</a:t>
            </a:r>
            <a:r>
              <a:rPr lang="en-IN" sz="1800" b="0" i="0" u="none" strike="noStrike" baseline="0" dirty="0">
                <a:latin typeface="Courier"/>
              </a:rPr>
              <a:t>;</a:t>
            </a:r>
          </a:p>
          <a:p>
            <a:pPr algn="just"/>
            <a:r>
              <a:rPr lang="pt-BR" sz="1800" b="0" i="0" u="none" strike="noStrike" baseline="0" dirty="0">
                <a:latin typeface="Courier"/>
              </a:rPr>
              <a:t>MyClass(T[] o) { vals = o; }</a:t>
            </a:r>
          </a:p>
          <a:p>
            <a:pPr algn="just"/>
            <a:r>
              <a:rPr lang="en-US" sz="1800" b="0" i="0" u="none" strike="noStrike" baseline="0" dirty="0">
                <a:latin typeface="Courier"/>
              </a:rPr>
              <a:t>// Return the minimum value in </a:t>
            </a:r>
            <a:r>
              <a:rPr lang="en-US" sz="1800" b="0" i="0" u="none" strike="noStrike" baseline="0" dirty="0" err="1">
                <a:latin typeface="Courier"/>
              </a:rPr>
              <a:t>vals</a:t>
            </a:r>
            <a:r>
              <a:rPr lang="en-US" sz="1800" b="0" i="0" u="none" strike="noStrike" baseline="0" dirty="0">
                <a:latin typeface="Courier"/>
              </a:rPr>
              <a:t>.</a:t>
            </a:r>
          </a:p>
          <a:p>
            <a:pPr algn="just"/>
            <a:r>
              <a:rPr lang="en-IN" sz="1800" b="0" i="0" u="none" strike="noStrike" baseline="0" dirty="0">
                <a:latin typeface="Courier"/>
              </a:rPr>
              <a:t>public T min() {</a:t>
            </a:r>
          </a:p>
          <a:p>
            <a:pPr algn="just"/>
            <a:r>
              <a:rPr lang="en-IN" sz="1800" b="0" i="0" u="none" strike="noStrike" baseline="0" dirty="0">
                <a:latin typeface="Courier"/>
              </a:rPr>
              <a:t>T v = </a:t>
            </a:r>
            <a:r>
              <a:rPr lang="en-IN" sz="1800" b="0" i="0" u="none" strike="noStrike" baseline="0" dirty="0" err="1">
                <a:latin typeface="Courier"/>
              </a:rPr>
              <a:t>vals</a:t>
            </a:r>
            <a:r>
              <a:rPr lang="en-IN" sz="1800" b="0" i="0" u="none" strike="noStrike" baseline="0" dirty="0">
                <a:latin typeface="Courier"/>
              </a:rPr>
              <a:t>[0];</a:t>
            </a:r>
          </a:p>
          <a:p>
            <a:pPr algn="just"/>
            <a:r>
              <a:rPr lang="nn-NO" sz="1800" b="0" i="0" u="none" strike="noStrike" baseline="0" dirty="0">
                <a:latin typeface="Courier"/>
              </a:rPr>
              <a:t>for(int i=1; i &lt; vals.length; i++)</a:t>
            </a:r>
          </a:p>
          <a:p>
            <a:pPr algn="just"/>
            <a:r>
              <a:rPr lang="en-IN" sz="1800" b="0" i="0" u="none" strike="noStrike" baseline="0" dirty="0">
                <a:latin typeface="Courier"/>
              </a:rPr>
              <a:t>if(</a:t>
            </a:r>
            <a:r>
              <a:rPr lang="en-IN" sz="1800" b="0" i="0" u="none" strike="noStrike" baseline="0" dirty="0" err="1">
                <a:latin typeface="Courier"/>
              </a:rPr>
              <a:t>vals</a:t>
            </a:r>
            <a:r>
              <a:rPr lang="en-IN" sz="1800" b="0" i="0" u="none" strike="noStrike" baseline="0" dirty="0">
                <a:latin typeface="Courier"/>
              </a:rPr>
              <a:t>[</a:t>
            </a:r>
            <a:r>
              <a:rPr lang="en-IN" sz="1800" b="0" i="0" u="none" strike="noStrike" baseline="0" dirty="0" err="1">
                <a:latin typeface="Courier"/>
              </a:rPr>
              <a:t>i</a:t>
            </a:r>
            <a:r>
              <a:rPr lang="en-IN" sz="1800" b="0" i="0" u="none" strike="noStrike" baseline="0" dirty="0">
                <a:latin typeface="Courier"/>
              </a:rPr>
              <a:t>].</a:t>
            </a:r>
            <a:r>
              <a:rPr lang="en-IN" sz="1800" b="0" i="0" u="none" strike="noStrike" baseline="0" dirty="0" err="1">
                <a:latin typeface="Courier"/>
              </a:rPr>
              <a:t>compareTo</a:t>
            </a:r>
            <a:r>
              <a:rPr lang="en-IN" sz="1800" b="0" i="0" u="none" strike="noStrike" baseline="0" dirty="0">
                <a:latin typeface="Courier"/>
              </a:rPr>
              <a:t>(v) &lt; 0) v = </a:t>
            </a:r>
            <a:r>
              <a:rPr lang="en-IN" sz="1800" b="0" i="0" u="none" strike="noStrike" baseline="0" dirty="0" err="1">
                <a:latin typeface="Courier"/>
              </a:rPr>
              <a:t>vals</a:t>
            </a:r>
            <a:r>
              <a:rPr lang="en-IN" sz="1800" b="0" i="0" u="none" strike="noStrike" baseline="0" dirty="0">
                <a:latin typeface="Courier"/>
              </a:rPr>
              <a:t>[</a:t>
            </a:r>
            <a:r>
              <a:rPr lang="en-IN" sz="1800" b="0" i="0" u="none" strike="noStrike" baseline="0" dirty="0" err="1">
                <a:latin typeface="Courier"/>
              </a:rPr>
              <a:t>i</a:t>
            </a:r>
            <a:r>
              <a:rPr lang="en-IN" sz="1800" b="0" i="0" u="none" strike="noStrike" baseline="0" dirty="0">
                <a:latin typeface="Courier"/>
              </a:rPr>
              <a:t>];</a:t>
            </a:r>
          </a:p>
          <a:p>
            <a:pPr algn="just"/>
            <a:r>
              <a:rPr lang="en-IN" sz="1800" b="0" i="0" u="none" strike="noStrike" baseline="0" dirty="0">
                <a:latin typeface="Courier"/>
              </a:rPr>
              <a:t>return v;</a:t>
            </a:r>
          </a:p>
          <a:p>
            <a:pPr algn="just"/>
            <a:r>
              <a:rPr lang="en-IN" sz="1800" b="0" i="0" u="none" strike="noStrike" baseline="0" dirty="0">
                <a:latin typeface="Courier"/>
              </a:rPr>
              <a:t>}</a:t>
            </a:r>
            <a:endParaRPr lang="en-IN" sz="1800" dirty="0">
              <a:solidFill>
                <a:srgbClr val="FF0000"/>
              </a:solidFill>
              <a:latin typeface="+mn-lt"/>
            </a:endParaRPr>
          </a:p>
        </p:txBody>
      </p:sp>
    </p:spTree>
    <p:extLst>
      <p:ext uri="{BB962C8B-B14F-4D97-AF65-F5344CB8AC3E}">
        <p14:creationId xmlns:p14="http://schemas.microsoft.com/office/powerpoint/2010/main" val="3549132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309045" y="474766"/>
            <a:ext cx="8257075" cy="369332"/>
          </a:xfrm>
          <a:prstGeom prst="rect">
            <a:avLst/>
          </a:prstGeom>
          <a:noFill/>
        </p:spPr>
        <p:txBody>
          <a:bodyPr wrap="square">
            <a:spAutoFit/>
          </a:bodyPr>
          <a:lstStyle/>
          <a:p>
            <a:pPr algn="l"/>
            <a:r>
              <a:rPr lang="en-IN" sz="1800" b="1" i="0" u="none" strike="noStrike" baseline="0" dirty="0">
                <a:solidFill>
                  <a:srgbClr val="C00000"/>
                </a:solidFill>
                <a:latin typeface="FranklinGothic-DemiCnd"/>
              </a:rPr>
              <a:t>Generic Interfaces</a:t>
            </a:r>
          </a:p>
        </p:txBody>
      </p:sp>
      <p:sp>
        <p:nvSpPr>
          <p:cNvPr id="4" name="TextBox 3">
            <a:extLst>
              <a:ext uri="{FF2B5EF4-FFF2-40B4-BE49-F238E27FC236}">
                <a16:creationId xmlns:a16="http://schemas.microsoft.com/office/drawing/2014/main" id="{91A3A50A-A638-295A-B340-C126DB6E62D1}"/>
              </a:ext>
            </a:extLst>
          </p:cNvPr>
          <p:cNvSpPr txBox="1"/>
          <p:nvPr/>
        </p:nvSpPr>
        <p:spPr>
          <a:xfrm>
            <a:off x="421466" y="851027"/>
            <a:ext cx="7837413" cy="5632311"/>
          </a:xfrm>
          <a:prstGeom prst="rect">
            <a:avLst/>
          </a:prstGeom>
          <a:noFill/>
        </p:spPr>
        <p:txBody>
          <a:bodyPr wrap="square">
            <a:spAutoFit/>
          </a:bodyPr>
          <a:lstStyle/>
          <a:p>
            <a:pPr algn="l"/>
            <a:r>
              <a:rPr lang="en-US" sz="1800" b="0" i="0" u="none" strike="noStrike" baseline="0" dirty="0">
                <a:latin typeface="Courier"/>
              </a:rPr>
              <a:t>// Return the maximum value in </a:t>
            </a:r>
            <a:r>
              <a:rPr lang="en-US" sz="1800" b="0" i="0" u="none" strike="noStrike" baseline="0" dirty="0" err="1">
                <a:latin typeface="Courier"/>
              </a:rPr>
              <a:t>vals</a:t>
            </a:r>
            <a:r>
              <a:rPr lang="en-US" sz="1800" b="0" i="0" u="none" strike="noStrike" baseline="0" dirty="0">
                <a:latin typeface="Courier"/>
              </a:rPr>
              <a:t>.</a:t>
            </a:r>
          </a:p>
          <a:p>
            <a:pPr algn="l"/>
            <a:r>
              <a:rPr lang="en-IN" sz="1800" b="0" i="0" u="none" strike="noStrike" baseline="0" dirty="0">
                <a:latin typeface="Courier"/>
              </a:rPr>
              <a:t>public T max() {</a:t>
            </a:r>
          </a:p>
          <a:p>
            <a:pPr algn="l"/>
            <a:r>
              <a:rPr lang="en-IN" sz="1800" b="0" i="0" u="none" strike="noStrike" baseline="0" dirty="0">
                <a:latin typeface="Courier"/>
              </a:rPr>
              <a:t>T v = </a:t>
            </a:r>
            <a:r>
              <a:rPr lang="en-IN" sz="1800" b="0" i="0" u="none" strike="noStrike" baseline="0" dirty="0" err="1">
                <a:latin typeface="Courier"/>
              </a:rPr>
              <a:t>vals</a:t>
            </a:r>
            <a:r>
              <a:rPr lang="en-IN" sz="1800" b="0" i="0" u="none" strike="noStrike" baseline="0" dirty="0">
                <a:latin typeface="Courier"/>
              </a:rPr>
              <a:t>[0];</a:t>
            </a:r>
          </a:p>
          <a:p>
            <a:pPr algn="l"/>
            <a:r>
              <a:rPr lang="nn-NO" sz="1800" b="0" i="0" u="none" strike="noStrike" baseline="0" dirty="0">
                <a:latin typeface="Courier"/>
              </a:rPr>
              <a:t>for(int i=1; i &lt; vals.length; i++)</a:t>
            </a:r>
          </a:p>
          <a:p>
            <a:pPr algn="l"/>
            <a:r>
              <a:rPr lang="en-IN" sz="1800" b="0" i="0" u="none" strike="noStrike" baseline="0" dirty="0">
                <a:latin typeface="Courier"/>
              </a:rPr>
              <a:t>if(</a:t>
            </a:r>
            <a:r>
              <a:rPr lang="en-IN" sz="1800" b="0" i="0" u="none" strike="noStrike" baseline="0" dirty="0" err="1">
                <a:latin typeface="Courier"/>
              </a:rPr>
              <a:t>vals</a:t>
            </a:r>
            <a:r>
              <a:rPr lang="en-IN" sz="1800" b="0" i="0" u="none" strike="noStrike" baseline="0" dirty="0">
                <a:latin typeface="Courier"/>
              </a:rPr>
              <a:t>[</a:t>
            </a:r>
            <a:r>
              <a:rPr lang="en-IN" sz="1800" b="0" i="0" u="none" strike="noStrike" baseline="0" dirty="0" err="1">
                <a:latin typeface="Courier"/>
              </a:rPr>
              <a:t>i</a:t>
            </a:r>
            <a:r>
              <a:rPr lang="en-IN" sz="1800" b="0" i="0" u="none" strike="noStrike" baseline="0" dirty="0">
                <a:latin typeface="Courier"/>
              </a:rPr>
              <a:t>].</a:t>
            </a:r>
            <a:r>
              <a:rPr lang="en-IN" sz="1800" b="0" i="0" u="none" strike="noStrike" baseline="0" dirty="0" err="1">
                <a:latin typeface="Courier"/>
              </a:rPr>
              <a:t>compareTo</a:t>
            </a:r>
            <a:r>
              <a:rPr lang="en-IN" sz="1800" b="0" i="0" u="none" strike="noStrike" baseline="0" dirty="0">
                <a:latin typeface="Courier"/>
              </a:rPr>
              <a:t>(v) &gt; 0) v = </a:t>
            </a:r>
            <a:r>
              <a:rPr lang="en-IN" sz="1800" b="0" i="0" u="none" strike="noStrike" baseline="0" dirty="0" err="1">
                <a:latin typeface="Courier"/>
              </a:rPr>
              <a:t>vals</a:t>
            </a:r>
            <a:r>
              <a:rPr lang="en-IN" sz="1800" b="0" i="0" u="none" strike="noStrike" baseline="0" dirty="0">
                <a:latin typeface="Courier"/>
              </a:rPr>
              <a:t>[</a:t>
            </a:r>
            <a:r>
              <a:rPr lang="en-IN" sz="1800" b="0" i="0" u="none" strike="noStrike" baseline="0" dirty="0" err="1">
                <a:latin typeface="Courier"/>
              </a:rPr>
              <a:t>i</a:t>
            </a:r>
            <a:r>
              <a:rPr lang="en-IN" sz="1800" b="0" i="0" u="none" strike="noStrike" baseline="0" dirty="0">
                <a:latin typeface="Courier"/>
              </a:rPr>
              <a:t>];</a:t>
            </a:r>
          </a:p>
          <a:p>
            <a:pPr algn="l"/>
            <a:r>
              <a:rPr lang="en-IN" sz="1800" b="0" i="0" u="none" strike="noStrike" baseline="0" dirty="0">
                <a:solidFill>
                  <a:srgbClr val="231F20"/>
                </a:solidFill>
                <a:latin typeface="Courier"/>
              </a:rPr>
              <a:t>return v;</a:t>
            </a:r>
          </a:p>
          <a:p>
            <a:pPr algn="l"/>
            <a:r>
              <a:rPr lang="en-IN" sz="1800" b="0" i="0" u="none" strike="noStrike" baseline="0" dirty="0">
                <a:solidFill>
                  <a:srgbClr val="231F20"/>
                </a:solidFill>
                <a:latin typeface="Courier"/>
              </a:rPr>
              <a:t>}</a:t>
            </a:r>
          </a:p>
          <a:p>
            <a:pPr algn="l"/>
            <a:r>
              <a:rPr lang="en-IN" sz="1800" b="0" i="0" u="none" strike="noStrike" baseline="0" dirty="0">
                <a:solidFill>
                  <a:srgbClr val="231F20"/>
                </a:solidFill>
                <a:latin typeface="Courier"/>
              </a:rPr>
              <a:t>}</a:t>
            </a:r>
          </a:p>
          <a:p>
            <a:pPr algn="l"/>
            <a:r>
              <a:rPr lang="en-IN" sz="1800" b="0" i="0" u="none" strike="noStrike" baseline="0" dirty="0">
                <a:solidFill>
                  <a:srgbClr val="231F20"/>
                </a:solidFill>
                <a:latin typeface="Courier"/>
              </a:rPr>
              <a:t>class </a:t>
            </a:r>
            <a:r>
              <a:rPr lang="en-IN" sz="1800" b="0" i="0" u="none" strike="noStrike" baseline="0" dirty="0" err="1">
                <a:solidFill>
                  <a:srgbClr val="231F20"/>
                </a:solidFill>
                <a:latin typeface="Courier"/>
              </a:rPr>
              <a:t>GenIFDemo</a:t>
            </a:r>
            <a:r>
              <a:rPr lang="en-IN" sz="1800" b="0" i="0" u="none" strike="noStrike" baseline="0" dirty="0">
                <a:solidFill>
                  <a:srgbClr val="231F20"/>
                </a:solidFill>
                <a:latin typeface="Courier"/>
              </a:rPr>
              <a:t> {</a:t>
            </a:r>
          </a:p>
          <a:p>
            <a:pPr algn="l"/>
            <a:r>
              <a:rPr lang="en-US" sz="1800" b="0" i="0" u="none" strike="noStrike" baseline="0" dirty="0">
                <a:solidFill>
                  <a:srgbClr val="231F20"/>
                </a:solidFill>
                <a:latin typeface="Courier"/>
              </a:rPr>
              <a:t>public static void main(String </a:t>
            </a:r>
            <a:r>
              <a:rPr lang="en-US" sz="1800" b="0" i="0" u="none" strike="noStrike" baseline="0" dirty="0" err="1">
                <a:solidFill>
                  <a:srgbClr val="231F20"/>
                </a:solidFill>
                <a:latin typeface="Courier"/>
              </a:rPr>
              <a:t>args</a:t>
            </a:r>
            <a:r>
              <a:rPr lang="en-US" sz="1800" b="0" i="0" u="none" strike="noStrike" baseline="0" dirty="0">
                <a:solidFill>
                  <a:srgbClr val="231F20"/>
                </a:solidFill>
                <a:latin typeface="Courier"/>
              </a:rPr>
              <a:t>[]) {</a:t>
            </a:r>
          </a:p>
          <a:p>
            <a:pPr algn="l"/>
            <a:r>
              <a:rPr lang="en-IN" sz="1800" b="0" i="0" u="none" strike="noStrike" baseline="0" dirty="0">
                <a:solidFill>
                  <a:srgbClr val="231F20"/>
                </a:solidFill>
                <a:latin typeface="Courier"/>
              </a:rPr>
              <a:t>Integer </a:t>
            </a:r>
            <a:r>
              <a:rPr lang="en-IN" sz="1800" b="0" i="0" u="none" strike="noStrike" baseline="0" dirty="0" err="1">
                <a:solidFill>
                  <a:srgbClr val="231F20"/>
                </a:solidFill>
                <a:latin typeface="Courier"/>
              </a:rPr>
              <a:t>inums</a:t>
            </a:r>
            <a:r>
              <a:rPr lang="en-IN" sz="1800" b="0" i="0" u="none" strike="noStrike" baseline="0" dirty="0">
                <a:solidFill>
                  <a:srgbClr val="231F20"/>
                </a:solidFill>
                <a:latin typeface="Courier"/>
              </a:rPr>
              <a:t>[] = {3, 6, 2, 8, 6 };</a:t>
            </a:r>
          </a:p>
          <a:p>
            <a:pPr algn="l"/>
            <a:r>
              <a:rPr lang="en-US" sz="1800" b="0" i="0" u="none" strike="noStrike" baseline="0" dirty="0">
                <a:solidFill>
                  <a:srgbClr val="231F20"/>
                </a:solidFill>
                <a:latin typeface="Courier"/>
              </a:rPr>
              <a:t>Character </a:t>
            </a:r>
            <a:r>
              <a:rPr lang="en-US" sz="1800" b="0" i="0" u="none" strike="noStrike" baseline="0" dirty="0" err="1">
                <a:solidFill>
                  <a:srgbClr val="231F20"/>
                </a:solidFill>
                <a:latin typeface="Courier"/>
              </a:rPr>
              <a:t>chs</a:t>
            </a:r>
            <a:r>
              <a:rPr lang="en-US" sz="1800" b="0" i="0" u="none" strike="noStrike" baseline="0" dirty="0">
                <a:solidFill>
                  <a:srgbClr val="231F20"/>
                </a:solidFill>
                <a:latin typeface="Courier"/>
              </a:rPr>
              <a:t>[] = {'b', 'r', 'p', 'w' };</a:t>
            </a:r>
          </a:p>
          <a:p>
            <a:pPr algn="l"/>
            <a:r>
              <a:rPr lang="en-IN" sz="1800" b="0" i="0" u="none" strike="noStrike" baseline="0" dirty="0" err="1">
                <a:solidFill>
                  <a:srgbClr val="231F20"/>
                </a:solidFill>
                <a:latin typeface="Courier"/>
              </a:rPr>
              <a:t>MyClass</a:t>
            </a:r>
            <a:r>
              <a:rPr lang="en-IN" sz="1800" b="0" i="0" u="none" strike="noStrike" baseline="0" dirty="0">
                <a:solidFill>
                  <a:srgbClr val="231F20"/>
                </a:solidFill>
                <a:latin typeface="Courier"/>
              </a:rPr>
              <a:t>&lt;Integer&gt; </a:t>
            </a:r>
            <a:r>
              <a:rPr lang="en-IN" sz="1800" b="0" i="0" u="none" strike="noStrike" baseline="0" dirty="0" err="1">
                <a:solidFill>
                  <a:srgbClr val="231F20"/>
                </a:solidFill>
                <a:latin typeface="Courier"/>
              </a:rPr>
              <a:t>iob</a:t>
            </a:r>
            <a:r>
              <a:rPr lang="en-IN" sz="1800" b="0" i="0" u="none" strike="noStrike" baseline="0" dirty="0">
                <a:solidFill>
                  <a:srgbClr val="231F20"/>
                </a:solidFill>
                <a:latin typeface="Courier"/>
              </a:rPr>
              <a:t> = new </a:t>
            </a:r>
            <a:r>
              <a:rPr lang="en-IN" sz="1800" b="0" i="0" u="none" strike="noStrike" baseline="0" dirty="0" err="1">
                <a:solidFill>
                  <a:srgbClr val="231F20"/>
                </a:solidFill>
                <a:latin typeface="Courier"/>
              </a:rPr>
              <a:t>MyClass</a:t>
            </a:r>
            <a:r>
              <a:rPr lang="en-IN" sz="1800" b="0" i="0" u="none" strike="noStrike" baseline="0" dirty="0">
                <a:solidFill>
                  <a:srgbClr val="231F20"/>
                </a:solidFill>
                <a:latin typeface="Courier"/>
              </a:rPr>
              <a:t>&lt;Integer&gt;(</a:t>
            </a:r>
            <a:r>
              <a:rPr lang="en-IN" sz="1800" b="0" i="0" u="none" strike="noStrike" baseline="0" dirty="0" err="1">
                <a:solidFill>
                  <a:srgbClr val="231F20"/>
                </a:solidFill>
                <a:latin typeface="Courier"/>
              </a:rPr>
              <a:t>inums</a:t>
            </a:r>
            <a:r>
              <a:rPr lang="en-IN" sz="1800" b="0" i="0" u="none" strike="noStrike" baseline="0" dirty="0">
                <a:solidFill>
                  <a:srgbClr val="231F20"/>
                </a:solidFill>
                <a:latin typeface="Courier"/>
              </a:rPr>
              <a:t>);</a:t>
            </a:r>
          </a:p>
          <a:p>
            <a:pPr algn="l"/>
            <a:r>
              <a:rPr lang="en-US" sz="1800" b="0" i="0" u="none" strike="noStrike" baseline="0" dirty="0" err="1">
                <a:solidFill>
                  <a:srgbClr val="231F20"/>
                </a:solidFill>
                <a:latin typeface="Courier"/>
              </a:rPr>
              <a:t>MyClass</a:t>
            </a:r>
            <a:r>
              <a:rPr lang="en-US" sz="1800" b="0" i="0" u="none" strike="noStrike" baseline="0" dirty="0">
                <a:solidFill>
                  <a:srgbClr val="231F20"/>
                </a:solidFill>
                <a:latin typeface="Courier"/>
              </a:rPr>
              <a:t>&lt;Character&gt; cob = new </a:t>
            </a:r>
            <a:r>
              <a:rPr lang="en-US" sz="1800" b="0" i="0" u="none" strike="noStrike" baseline="0" dirty="0" err="1">
                <a:solidFill>
                  <a:srgbClr val="231F20"/>
                </a:solidFill>
                <a:latin typeface="Courier"/>
              </a:rPr>
              <a:t>MyClass</a:t>
            </a:r>
            <a:r>
              <a:rPr lang="en-US" sz="1800" b="0" i="0" u="none" strike="noStrike" baseline="0" dirty="0">
                <a:solidFill>
                  <a:srgbClr val="231F20"/>
                </a:solidFill>
                <a:latin typeface="Courier"/>
              </a:rPr>
              <a:t>&lt;Character&gt;(</a:t>
            </a:r>
            <a:r>
              <a:rPr lang="en-US" sz="1800" b="0" i="0" u="none" strike="noStrike" baseline="0" dirty="0" err="1">
                <a:solidFill>
                  <a:srgbClr val="231F20"/>
                </a:solidFill>
                <a:latin typeface="Courier"/>
              </a:rPr>
              <a:t>chs</a:t>
            </a:r>
            <a:r>
              <a:rPr lang="en-US" sz="1800" b="0" i="0" u="none" strike="noStrike" baseline="0" dirty="0">
                <a:solidFill>
                  <a:srgbClr val="231F20"/>
                </a:solidFill>
                <a:latin typeface="Courier"/>
              </a:rPr>
              <a:t>);</a:t>
            </a:r>
          </a:p>
          <a:p>
            <a:pPr algn="l"/>
            <a:r>
              <a:rPr lang="en-IN" sz="1800" b="0" i="0" u="none" strike="noStrike" baseline="0" dirty="0" err="1">
                <a:solidFill>
                  <a:srgbClr val="231F20"/>
                </a:solidFill>
                <a:latin typeface="Courier"/>
              </a:rPr>
              <a:t>System.out.println</a:t>
            </a:r>
            <a:r>
              <a:rPr lang="en-IN" sz="1800" b="0" i="0" u="none" strike="noStrike" baseline="0" dirty="0">
                <a:solidFill>
                  <a:srgbClr val="231F20"/>
                </a:solidFill>
                <a:latin typeface="Courier"/>
              </a:rPr>
              <a:t>("Max value in </a:t>
            </a:r>
            <a:r>
              <a:rPr lang="en-IN" sz="1800" b="0" i="0" u="none" strike="noStrike" baseline="0" dirty="0" err="1">
                <a:solidFill>
                  <a:srgbClr val="231F20"/>
                </a:solidFill>
                <a:latin typeface="Courier"/>
              </a:rPr>
              <a:t>inums</a:t>
            </a:r>
            <a:r>
              <a:rPr lang="en-IN" sz="1800" b="0" i="0" u="none" strike="noStrike" baseline="0" dirty="0">
                <a:solidFill>
                  <a:srgbClr val="231F20"/>
                </a:solidFill>
                <a:latin typeface="Courier"/>
              </a:rPr>
              <a:t>: " + </a:t>
            </a:r>
            <a:r>
              <a:rPr lang="en-IN" sz="1800" b="0" i="0" u="none" strike="noStrike" baseline="0" dirty="0" err="1">
                <a:solidFill>
                  <a:srgbClr val="231F20"/>
                </a:solidFill>
                <a:latin typeface="Courier"/>
              </a:rPr>
              <a:t>iob.max</a:t>
            </a:r>
            <a:r>
              <a:rPr lang="en-IN" sz="1800" b="0" i="0" u="none" strike="noStrike" baseline="0" dirty="0">
                <a:solidFill>
                  <a:srgbClr val="231F20"/>
                </a:solidFill>
                <a:latin typeface="Courier"/>
              </a:rPr>
              <a:t>());</a:t>
            </a:r>
          </a:p>
          <a:p>
            <a:pPr algn="l"/>
            <a:r>
              <a:rPr lang="en-IN" sz="1800" b="0" i="0" u="none" strike="noStrike" baseline="0" dirty="0" err="1">
                <a:solidFill>
                  <a:srgbClr val="231F20"/>
                </a:solidFill>
                <a:latin typeface="Courier"/>
              </a:rPr>
              <a:t>System.out.println</a:t>
            </a:r>
            <a:r>
              <a:rPr lang="en-IN" sz="1800" b="0" i="0" u="none" strike="noStrike" baseline="0" dirty="0">
                <a:solidFill>
                  <a:srgbClr val="231F20"/>
                </a:solidFill>
                <a:latin typeface="Courier"/>
              </a:rPr>
              <a:t>("Min value in </a:t>
            </a:r>
            <a:r>
              <a:rPr lang="en-IN" sz="1800" b="0" i="0" u="none" strike="noStrike" baseline="0" dirty="0" err="1">
                <a:solidFill>
                  <a:srgbClr val="231F20"/>
                </a:solidFill>
                <a:latin typeface="Courier"/>
              </a:rPr>
              <a:t>inums</a:t>
            </a:r>
            <a:r>
              <a:rPr lang="en-IN" sz="1800" b="0" i="0" u="none" strike="noStrike" baseline="0" dirty="0">
                <a:solidFill>
                  <a:srgbClr val="231F20"/>
                </a:solidFill>
                <a:latin typeface="Courier"/>
              </a:rPr>
              <a:t>: " + </a:t>
            </a:r>
            <a:r>
              <a:rPr lang="en-IN" sz="1800" b="0" i="0" u="none" strike="noStrike" baseline="0" dirty="0" err="1">
                <a:solidFill>
                  <a:srgbClr val="231F20"/>
                </a:solidFill>
                <a:latin typeface="Courier"/>
              </a:rPr>
              <a:t>iob.min</a:t>
            </a:r>
            <a:r>
              <a:rPr lang="en-IN" sz="1800" b="0" i="0" u="none" strike="noStrike" baseline="0" dirty="0">
                <a:solidFill>
                  <a:srgbClr val="231F20"/>
                </a:solidFill>
                <a:latin typeface="Courier"/>
              </a:rPr>
              <a:t>());</a:t>
            </a:r>
          </a:p>
          <a:p>
            <a:pPr algn="l"/>
            <a:r>
              <a:rPr lang="en-IN" sz="1800" b="0" i="0" u="none" strike="noStrike" baseline="0" dirty="0" err="1">
                <a:solidFill>
                  <a:srgbClr val="231F20"/>
                </a:solidFill>
                <a:latin typeface="Courier"/>
              </a:rPr>
              <a:t>System.out.println</a:t>
            </a:r>
            <a:r>
              <a:rPr lang="en-IN" sz="1800" b="0" i="0" u="none" strike="noStrike" baseline="0" dirty="0">
                <a:solidFill>
                  <a:srgbClr val="231F20"/>
                </a:solidFill>
                <a:latin typeface="Courier"/>
              </a:rPr>
              <a:t>("Max value in </a:t>
            </a:r>
            <a:r>
              <a:rPr lang="en-IN" sz="1800" b="0" i="0" u="none" strike="noStrike" baseline="0" dirty="0" err="1">
                <a:solidFill>
                  <a:srgbClr val="231F20"/>
                </a:solidFill>
                <a:latin typeface="Courier"/>
              </a:rPr>
              <a:t>chs</a:t>
            </a:r>
            <a:r>
              <a:rPr lang="en-IN" sz="1800" b="0" i="0" u="none" strike="noStrike" baseline="0" dirty="0">
                <a:solidFill>
                  <a:srgbClr val="231F20"/>
                </a:solidFill>
                <a:latin typeface="Courier"/>
              </a:rPr>
              <a:t>: " + </a:t>
            </a:r>
            <a:r>
              <a:rPr lang="en-IN" sz="1800" b="0" i="0" u="none" strike="noStrike" baseline="0" dirty="0" err="1">
                <a:solidFill>
                  <a:srgbClr val="231F20"/>
                </a:solidFill>
                <a:latin typeface="Courier"/>
              </a:rPr>
              <a:t>cob.max</a:t>
            </a:r>
            <a:r>
              <a:rPr lang="en-IN" sz="1800" b="0" i="0" u="none" strike="noStrike" baseline="0" dirty="0">
                <a:solidFill>
                  <a:srgbClr val="231F20"/>
                </a:solidFill>
                <a:latin typeface="Courier"/>
              </a:rPr>
              <a:t>());</a:t>
            </a:r>
          </a:p>
          <a:p>
            <a:pPr algn="l"/>
            <a:r>
              <a:rPr lang="en-IN" sz="1800" b="0" i="0" u="none" strike="noStrike" baseline="0" dirty="0" err="1">
                <a:solidFill>
                  <a:srgbClr val="231F20"/>
                </a:solidFill>
                <a:latin typeface="Courier"/>
              </a:rPr>
              <a:t>System.out.println</a:t>
            </a:r>
            <a:r>
              <a:rPr lang="en-IN" sz="1800" b="0" i="0" u="none" strike="noStrike" baseline="0" dirty="0">
                <a:solidFill>
                  <a:srgbClr val="231F20"/>
                </a:solidFill>
                <a:latin typeface="Courier"/>
              </a:rPr>
              <a:t>("Min value in </a:t>
            </a:r>
            <a:r>
              <a:rPr lang="en-IN" sz="1800" b="0" i="0" u="none" strike="noStrike" baseline="0" dirty="0" err="1">
                <a:solidFill>
                  <a:srgbClr val="231F20"/>
                </a:solidFill>
                <a:latin typeface="Courier"/>
              </a:rPr>
              <a:t>chs</a:t>
            </a:r>
            <a:r>
              <a:rPr lang="en-IN" sz="1800" b="0" i="0" u="none" strike="noStrike" baseline="0" dirty="0">
                <a:solidFill>
                  <a:srgbClr val="231F20"/>
                </a:solidFill>
                <a:latin typeface="Courier"/>
              </a:rPr>
              <a:t>: " + </a:t>
            </a:r>
            <a:r>
              <a:rPr lang="en-IN" sz="1800" b="0" i="0" u="none" strike="noStrike" baseline="0" dirty="0" err="1">
                <a:solidFill>
                  <a:srgbClr val="231F20"/>
                </a:solidFill>
                <a:latin typeface="Courier"/>
              </a:rPr>
              <a:t>cob.min</a:t>
            </a:r>
            <a:r>
              <a:rPr lang="en-IN" sz="1800" b="0" i="0" u="none" strike="noStrike" baseline="0" dirty="0">
                <a:solidFill>
                  <a:srgbClr val="231F20"/>
                </a:solidFill>
                <a:latin typeface="Courier"/>
              </a:rPr>
              <a:t>());</a:t>
            </a:r>
          </a:p>
          <a:p>
            <a:pPr algn="l"/>
            <a:r>
              <a:rPr lang="en-IN" sz="1800" b="0" i="0" u="none" strike="noStrike" baseline="0" dirty="0">
                <a:solidFill>
                  <a:srgbClr val="231F20"/>
                </a:solidFill>
                <a:latin typeface="Courier"/>
              </a:rPr>
              <a:t>}</a:t>
            </a:r>
          </a:p>
          <a:p>
            <a:pPr algn="l"/>
            <a:r>
              <a:rPr lang="en-IN" sz="1800" b="0" i="0" u="none" strike="noStrike" baseline="0" dirty="0">
                <a:solidFill>
                  <a:srgbClr val="231F20"/>
                </a:solidFill>
                <a:latin typeface="Courier"/>
              </a:rPr>
              <a:t>}</a:t>
            </a:r>
            <a:endParaRPr lang="en-IN" sz="1800" b="0" i="0" u="none" strike="noStrike" baseline="0" dirty="0">
              <a:latin typeface="Courier"/>
            </a:endParaRPr>
          </a:p>
        </p:txBody>
      </p:sp>
    </p:spTree>
    <p:extLst>
      <p:ext uri="{BB962C8B-B14F-4D97-AF65-F5344CB8AC3E}">
        <p14:creationId xmlns:p14="http://schemas.microsoft.com/office/powerpoint/2010/main" val="3584446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779055"/>
            <a:ext cx="8257075" cy="3693319"/>
          </a:xfrm>
          <a:prstGeom prst="rect">
            <a:avLst/>
          </a:prstGeom>
          <a:noFill/>
        </p:spPr>
        <p:txBody>
          <a:bodyPr wrap="square">
            <a:spAutoFit/>
          </a:bodyPr>
          <a:lstStyle/>
          <a:p>
            <a:pPr algn="l"/>
            <a:r>
              <a:rPr lang="en-IN" sz="1800" b="0" i="0" u="none" strike="noStrike" baseline="0" dirty="0" err="1">
                <a:solidFill>
                  <a:srgbClr val="231F20"/>
                </a:solidFill>
                <a:latin typeface="Courier"/>
              </a:rPr>
              <a:t>test.showval</a:t>
            </a:r>
            <a:r>
              <a:rPr lang="en-IN" sz="1800" b="0" i="0" u="none" strike="noStrike" baseline="0" dirty="0">
                <a:solidFill>
                  <a:srgbClr val="231F20"/>
                </a:solidFill>
                <a:latin typeface="Courier"/>
              </a:rPr>
              <a:t>();</a:t>
            </a:r>
          </a:p>
          <a:p>
            <a:pPr algn="l"/>
            <a:r>
              <a:rPr lang="en-IN" sz="1800" b="0" i="0" u="none" strike="noStrike" baseline="0" dirty="0">
                <a:solidFill>
                  <a:srgbClr val="231F20"/>
                </a:solidFill>
                <a:latin typeface="Courier"/>
              </a:rPr>
              <a:t>test2.showval();</a:t>
            </a:r>
          </a:p>
          <a:p>
            <a:pPr algn="l"/>
            <a:r>
              <a:rPr lang="en-IN" sz="1800" b="0" i="0" u="none" strike="noStrike" baseline="0" dirty="0">
                <a:solidFill>
                  <a:srgbClr val="231F20"/>
                </a:solidFill>
                <a:latin typeface="Courier"/>
              </a:rPr>
              <a:t>}</a:t>
            </a:r>
          </a:p>
          <a:p>
            <a:pPr algn="l"/>
            <a:r>
              <a:rPr lang="en-IN" sz="1800" b="0" i="0" u="none" strike="noStrike" baseline="0" dirty="0">
                <a:solidFill>
                  <a:srgbClr val="231F20"/>
                </a:solidFill>
                <a:latin typeface="Courier"/>
              </a:rPr>
              <a:t>}</a:t>
            </a:r>
          </a:p>
          <a:p>
            <a:pPr algn="l"/>
            <a:r>
              <a:rPr lang="en-US" sz="1800" b="0" i="0" u="none" strike="noStrike" baseline="0" dirty="0">
                <a:solidFill>
                  <a:srgbClr val="000000"/>
                </a:solidFill>
                <a:latin typeface="Palatino-Roman"/>
              </a:rPr>
              <a:t>The output is shown here:</a:t>
            </a:r>
          </a:p>
          <a:p>
            <a:pPr algn="l"/>
            <a:r>
              <a:rPr lang="en-IN" sz="1800" b="0" i="0" u="none" strike="noStrike" baseline="0" dirty="0" err="1">
                <a:solidFill>
                  <a:srgbClr val="000000"/>
                </a:solidFill>
                <a:latin typeface="Courier"/>
              </a:rPr>
              <a:t>val</a:t>
            </a:r>
            <a:r>
              <a:rPr lang="en-IN" sz="1800" b="0" i="0" u="none" strike="noStrike" baseline="0" dirty="0">
                <a:solidFill>
                  <a:srgbClr val="000000"/>
                </a:solidFill>
                <a:latin typeface="Courier"/>
              </a:rPr>
              <a:t>: 100.0</a:t>
            </a:r>
          </a:p>
          <a:p>
            <a:pPr algn="l"/>
            <a:r>
              <a:rPr lang="en-IN" sz="1800" b="0" i="0" u="none" strike="noStrike" baseline="0" dirty="0" err="1">
                <a:solidFill>
                  <a:srgbClr val="000000"/>
                </a:solidFill>
                <a:latin typeface="Courier"/>
              </a:rPr>
              <a:t>val</a:t>
            </a:r>
            <a:r>
              <a:rPr lang="en-IN" sz="1800" b="0" i="0" u="none" strike="noStrike" baseline="0" dirty="0">
                <a:solidFill>
                  <a:srgbClr val="000000"/>
                </a:solidFill>
                <a:latin typeface="Courier"/>
              </a:rPr>
              <a:t>: 123.5</a:t>
            </a:r>
          </a:p>
          <a:p>
            <a:pPr algn="l"/>
            <a:r>
              <a:rPr lang="en-US" sz="1800" b="0" i="0" u="none" strike="noStrike" baseline="0" dirty="0">
                <a:solidFill>
                  <a:srgbClr val="000000"/>
                </a:solidFill>
                <a:latin typeface="Palatino-Roman"/>
              </a:rPr>
              <a:t>Because </a:t>
            </a:r>
            <a:r>
              <a:rPr lang="en-US" sz="1800" b="1" i="0" u="none" strike="noStrike" baseline="0" dirty="0" err="1">
                <a:solidFill>
                  <a:srgbClr val="000000"/>
                </a:solidFill>
                <a:latin typeface="Palatino-Bold"/>
              </a:rPr>
              <a:t>GenCons</a:t>
            </a:r>
            <a:r>
              <a:rPr lang="en-US" sz="1800" b="1" i="0" u="none" strike="noStrike" baseline="0" dirty="0">
                <a:solidFill>
                  <a:srgbClr val="000000"/>
                </a:solidFill>
                <a:latin typeface="Palatino-Bold"/>
              </a:rPr>
              <a:t>( ) </a:t>
            </a:r>
            <a:r>
              <a:rPr lang="en-US" sz="1800" b="0" i="0" u="none" strike="noStrike" baseline="0" dirty="0">
                <a:solidFill>
                  <a:srgbClr val="000000"/>
                </a:solidFill>
                <a:latin typeface="Palatino-Roman"/>
              </a:rPr>
              <a:t>specifies a parameter of a generic type, which must be a subclass of</a:t>
            </a:r>
          </a:p>
          <a:p>
            <a:pPr algn="l"/>
            <a:r>
              <a:rPr lang="en-US" sz="1800" b="1" i="0" u="none" strike="noStrike" baseline="0" dirty="0">
                <a:solidFill>
                  <a:srgbClr val="000000"/>
                </a:solidFill>
                <a:latin typeface="Palatino-Bold"/>
              </a:rPr>
              <a:t>Number</a:t>
            </a:r>
            <a:r>
              <a:rPr lang="en-US" sz="1800" b="0" i="0" u="none" strike="noStrike" baseline="0" dirty="0">
                <a:solidFill>
                  <a:srgbClr val="000000"/>
                </a:solidFill>
                <a:latin typeface="Palatino-Roman"/>
              </a:rPr>
              <a:t>, </a:t>
            </a:r>
            <a:r>
              <a:rPr lang="en-US" sz="1800" b="1" i="0" u="none" strike="noStrike" baseline="0" dirty="0" err="1">
                <a:solidFill>
                  <a:srgbClr val="000000"/>
                </a:solidFill>
                <a:latin typeface="Palatino-Bold"/>
              </a:rPr>
              <a:t>GenCons</a:t>
            </a:r>
            <a:r>
              <a:rPr lang="en-US" sz="1800" b="1" i="0" u="none" strike="noStrike" baseline="0" dirty="0">
                <a:solidFill>
                  <a:srgbClr val="000000"/>
                </a:solidFill>
                <a:latin typeface="Palatino-Bold"/>
              </a:rPr>
              <a:t>( ) </a:t>
            </a:r>
            <a:r>
              <a:rPr lang="en-US" sz="1800" b="0" i="0" u="none" strike="noStrike" baseline="0" dirty="0">
                <a:solidFill>
                  <a:srgbClr val="000000"/>
                </a:solidFill>
                <a:latin typeface="Palatino-Roman"/>
              </a:rPr>
              <a:t>can be called with any numeric type, including </a:t>
            </a:r>
            <a:r>
              <a:rPr lang="en-US" sz="1800" b="1" i="0" u="none" strike="noStrike" baseline="0" dirty="0">
                <a:solidFill>
                  <a:srgbClr val="000000"/>
                </a:solidFill>
                <a:latin typeface="Palatino-Bold"/>
              </a:rPr>
              <a:t>Integer</a:t>
            </a:r>
            <a:r>
              <a:rPr lang="en-US" sz="1800" b="0" i="0" u="none" strike="noStrike" baseline="0" dirty="0">
                <a:solidFill>
                  <a:srgbClr val="000000"/>
                </a:solidFill>
                <a:latin typeface="Palatino-Roman"/>
              </a:rPr>
              <a:t>, </a:t>
            </a:r>
            <a:r>
              <a:rPr lang="en-US" sz="1800" b="1" i="0" u="none" strike="noStrike" baseline="0" dirty="0">
                <a:solidFill>
                  <a:srgbClr val="000000"/>
                </a:solidFill>
                <a:latin typeface="Palatino-Bold"/>
              </a:rPr>
              <a:t>Float</a:t>
            </a:r>
            <a:r>
              <a:rPr lang="en-US" sz="1800" b="0" i="0" u="none" strike="noStrike" baseline="0" dirty="0">
                <a:solidFill>
                  <a:srgbClr val="000000"/>
                </a:solidFill>
                <a:latin typeface="Palatino-Roman"/>
              </a:rPr>
              <a:t>, or</a:t>
            </a:r>
          </a:p>
          <a:p>
            <a:pPr algn="l"/>
            <a:r>
              <a:rPr lang="en-US" sz="1800" b="1" i="0" u="none" strike="noStrike" baseline="0" dirty="0">
                <a:solidFill>
                  <a:srgbClr val="000000"/>
                </a:solidFill>
                <a:latin typeface="Palatino-Bold"/>
              </a:rPr>
              <a:t>Double</a:t>
            </a:r>
            <a:r>
              <a:rPr lang="en-US" sz="1800" b="0" i="0" u="none" strike="noStrike" baseline="0" dirty="0">
                <a:solidFill>
                  <a:srgbClr val="000000"/>
                </a:solidFill>
                <a:latin typeface="Palatino-Roman"/>
              </a:rPr>
              <a:t>. Therefore, even though </a:t>
            </a:r>
            <a:r>
              <a:rPr lang="en-US" sz="1800" b="1" i="0" u="none" strike="noStrike" baseline="0" dirty="0" err="1">
                <a:solidFill>
                  <a:srgbClr val="000000"/>
                </a:solidFill>
                <a:latin typeface="Palatino-Bold"/>
              </a:rPr>
              <a:t>GenCons</a:t>
            </a:r>
            <a:r>
              <a:rPr lang="en-US" sz="1800" b="1" i="0" u="none" strike="noStrike" baseline="0" dirty="0">
                <a:solidFill>
                  <a:srgbClr val="000000"/>
                </a:solidFill>
                <a:latin typeface="Palatino-Bold"/>
              </a:rPr>
              <a:t> </a:t>
            </a:r>
            <a:r>
              <a:rPr lang="en-US" sz="1800" b="0" i="0" u="none" strike="noStrike" baseline="0" dirty="0">
                <a:solidFill>
                  <a:srgbClr val="000000"/>
                </a:solidFill>
                <a:latin typeface="Palatino-Roman"/>
              </a:rPr>
              <a:t>is not a generic class, its constructor is generic.</a:t>
            </a:r>
            <a:endParaRPr lang="en-IN" sz="1800" dirty="0">
              <a:solidFill>
                <a:srgbClr val="FF0000"/>
              </a:solidFill>
              <a:latin typeface="+mn-lt"/>
            </a:endParaRPr>
          </a:p>
        </p:txBody>
      </p:sp>
    </p:spTree>
    <p:extLst>
      <p:ext uri="{BB962C8B-B14F-4D97-AF65-F5344CB8AC3E}">
        <p14:creationId xmlns:p14="http://schemas.microsoft.com/office/powerpoint/2010/main" val="619219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347450" y="428178"/>
            <a:ext cx="8257075" cy="3693319"/>
          </a:xfrm>
          <a:prstGeom prst="rect">
            <a:avLst/>
          </a:prstGeom>
          <a:noFill/>
        </p:spPr>
        <p:txBody>
          <a:bodyPr wrap="square">
            <a:spAutoFit/>
          </a:bodyPr>
          <a:lstStyle/>
          <a:p>
            <a:pPr algn="l"/>
            <a:r>
              <a:rPr lang="en-IN" sz="2000" b="1" i="0" u="none" strike="noStrike" baseline="0" dirty="0">
                <a:solidFill>
                  <a:srgbClr val="FF0000"/>
                </a:solidFill>
                <a:latin typeface="FranklinGothic-DemiCnd"/>
              </a:rPr>
              <a:t>Erasure</a:t>
            </a:r>
          </a:p>
          <a:p>
            <a:pPr algn="l"/>
            <a:endParaRPr lang="en-IN" sz="1800" b="1" dirty="0">
              <a:solidFill>
                <a:srgbClr val="000000"/>
              </a:solidFill>
              <a:latin typeface="FranklinGothic-DemiCnd"/>
            </a:endParaRPr>
          </a:p>
          <a:p>
            <a:pPr algn="just"/>
            <a:r>
              <a:rPr lang="en-US" sz="1800" b="0" i="0" u="none" strike="noStrike" baseline="0" dirty="0">
                <a:latin typeface="Palatino-Roman"/>
              </a:rPr>
              <a:t>An important constraint that governed the way that generics were added to Java was the need for compatibility with previous versions of Java. </a:t>
            </a:r>
          </a:p>
          <a:p>
            <a:pPr algn="just"/>
            <a:endParaRPr lang="en-US" dirty="0">
              <a:latin typeface="Palatino-Roman"/>
            </a:endParaRPr>
          </a:p>
          <a:p>
            <a:pPr algn="just"/>
            <a:r>
              <a:rPr lang="en-US" sz="1800" b="0" i="0" u="none" strike="noStrike" baseline="0" dirty="0">
                <a:latin typeface="Palatino-Roman"/>
              </a:rPr>
              <a:t>Simply put, generic code had to be compatible with preexisting, non-generic code.</a:t>
            </a:r>
          </a:p>
          <a:p>
            <a:pPr algn="just"/>
            <a:endParaRPr lang="en-US" dirty="0">
              <a:latin typeface="Palatino-Roman"/>
            </a:endParaRPr>
          </a:p>
          <a:p>
            <a:pPr algn="just"/>
            <a:r>
              <a:rPr lang="en-US" sz="1800" b="0" i="0" u="none" strike="noStrike" baseline="0" dirty="0">
                <a:latin typeface="Palatino-Roman"/>
              </a:rPr>
              <a:t>Thus, any changes to the syntax of the Java language, or to the JVM, had to avoid breaking older code. </a:t>
            </a:r>
          </a:p>
          <a:p>
            <a:pPr algn="just"/>
            <a:endParaRPr lang="en-US" dirty="0">
              <a:latin typeface="Palatino-Roman"/>
            </a:endParaRPr>
          </a:p>
          <a:p>
            <a:pPr algn="just"/>
            <a:r>
              <a:rPr lang="en-US" sz="1800" b="0" i="0" u="none" strike="noStrike" baseline="0" dirty="0">
                <a:latin typeface="Palatino-Roman"/>
              </a:rPr>
              <a:t>The way Java implements generics while satisfying this constraint is through the use of </a:t>
            </a:r>
            <a:r>
              <a:rPr lang="en-US" sz="1800" b="0" i="1" u="none" strike="noStrike" baseline="0" dirty="0">
                <a:latin typeface="Palatino-Italic"/>
              </a:rPr>
              <a:t>erasure.</a:t>
            </a:r>
            <a:endParaRPr lang="en-IN" sz="1400" b="1" i="0" u="none" strike="noStrike" baseline="0" dirty="0">
              <a:solidFill>
                <a:srgbClr val="000000"/>
              </a:solidFill>
              <a:latin typeface="+mn-lt"/>
            </a:endParaRPr>
          </a:p>
        </p:txBody>
      </p:sp>
    </p:spTree>
    <p:extLst>
      <p:ext uri="{BB962C8B-B14F-4D97-AF65-F5344CB8AC3E}">
        <p14:creationId xmlns:p14="http://schemas.microsoft.com/office/powerpoint/2010/main" val="35468903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347450" y="428178"/>
            <a:ext cx="8257075" cy="4062651"/>
          </a:xfrm>
          <a:prstGeom prst="rect">
            <a:avLst/>
          </a:prstGeom>
          <a:noFill/>
        </p:spPr>
        <p:txBody>
          <a:bodyPr wrap="square">
            <a:spAutoFit/>
          </a:bodyPr>
          <a:lstStyle/>
          <a:p>
            <a:pPr algn="l"/>
            <a:r>
              <a:rPr lang="en-IN" sz="2400" b="1" i="0" u="none" strike="noStrike" baseline="0" dirty="0">
                <a:solidFill>
                  <a:srgbClr val="FF0000"/>
                </a:solidFill>
                <a:latin typeface="FranklinGothic-DemiCnd"/>
              </a:rPr>
              <a:t>Erasure</a:t>
            </a:r>
          </a:p>
          <a:p>
            <a:pPr algn="l"/>
            <a:endParaRPr lang="en-IN" sz="1800" b="1" dirty="0">
              <a:solidFill>
                <a:srgbClr val="000000"/>
              </a:solidFill>
              <a:latin typeface="FranklinGothic-DemiCnd"/>
            </a:endParaRPr>
          </a:p>
          <a:p>
            <a:pPr algn="just"/>
            <a:r>
              <a:rPr lang="en-US" sz="1800" b="0" i="0" u="none" strike="noStrike" baseline="0" dirty="0">
                <a:latin typeface="Palatino-Roman"/>
              </a:rPr>
              <a:t>In general, here is how erasure works. </a:t>
            </a:r>
          </a:p>
          <a:p>
            <a:pPr algn="just"/>
            <a:endParaRPr lang="en-US" sz="1800" dirty="0">
              <a:latin typeface="Palatino-Roman"/>
            </a:endParaRPr>
          </a:p>
          <a:p>
            <a:pPr algn="just"/>
            <a:r>
              <a:rPr lang="en-US" sz="1800" b="0" i="0" u="none" strike="noStrike" baseline="0" dirty="0">
                <a:latin typeface="Palatino-Roman"/>
              </a:rPr>
              <a:t>When your Java code is compiled, all generic type information is removed (erased). </a:t>
            </a:r>
          </a:p>
          <a:p>
            <a:pPr algn="just"/>
            <a:endParaRPr lang="en-US" sz="1800" dirty="0">
              <a:latin typeface="Palatino-Roman"/>
            </a:endParaRPr>
          </a:p>
          <a:p>
            <a:pPr algn="just"/>
            <a:r>
              <a:rPr lang="en-US" sz="1800" b="0" i="0" u="none" strike="noStrike" baseline="0" dirty="0">
                <a:latin typeface="Palatino-Roman"/>
              </a:rPr>
              <a:t>This means replacing type parameters with their bound type, which is </a:t>
            </a:r>
            <a:r>
              <a:rPr lang="en-US" sz="1800" b="1" i="0" u="none" strike="noStrike" baseline="0" dirty="0">
                <a:latin typeface="Palatino-Bold"/>
              </a:rPr>
              <a:t>Object </a:t>
            </a:r>
            <a:r>
              <a:rPr lang="en-US" sz="1800" b="0" i="0" u="none" strike="noStrike" baseline="0" dirty="0">
                <a:latin typeface="Palatino-Roman"/>
              </a:rPr>
              <a:t>if no explicit bound is specified, and then applying the appropriate casts (as determined by the type arguments) to maintain type compatibility with the types specified by the type arguments. </a:t>
            </a:r>
          </a:p>
          <a:p>
            <a:pPr algn="just"/>
            <a:endParaRPr lang="en-US" sz="1800" dirty="0">
              <a:latin typeface="Palatino-Roman"/>
            </a:endParaRPr>
          </a:p>
          <a:p>
            <a:pPr algn="just"/>
            <a:r>
              <a:rPr lang="en-US" sz="1800" b="0" i="0" u="none" strike="noStrike" baseline="0" dirty="0">
                <a:latin typeface="Palatino-Roman"/>
              </a:rPr>
              <a:t>The compiler also enforces this type compatibility.</a:t>
            </a:r>
          </a:p>
          <a:p>
            <a:pPr algn="just"/>
            <a:endParaRPr lang="en-US" sz="1800" dirty="0">
              <a:latin typeface="Palatino-Roman"/>
            </a:endParaRPr>
          </a:p>
        </p:txBody>
      </p:sp>
    </p:spTree>
    <p:extLst>
      <p:ext uri="{BB962C8B-B14F-4D97-AF65-F5344CB8AC3E}">
        <p14:creationId xmlns:p14="http://schemas.microsoft.com/office/powerpoint/2010/main" val="3292338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62F2949D-9666-DB1F-62EA-752B75D56C86}"/>
              </a:ext>
            </a:extLst>
          </p:cNvPr>
          <p:cNvSpPr txBox="1"/>
          <p:nvPr/>
        </p:nvSpPr>
        <p:spPr>
          <a:xfrm>
            <a:off x="309046" y="848924"/>
            <a:ext cx="8410694" cy="4216539"/>
          </a:xfrm>
          <a:prstGeom prst="rect">
            <a:avLst/>
          </a:prstGeom>
          <a:noFill/>
        </p:spPr>
        <p:txBody>
          <a:bodyPr wrap="square">
            <a:spAutoFit/>
          </a:bodyPr>
          <a:lstStyle/>
          <a:p>
            <a:pPr algn="l"/>
            <a:r>
              <a:rPr lang="en-IN" sz="2400" b="1" i="0" u="none" strike="noStrike" baseline="0" dirty="0">
                <a:solidFill>
                  <a:srgbClr val="FF0000"/>
                </a:solidFill>
                <a:latin typeface="FranklinGothic-DemiCnd"/>
              </a:rPr>
              <a:t>Some Generic Restrictions</a:t>
            </a:r>
          </a:p>
          <a:p>
            <a:pPr algn="l"/>
            <a:endParaRPr lang="en-IN" sz="1400" b="1" i="0" u="none" strike="noStrike" baseline="0" dirty="0">
              <a:latin typeface="FranklinGothic-DemiCnd"/>
            </a:endParaRPr>
          </a:p>
          <a:p>
            <a:pPr algn="just"/>
            <a:r>
              <a:rPr lang="en-US" sz="1400" b="0" i="0" u="none" strike="noStrike" baseline="0" dirty="0">
                <a:latin typeface="Palatino-Roman"/>
              </a:rPr>
              <a:t>There are a few restrictions when using generics. </a:t>
            </a:r>
          </a:p>
          <a:p>
            <a:pPr algn="just"/>
            <a:r>
              <a:rPr lang="en-US" sz="1400" b="0" i="0" u="none" strike="noStrike" baseline="0" dirty="0">
                <a:latin typeface="Palatino-Roman"/>
              </a:rPr>
              <a:t>They involve creating objects of a type parameter, static members, exceptions, and arrays. </a:t>
            </a:r>
          </a:p>
          <a:p>
            <a:pPr algn="just"/>
            <a:endParaRPr lang="en-IN" sz="2400" b="0" i="0" u="none" strike="noStrike" baseline="0" dirty="0">
              <a:latin typeface="Palatino-Roman"/>
            </a:endParaRPr>
          </a:p>
          <a:p>
            <a:pPr algn="just"/>
            <a:r>
              <a:rPr lang="en-US" sz="2400" b="1" i="0" u="none" strike="noStrike" baseline="0" dirty="0">
                <a:latin typeface="FranklinGothic-DemiCnd"/>
              </a:rPr>
              <a:t>Type Parameters Can’t Be Instantiated</a:t>
            </a:r>
          </a:p>
          <a:p>
            <a:pPr algn="just"/>
            <a:r>
              <a:rPr lang="en-US" sz="1400" b="0" i="0" u="none" strike="noStrike" baseline="0" dirty="0">
                <a:latin typeface="Palatino-Roman"/>
              </a:rPr>
              <a:t>It is not possible to create an instance of a type parameter. For example, consider this class:</a:t>
            </a:r>
          </a:p>
          <a:p>
            <a:pPr algn="just"/>
            <a:r>
              <a:rPr lang="en-US" sz="1400" b="0" i="0" u="none" strike="noStrike" baseline="0" dirty="0">
                <a:latin typeface="Courier"/>
              </a:rPr>
              <a:t>// Can't create an instance of T.</a:t>
            </a:r>
          </a:p>
          <a:p>
            <a:pPr algn="just"/>
            <a:r>
              <a:rPr lang="en-IN" sz="1400" b="0" i="0" u="none" strike="noStrike" baseline="0" dirty="0">
                <a:latin typeface="Courier"/>
              </a:rPr>
              <a:t>class Gen&lt;T&gt; {</a:t>
            </a:r>
          </a:p>
          <a:p>
            <a:pPr algn="just"/>
            <a:r>
              <a:rPr lang="en-IN" sz="1400" b="0" i="0" u="none" strike="noStrike" baseline="0" dirty="0">
                <a:latin typeface="Courier"/>
              </a:rPr>
              <a:t>T </a:t>
            </a:r>
            <a:r>
              <a:rPr lang="en-IN" sz="1400" b="0" i="0" u="none" strike="noStrike" baseline="0" dirty="0" err="1">
                <a:latin typeface="Courier"/>
              </a:rPr>
              <a:t>ob</a:t>
            </a:r>
            <a:r>
              <a:rPr lang="en-IN" sz="1400" b="0" i="0" u="none" strike="noStrike" baseline="0" dirty="0">
                <a:latin typeface="Courier"/>
              </a:rPr>
              <a:t>;</a:t>
            </a:r>
          </a:p>
          <a:p>
            <a:pPr algn="just"/>
            <a:r>
              <a:rPr lang="en-IN" sz="1400" b="0" i="0" u="none" strike="noStrike" baseline="0" dirty="0">
                <a:latin typeface="Courier"/>
              </a:rPr>
              <a:t>Gen() {</a:t>
            </a:r>
          </a:p>
          <a:p>
            <a:pPr algn="just"/>
            <a:r>
              <a:rPr lang="en-IN" sz="1400" b="0" i="0" u="none" strike="noStrike" baseline="0" dirty="0" err="1">
                <a:solidFill>
                  <a:srgbClr val="FF0000"/>
                </a:solidFill>
                <a:latin typeface="Courier"/>
              </a:rPr>
              <a:t>ob</a:t>
            </a:r>
            <a:r>
              <a:rPr lang="en-IN" sz="1400" b="0" i="0" u="none" strike="noStrike" baseline="0" dirty="0">
                <a:solidFill>
                  <a:srgbClr val="FF0000"/>
                </a:solidFill>
                <a:latin typeface="Courier"/>
              </a:rPr>
              <a:t> = new T(); // Illegal!!!</a:t>
            </a:r>
          </a:p>
          <a:p>
            <a:pPr algn="just"/>
            <a:r>
              <a:rPr lang="en-IN" sz="1400" b="0" i="0" u="none" strike="noStrike" baseline="0" dirty="0">
                <a:latin typeface="Courier"/>
              </a:rPr>
              <a:t>}</a:t>
            </a:r>
          </a:p>
          <a:p>
            <a:pPr algn="just"/>
            <a:r>
              <a:rPr lang="en-IN" sz="1400" b="0" i="0" u="none" strike="noStrike" baseline="0" dirty="0">
                <a:latin typeface="Courier"/>
              </a:rPr>
              <a:t>}</a:t>
            </a:r>
          </a:p>
          <a:p>
            <a:pPr algn="just"/>
            <a:endParaRPr lang="en-IN" sz="1400" b="0" i="0" u="none" strike="noStrike" baseline="0" dirty="0">
              <a:latin typeface="Courier"/>
            </a:endParaRPr>
          </a:p>
          <a:p>
            <a:pPr algn="just"/>
            <a:r>
              <a:rPr lang="en-US" sz="1400" b="0" i="0" u="none" strike="noStrike" baseline="0" dirty="0">
                <a:latin typeface="Palatino-Roman"/>
              </a:rPr>
              <a:t>Here, it is illegal to attempt to create an instance of </a:t>
            </a:r>
            <a:r>
              <a:rPr lang="en-US" sz="1400" b="1" i="0" u="none" strike="noStrike" baseline="0" dirty="0">
                <a:latin typeface="Palatino-Bold"/>
              </a:rPr>
              <a:t>T</a:t>
            </a:r>
            <a:r>
              <a:rPr lang="en-US" sz="1400" b="0" i="0" u="none" strike="noStrike" baseline="0" dirty="0">
                <a:latin typeface="Palatino-Roman"/>
              </a:rPr>
              <a:t>. The reason should be easy to understand: because </a:t>
            </a:r>
            <a:r>
              <a:rPr lang="en-US" sz="1400" b="1" i="0" u="none" strike="noStrike" baseline="0" dirty="0">
                <a:latin typeface="Palatino-Bold"/>
              </a:rPr>
              <a:t>T </a:t>
            </a:r>
            <a:r>
              <a:rPr lang="en-US" sz="1400" b="0" i="0" u="none" strike="noStrike" baseline="0" dirty="0">
                <a:latin typeface="Palatino-Roman"/>
              </a:rPr>
              <a:t>does not exist at run time.</a:t>
            </a:r>
            <a:endParaRPr lang="en-IN" sz="1400" dirty="0"/>
          </a:p>
        </p:txBody>
      </p:sp>
    </p:spTree>
    <p:extLst>
      <p:ext uri="{BB962C8B-B14F-4D97-AF65-F5344CB8AC3E}">
        <p14:creationId xmlns:p14="http://schemas.microsoft.com/office/powerpoint/2010/main" val="1186578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62F2949D-9666-DB1F-62EA-752B75D56C86}"/>
              </a:ext>
            </a:extLst>
          </p:cNvPr>
          <p:cNvSpPr txBox="1"/>
          <p:nvPr/>
        </p:nvSpPr>
        <p:spPr>
          <a:xfrm>
            <a:off x="232235" y="341380"/>
            <a:ext cx="8525910" cy="5878532"/>
          </a:xfrm>
          <a:prstGeom prst="rect">
            <a:avLst/>
          </a:prstGeom>
          <a:noFill/>
        </p:spPr>
        <p:txBody>
          <a:bodyPr wrap="square">
            <a:spAutoFit/>
          </a:bodyPr>
          <a:lstStyle/>
          <a:p>
            <a:pPr algn="l"/>
            <a:r>
              <a:rPr lang="en-IN" sz="2000" b="1" i="0" u="none" strike="noStrike" baseline="0" dirty="0">
                <a:solidFill>
                  <a:srgbClr val="FF0000"/>
                </a:solidFill>
                <a:latin typeface="FranklinGothic-DemiCnd"/>
              </a:rPr>
              <a:t>Some Generic Restrictions</a:t>
            </a:r>
          </a:p>
          <a:p>
            <a:pPr algn="l"/>
            <a:endParaRPr lang="en-IN" sz="1400" b="1" i="0" u="none" strike="noStrike" baseline="0" dirty="0">
              <a:latin typeface="FranklinGothic-DemiCnd"/>
            </a:endParaRPr>
          </a:p>
          <a:p>
            <a:pPr algn="l"/>
            <a:r>
              <a:rPr lang="en-IN" sz="1800" b="1" i="0" u="none" strike="noStrike" baseline="0" dirty="0">
                <a:latin typeface="FranklinGothic-DemiCnd"/>
              </a:rPr>
              <a:t>Restrictions on Static Members</a:t>
            </a:r>
          </a:p>
          <a:p>
            <a:pPr algn="l"/>
            <a:r>
              <a:rPr lang="en-US" sz="1800" b="0" i="0" u="none" strike="noStrike" baseline="0" dirty="0">
                <a:latin typeface="Palatino-Roman"/>
              </a:rPr>
              <a:t>No </a:t>
            </a:r>
            <a:r>
              <a:rPr lang="en-US" sz="1800" b="1" i="0" u="none" strike="noStrike" baseline="0" dirty="0">
                <a:latin typeface="Palatino-Bold"/>
              </a:rPr>
              <a:t>static </a:t>
            </a:r>
            <a:r>
              <a:rPr lang="en-US" sz="1800" b="0" i="0" u="none" strike="noStrike" baseline="0" dirty="0">
                <a:latin typeface="Palatino-Roman"/>
              </a:rPr>
              <a:t>member can use a type parameter declared by the enclosing class. For example, </a:t>
            </a:r>
            <a:r>
              <a:rPr lang="en-US" sz="1800" b="0" i="0" u="none" strike="noStrike" baseline="0" dirty="0" err="1">
                <a:latin typeface="Palatino-Roman"/>
              </a:rPr>
              <a:t>allof</a:t>
            </a:r>
            <a:r>
              <a:rPr lang="en-US" sz="1800" b="0" i="0" u="none" strike="noStrike" baseline="0" dirty="0">
                <a:latin typeface="Palatino-Roman"/>
              </a:rPr>
              <a:t> the </a:t>
            </a:r>
            <a:r>
              <a:rPr lang="en-US" sz="1800" b="1" i="0" u="none" strike="noStrike" baseline="0" dirty="0">
                <a:latin typeface="Palatino-Bold"/>
              </a:rPr>
              <a:t>static </a:t>
            </a:r>
            <a:r>
              <a:rPr lang="en-US" sz="1800" b="0" i="0" u="none" strike="noStrike" baseline="0" dirty="0">
                <a:latin typeface="Palatino-Roman"/>
              </a:rPr>
              <a:t>members of this class are illegal:</a:t>
            </a:r>
          </a:p>
          <a:p>
            <a:pPr algn="l"/>
            <a:endParaRPr lang="en-US" sz="1800" b="0" i="0" u="none" strike="noStrike" baseline="0" dirty="0">
              <a:latin typeface="Palatino-Roman"/>
            </a:endParaRPr>
          </a:p>
          <a:p>
            <a:pPr algn="l"/>
            <a:r>
              <a:rPr lang="en-IN" sz="1800" b="0" i="0" u="none" strike="noStrike" baseline="0" dirty="0">
                <a:latin typeface="Courier"/>
              </a:rPr>
              <a:t>class Wrong&lt;T&gt; {</a:t>
            </a:r>
          </a:p>
          <a:p>
            <a:pPr algn="l"/>
            <a:r>
              <a:rPr lang="en-US" sz="1800" b="0" i="0" u="none" strike="noStrike" baseline="0" dirty="0">
                <a:latin typeface="Courier"/>
              </a:rPr>
              <a:t>// Wrong, no static variables of type T.</a:t>
            </a:r>
          </a:p>
          <a:p>
            <a:pPr algn="l"/>
            <a:r>
              <a:rPr lang="en-IN" sz="1800" b="0" i="0" u="none" strike="noStrike" baseline="0" dirty="0">
                <a:solidFill>
                  <a:srgbClr val="FF0000"/>
                </a:solidFill>
                <a:latin typeface="Courier"/>
              </a:rPr>
              <a:t>static T </a:t>
            </a:r>
            <a:r>
              <a:rPr lang="en-IN" sz="1800" b="0" i="0" u="none" strike="noStrike" baseline="0" dirty="0" err="1">
                <a:solidFill>
                  <a:srgbClr val="FF0000"/>
                </a:solidFill>
                <a:latin typeface="Courier"/>
              </a:rPr>
              <a:t>ob</a:t>
            </a:r>
            <a:r>
              <a:rPr lang="en-IN" sz="1800" b="0" i="0" u="none" strike="noStrike" baseline="0" dirty="0">
                <a:solidFill>
                  <a:srgbClr val="FF0000"/>
                </a:solidFill>
                <a:latin typeface="Courier"/>
              </a:rPr>
              <a:t>;</a:t>
            </a:r>
          </a:p>
          <a:p>
            <a:pPr algn="l"/>
            <a:r>
              <a:rPr lang="en-US" sz="1800" b="0" i="0" u="none" strike="noStrike" baseline="0" dirty="0">
                <a:latin typeface="Courier"/>
              </a:rPr>
              <a:t>// Wrong, no static method can use T.</a:t>
            </a:r>
          </a:p>
          <a:p>
            <a:pPr algn="l"/>
            <a:r>
              <a:rPr lang="en-IN" sz="1800" b="0" i="0" u="none" strike="noStrike" baseline="0" dirty="0">
                <a:latin typeface="Courier"/>
              </a:rPr>
              <a:t>static T </a:t>
            </a:r>
            <a:r>
              <a:rPr lang="en-IN" sz="1800" b="0" i="0" u="none" strike="noStrike" baseline="0" dirty="0" err="1">
                <a:latin typeface="Courier"/>
              </a:rPr>
              <a:t>getob</a:t>
            </a:r>
            <a:r>
              <a:rPr lang="en-IN" sz="1800" b="0" i="0" u="none" strike="noStrike" baseline="0" dirty="0">
                <a:latin typeface="Courier"/>
              </a:rPr>
              <a:t>() {</a:t>
            </a:r>
          </a:p>
          <a:p>
            <a:pPr algn="l"/>
            <a:r>
              <a:rPr lang="en-IN" sz="1800" b="0" i="0" u="none" strike="noStrike" baseline="0" dirty="0">
                <a:latin typeface="Courier"/>
              </a:rPr>
              <a:t>return </a:t>
            </a:r>
            <a:r>
              <a:rPr lang="en-IN" sz="1800" b="0" i="0" u="none" strike="noStrike" baseline="0" dirty="0" err="1">
                <a:latin typeface="Courier"/>
              </a:rPr>
              <a:t>ob</a:t>
            </a:r>
            <a:r>
              <a:rPr lang="en-IN" sz="1800" b="0" i="0" u="none" strike="noStrike" baseline="0" dirty="0">
                <a:latin typeface="Courier"/>
              </a:rPr>
              <a:t>;</a:t>
            </a:r>
          </a:p>
          <a:p>
            <a:pPr algn="l"/>
            <a:r>
              <a:rPr lang="en-IN" sz="1800" b="0" i="0" u="none" strike="noStrike" baseline="0" dirty="0">
                <a:latin typeface="Courier"/>
              </a:rPr>
              <a:t>}</a:t>
            </a:r>
          </a:p>
          <a:p>
            <a:pPr algn="l"/>
            <a:r>
              <a:rPr lang="en-US" sz="1800" b="0" i="0" u="none" strike="noStrike" baseline="0" dirty="0">
                <a:latin typeface="Courier"/>
              </a:rPr>
              <a:t>// Wrong, no static method can access object</a:t>
            </a:r>
          </a:p>
          <a:p>
            <a:pPr algn="l"/>
            <a:r>
              <a:rPr lang="en-IN" sz="1800" b="0" i="0" u="none" strike="noStrike" baseline="0" dirty="0">
                <a:latin typeface="Courier"/>
              </a:rPr>
              <a:t>// of type T.</a:t>
            </a:r>
          </a:p>
          <a:p>
            <a:pPr algn="l"/>
            <a:r>
              <a:rPr lang="en-IN" sz="1800" b="0" i="0" u="none" strike="noStrike" baseline="0" dirty="0">
                <a:latin typeface="Courier"/>
              </a:rPr>
              <a:t>static void </a:t>
            </a:r>
            <a:r>
              <a:rPr lang="en-IN" sz="1800" b="0" i="0" u="none" strike="noStrike" baseline="0" dirty="0" err="1">
                <a:latin typeface="Courier"/>
              </a:rPr>
              <a:t>showob</a:t>
            </a:r>
            <a:r>
              <a:rPr lang="en-IN" sz="1800" b="0" i="0" u="none" strike="noStrike" baseline="0" dirty="0">
                <a:latin typeface="Courier"/>
              </a:rPr>
              <a:t>() {</a:t>
            </a:r>
          </a:p>
          <a:p>
            <a:pPr algn="l"/>
            <a:r>
              <a:rPr lang="en-IN" sz="1800" b="0" i="0" u="none" strike="noStrike" baseline="0" dirty="0" err="1">
                <a:latin typeface="Courier"/>
              </a:rPr>
              <a:t>System.out.println</a:t>
            </a:r>
            <a:r>
              <a:rPr lang="en-IN" sz="1800" b="0" i="0" u="none" strike="noStrike" baseline="0" dirty="0">
                <a:latin typeface="Courier"/>
              </a:rPr>
              <a:t>(</a:t>
            </a:r>
            <a:r>
              <a:rPr lang="en-IN" sz="1800" b="0" i="0" u="none" strike="noStrike" baseline="0" dirty="0" err="1">
                <a:latin typeface="Courier"/>
              </a:rPr>
              <a:t>ob</a:t>
            </a:r>
            <a:r>
              <a:rPr lang="en-IN" sz="1800" b="0" i="0" u="none" strike="noStrike" baseline="0" dirty="0">
                <a:latin typeface="Courier"/>
              </a:rPr>
              <a:t>);</a:t>
            </a:r>
          </a:p>
          <a:p>
            <a:pPr algn="l"/>
            <a:r>
              <a:rPr lang="en-IN" sz="1800" b="0" i="0" u="none" strike="noStrike" baseline="0" dirty="0">
                <a:latin typeface="Courier"/>
              </a:rPr>
              <a:t>}</a:t>
            </a:r>
          </a:p>
          <a:p>
            <a:pPr algn="l"/>
            <a:r>
              <a:rPr lang="en-IN" sz="1800" b="0" i="0" u="none" strike="noStrike" baseline="0" dirty="0">
                <a:latin typeface="Courier"/>
              </a:rPr>
              <a:t>}</a:t>
            </a:r>
          </a:p>
          <a:p>
            <a:pPr algn="l"/>
            <a:r>
              <a:rPr lang="en-US" sz="1800" b="0" i="0" u="none" strike="noStrike" baseline="0" dirty="0">
                <a:latin typeface="Palatino-Roman"/>
              </a:rPr>
              <a:t>Although you can’t declare </a:t>
            </a:r>
            <a:r>
              <a:rPr lang="en-US" sz="1800" b="1" i="0" u="none" strike="noStrike" baseline="0" dirty="0">
                <a:latin typeface="Palatino-Bold"/>
              </a:rPr>
              <a:t>static </a:t>
            </a:r>
            <a:r>
              <a:rPr lang="en-US" sz="1800" b="0" i="0" u="none" strike="noStrike" baseline="0" dirty="0">
                <a:latin typeface="Palatino-Roman"/>
              </a:rPr>
              <a:t>members that use a type parameter declared by the enclosing class, </a:t>
            </a:r>
            <a:r>
              <a:rPr lang="en-US" sz="1800" b="0" i="0" u="none" strike="noStrike" baseline="0" dirty="0">
                <a:solidFill>
                  <a:srgbClr val="FF0000"/>
                </a:solidFill>
                <a:latin typeface="Palatino-Roman"/>
              </a:rPr>
              <a:t>we </a:t>
            </a:r>
            <a:r>
              <a:rPr lang="en-US" sz="1800" b="0" i="1" u="none" strike="noStrike" baseline="0" dirty="0">
                <a:solidFill>
                  <a:srgbClr val="FF0000"/>
                </a:solidFill>
                <a:latin typeface="Palatino-Italic"/>
              </a:rPr>
              <a:t>can </a:t>
            </a:r>
            <a:r>
              <a:rPr lang="en-US" sz="1800" b="0" i="0" u="none" strike="noStrike" baseline="0" dirty="0">
                <a:solidFill>
                  <a:srgbClr val="FF0000"/>
                </a:solidFill>
                <a:latin typeface="Palatino-Roman"/>
              </a:rPr>
              <a:t>declare </a:t>
            </a:r>
            <a:r>
              <a:rPr lang="en-US" sz="1800" b="1" i="0" u="none" strike="noStrike" baseline="0" dirty="0">
                <a:solidFill>
                  <a:srgbClr val="FF0000"/>
                </a:solidFill>
                <a:latin typeface="Palatino-Bold"/>
              </a:rPr>
              <a:t>static </a:t>
            </a:r>
            <a:r>
              <a:rPr lang="en-US" sz="1800" b="0" i="0" u="none" strike="noStrike" baseline="0" dirty="0">
                <a:solidFill>
                  <a:srgbClr val="FF0000"/>
                </a:solidFill>
                <a:latin typeface="Palatino-Roman"/>
              </a:rPr>
              <a:t>generic methods</a:t>
            </a:r>
            <a:endParaRPr lang="en-IN" sz="1400" dirty="0">
              <a:solidFill>
                <a:srgbClr val="FF0000"/>
              </a:solidFill>
            </a:endParaRPr>
          </a:p>
        </p:txBody>
      </p:sp>
    </p:spTree>
    <p:extLst>
      <p:ext uri="{BB962C8B-B14F-4D97-AF65-F5344CB8AC3E}">
        <p14:creationId xmlns:p14="http://schemas.microsoft.com/office/powerpoint/2010/main" val="2686119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62F2949D-9666-DB1F-62EA-752B75D56C86}"/>
              </a:ext>
            </a:extLst>
          </p:cNvPr>
          <p:cNvSpPr txBox="1"/>
          <p:nvPr/>
        </p:nvSpPr>
        <p:spPr>
          <a:xfrm>
            <a:off x="309046" y="487025"/>
            <a:ext cx="8449100" cy="5940088"/>
          </a:xfrm>
          <a:prstGeom prst="rect">
            <a:avLst/>
          </a:prstGeom>
          <a:noFill/>
        </p:spPr>
        <p:txBody>
          <a:bodyPr wrap="square">
            <a:spAutoFit/>
          </a:bodyPr>
          <a:lstStyle/>
          <a:p>
            <a:pPr algn="l"/>
            <a:r>
              <a:rPr lang="en-IN" sz="2400" b="1" i="0" u="none" strike="noStrike" baseline="0" dirty="0">
                <a:latin typeface="FranklinGothic-DemiCnd"/>
              </a:rPr>
              <a:t>Some Generic Restrictions</a:t>
            </a:r>
          </a:p>
          <a:p>
            <a:pPr algn="l"/>
            <a:endParaRPr lang="en-IN" sz="1400" b="1" i="0" u="none" strike="noStrike" baseline="0" dirty="0">
              <a:latin typeface="FranklinGothic-DemiCnd"/>
            </a:endParaRPr>
          </a:p>
          <a:p>
            <a:pPr algn="l"/>
            <a:r>
              <a:rPr lang="en-IN" sz="2000" b="1" i="0" u="none" strike="noStrike" baseline="0" dirty="0">
                <a:latin typeface="FranklinGothic-DemiCnd"/>
              </a:rPr>
              <a:t>Generic Array Restrictions</a:t>
            </a:r>
          </a:p>
          <a:p>
            <a:pPr algn="just"/>
            <a:r>
              <a:rPr lang="en-US" sz="1400" b="0" i="0" u="none" strike="noStrike" baseline="0" dirty="0">
                <a:latin typeface="Palatino-Roman"/>
              </a:rPr>
              <a:t>First, you cannot instantiate an array whose base type is a type parameter. </a:t>
            </a:r>
          </a:p>
          <a:p>
            <a:pPr algn="just"/>
            <a:r>
              <a:rPr lang="en-US" sz="1400" b="0" i="0" u="none" strike="noStrike" baseline="0" dirty="0">
                <a:latin typeface="Palatino-Roman"/>
              </a:rPr>
              <a:t>Second, you cannot create an array of </a:t>
            </a:r>
            <a:r>
              <a:rPr lang="en-US" sz="1400" b="0" i="0" u="none" strike="noStrike" baseline="0" dirty="0" err="1">
                <a:latin typeface="Palatino-Roman"/>
              </a:rPr>
              <a:t>typespecific</a:t>
            </a:r>
            <a:r>
              <a:rPr lang="en-US" sz="1400" dirty="0">
                <a:latin typeface="Palatino-Roman"/>
              </a:rPr>
              <a:t> </a:t>
            </a:r>
            <a:r>
              <a:rPr lang="en-US" sz="1400" b="0" i="0" u="none" strike="noStrike" baseline="0" dirty="0">
                <a:latin typeface="Palatino-Roman"/>
              </a:rPr>
              <a:t>generic references. </a:t>
            </a:r>
          </a:p>
          <a:p>
            <a:pPr algn="just"/>
            <a:endParaRPr lang="en-IN" sz="1400" b="0" i="0" u="none" strike="noStrike" baseline="0" dirty="0">
              <a:latin typeface="Courier"/>
            </a:endParaRPr>
          </a:p>
          <a:p>
            <a:pPr algn="l"/>
            <a:r>
              <a:rPr lang="en-IN" sz="1400" b="0" i="0" u="none" strike="noStrike" baseline="0" dirty="0">
                <a:latin typeface="Courier"/>
              </a:rPr>
              <a:t>class Gen&lt;T extends Number&gt; {</a:t>
            </a:r>
          </a:p>
          <a:p>
            <a:pPr algn="l"/>
            <a:r>
              <a:rPr lang="en-IN" sz="1400" b="0" i="0" u="none" strike="noStrike" baseline="0" dirty="0">
                <a:latin typeface="Courier"/>
              </a:rPr>
              <a:t>T </a:t>
            </a:r>
            <a:r>
              <a:rPr lang="en-IN" sz="1400" b="0" i="0" u="none" strike="noStrike" baseline="0" dirty="0" err="1">
                <a:latin typeface="Courier"/>
              </a:rPr>
              <a:t>ob</a:t>
            </a:r>
            <a:r>
              <a:rPr lang="en-IN" sz="1400" b="0" i="0" u="none" strike="noStrike" baseline="0" dirty="0">
                <a:latin typeface="Courier"/>
              </a:rPr>
              <a:t>;</a:t>
            </a:r>
          </a:p>
          <a:p>
            <a:pPr algn="l"/>
            <a:r>
              <a:rPr lang="en-IN" sz="1400" b="0" i="0" u="none" strike="noStrike" baseline="0" dirty="0">
                <a:latin typeface="Courier"/>
              </a:rPr>
              <a:t>T </a:t>
            </a:r>
            <a:r>
              <a:rPr lang="en-IN" sz="1400" b="0" i="0" u="none" strike="noStrike" baseline="0" dirty="0" err="1">
                <a:latin typeface="Courier"/>
              </a:rPr>
              <a:t>vals</a:t>
            </a:r>
            <a:r>
              <a:rPr lang="en-IN" sz="1400" b="0" i="0" u="none" strike="noStrike" baseline="0" dirty="0">
                <a:latin typeface="Courier"/>
              </a:rPr>
              <a:t>[]; // OK</a:t>
            </a:r>
          </a:p>
          <a:p>
            <a:pPr algn="l"/>
            <a:r>
              <a:rPr lang="de-DE" sz="1400" b="0" i="0" u="none" strike="noStrike" baseline="0" dirty="0">
                <a:latin typeface="Courier"/>
              </a:rPr>
              <a:t>Gen(T o, T[] nums) {</a:t>
            </a:r>
          </a:p>
          <a:p>
            <a:pPr algn="l"/>
            <a:r>
              <a:rPr lang="en-IN" sz="1400" b="0" i="0" u="none" strike="noStrike" baseline="0" dirty="0" err="1">
                <a:latin typeface="Courier"/>
              </a:rPr>
              <a:t>ob</a:t>
            </a:r>
            <a:r>
              <a:rPr lang="en-IN" sz="1400" b="0" i="0" u="none" strike="noStrike" baseline="0" dirty="0">
                <a:latin typeface="Courier"/>
              </a:rPr>
              <a:t> = o;</a:t>
            </a:r>
          </a:p>
          <a:p>
            <a:pPr algn="l"/>
            <a:r>
              <a:rPr lang="en-IN" sz="1400" b="0" i="0" u="none" strike="noStrike" baseline="0" dirty="0">
                <a:latin typeface="Courier"/>
              </a:rPr>
              <a:t>// This statement is illegal.</a:t>
            </a:r>
          </a:p>
          <a:p>
            <a:pPr algn="l"/>
            <a:r>
              <a:rPr lang="en-US" sz="1400" b="0" i="0" u="none" strike="noStrike" baseline="0" dirty="0">
                <a:latin typeface="Courier"/>
              </a:rPr>
              <a:t>// </a:t>
            </a:r>
            <a:r>
              <a:rPr lang="en-US" sz="1400" b="0" i="0" u="none" strike="noStrike" baseline="0" dirty="0" err="1">
                <a:solidFill>
                  <a:srgbClr val="FF0000"/>
                </a:solidFill>
                <a:latin typeface="Courier"/>
              </a:rPr>
              <a:t>vals</a:t>
            </a:r>
            <a:r>
              <a:rPr lang="en-US" sz="1400" b="0" i="0" u="none" strike="noStrike" baseline="0" dirty="0">
                <a:solidFill>
                  <a:srgbClr val="FF0000"/>
                </a:solidFill>
                <a:latin typeface="Courier"/>
              </a:rPr>
              <a:t> = new T[10]; // can't create an array of T</a:t>
            </a:r>
          </a:p>
          <a:p>
            <a:pPr algn="l"/>
            <a:r>
              <a:rPr lang="en-US" sz="1400" b="0" i="0" u="none" strike="noStrike" baseline="0" dirty="0">
                <a:latin typeface="Courier"/>
              </a:rPr>
              <a:t>// But, this statement is OK.</a:t>
            </a:r>
          </a:p>
          <a:p>
            <a:pPr algn="l"/>
            <a:r>
              <a:rPr lang="en-US" sz="1400" b="0" i="0" u="none" strike="noStrike" baseline="0" dirty="0" err="1">
                <a:latin typeface="Courier"/>
              </a:rPr>
              <a:t>vals</a:t>
            </a:r>
            <a:r>
              <a:rPr lang="en-US" sz="1400" b="0" i="0" u="none" strike="noStrike" baseline="0" dirty="0">
                <a:latin typeface="Courier"/>
              </a:rPr>
              <a:t> = </a:t>
            </a:r>
            <a:r>
              <a:rPr lang="en-US" sz="1400" b="0" i="0" u="none" strike="noStrike" baseline="0" dirty="0" err="1">
                <a:latin typeface="Courier"/>
              </a:rPr>
              <a:t>nums</a:t>
            </a:r>
            <a:r>
              <a:rPr lang="en-US" sz="1400" b="0" i="0" u="none" strike="noStrike" baseline="0" dirty="0">
                <a:latin typeface="Courier"/>
              </a:rPr>
              <a:t>; // OK to assign reference to existent array</a:t>
            </a:r>
          </a:p>
          <a:p>
            <a:pPr algn="l"/>
            <a:r>
              <a:rPr lang="en-IN" sz="1400" b="0" i="0" u="none" strike="noStrike" baseline="0" dirty="0">
                <a:latin typeface="Courier"/>
              </a:rPr>
              <a:t>}</a:t>
            </a:r>
          </a:p>
          <a:p>
            <a:pPr algn="l"/>
            <a:r>
              <a:rPr lang="en-IN" sz="1400" b="0" i="0" u="none" strike="noStrike" baseline="0" dirty="0">
                <a:latin typeface="Courier"/>
              </a:rPr>
              <a:t>}</a:t>
            </a:r>
          </a:p>
          <a:p>
            <a:pPr algn="l"/>
            <a:r>
              <a:rPr lang="en-IN" sz="1400" b="0" i="0" u="none" strike="noStrike" baseline="0" dirty="0">
                <a:latin typeface="Courier"/>
              </a:rPr>
              <a:t>class </a:t>
            </a:r>
            <a:r>
              <a:rPr lang="en-IN" sz="1400" b="0" i="0" u="none" strike="noStrike" baseline="0" dirty="0" err="1">
                <a:latin typeface="Courier"/>
              </a:rPr>
              <a:t>GenArrays</a:t>
            </a:r>
            <a:r>
              <a:rPr lang="en-IN" sz="1400" b="0" i="0" u="none" strike="noStrike" baseline="0" dirty="0">
                <a:latin typeface="Courier"/>
              </a:rPr>
              <a:t> {</a:t>
            </a:r>
          </a:p>
          <a:p>
            <a:pPr algn="l"/>
            <a:r>
              <a:rPr lang="en-US" sz="1400" b="0" i="0" u="none" strike="noStrike" baseline="0" dirty="0">
                <a:latin typeface="Courier"/>
              </a:rPr>
              <a:t>public static void main(String </a:t>
            </a:r>
            <a:r>
              <a:rPr lang="en-US" sz="1400" b="0" i="0" u="none" strike="noStrike" baseline="0" dirty="0" err="1">
                <a:latin typeface="Courier"/>
              </a:rPr>
              <a:t>args</a:t>
            </a:r>
            <a:r>
              <a:rPr lang="en-US" sz="1400" b="0" i="0" u="none" strike="noStrike" baseline="0" dirty="0">
                <a:latin typeface="Courier"/>
              </a:rPr>
              <a:t>[]) {</a:t>
            </a:r>
          </a:p>
          <a:p>
            <a:pPr algn="l"/>
            <a:r>
              <a:rPr lang="pt-BR" sz="1400" b="0" i="0" u="none" strike="noStrike" baseline="0" dirty="0">
                <a:latin typeface="Courier"/>
              </a:rPr>
              <a:t>Integer n[] = { 1, 2, 3, 4, 5 };</a:t>
            </a:r>
          </a:p>
          <a:p>
            <a:pPr algn="l"/>
            <a:r>
              <a:rPr lang="en-IN" sz="1400" b="0" i="0" u="none" strike="noStrike" baseline="0" dirty="0">
                <a:latin typeface="Courier"/>
              </a:rPr>
              <a:t>Gen&lt;Integer&gt; </a:t>
            </a:r>
            <a:r>
              <a:rPr lang="en-IN" sz="1400" b="0" i="0" u="none" strike="noStrike" baseline="0" dirty="0" err="1">
                <a:latin typeface="Courier"/>
              </a:rPr>
              <a:t>iOb</a:t>
            </a:r>
            <a:r>
              <a:rPr lang="en-IN" sz="1400" b="0" i="0" u="none" strike="noStrike" baseline="0" dirty="0">
                <a:latin typeface="Courier"/>
              </a:rPr>
              <a:t> = new Gen&lt;Integer&gt;(50, n);</a:t>
            </a:r>
          </a:p>
          <a:p>
            <a:pPr algn="l"/>
            <a:r>
              <a:rPr lang="en-US" sz="1400" b="0" i="0" u="none" strike="noStrike" baseline="0" dirty="0">
                <a:latin typeface="Courier"/>
              </a:rPr>
              <a:t>// Can't create an array of type-specific generic references.</a:t>
            </a:r>
          </a:p>
          <a:p>
            <a:pPr algn="l"/>
            <a:r>
              <a:rPr lang="en-IN" sz="1400" b="0" i="0" u="none" strike="noStrike" baseline="0" dirty="0">
                <a:solidFill>
                  <a:srgbClr val="FF0000"/>
                </a:solidFill>
                <a:latin typeface="Courier"/>
              </a:rPr>
              <a:t>// Gen&lt;Integer&gt; gens[] = new Gen&lt;Integer&gt;[10]; // Wrong!</a:t>
            </a:r>
          </a:p>
          <a:p>
            <a:pPr algn="l"/>
            <a:r>
              <a:rPr lang="en-IN" sz="1400" b="0" i="0" u="none" strike="noStrike" baseline="0" dirty="0">
                <a:latin typeface="Courier"/>
              </a:rPr>
              <a:t>// This is OK.</a:t>
            </a:r>
          </a:p>
          <a:p>
            <a:pPr algn="l"/>
            <a:r>
              <a:rPr lang="de-DE" sz="1400" b="0" i="0" u="none" strike="noStrike" baseline="0" dirty="0">
                <a:latin typeface="Courier"/>
              </a:rPr>
              <a:t>Gen&lt;?&gt; gens[] = new Gen&lt;?&gt;[10]; // OK</a:t>
            </a:r>
          </a:p>
          <a:p>
            <a:pPr algn="l"/>
            <a:r>
              <a:rPr lang="en-IN" sz="1400" b="0" i="0" u="none" strike="noStrike" baseline="0" dirty="0">
                <a:latin typeface="Courier"/>
              </a:rPr>
              <a:t>}}</a:t>
            </a:r>
            <a:endParaRPr lang="en-IN" sz="1400" dirty="0"/>
          </a:p>
        </p:txBody>
      </p:sp>
    </p:spTree>
    <p:extLst>
      <p:ext uri="{BB962C8B-B14F-4D97-AF65-F5344CB8AC3E}">
        <p14:creationId xmlns:p14="http://schemas.microsoft.com/office/powerpoint/2010/main" val="570941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62F2949D-9666-DB1F-62EA-752B75D56C86}"/>
              </a:ext>
            </a:extLst>
          </p:cNvPr>
          <p:cNvSpPr txBox="1"/>
          <p:nvPr/>
        </p:nvSpPr>
        <p:spPr>
          <a:xfrm>
            <a:off x="309046" y="580846"/>
            <a:ext cx="8314682" cy="1877437"/>
          </a:xfrm>
          <a:prstGeom prst="rect">
            <a:avLst/>
          </a:prstGeom>
          <a:noFill/>
        </p:spPr>
        <p:txBody>
          <a:bodyPr wrap="square">
            <a:spAutoFit/>
          </a:bodyPr>
          <a:lstStyle/>
          <a:p>
            <a:pPr algn="l"/>
            <a:r>
              <a:rPr lang="en-IN" sz="2400" b="1" i="0" u="none" strike="noStrike" baseline="0" dirty="0">
                <a:solidFill>
                  <a:srgbClr val="FF0000"/>
                </a:solidFill>
                <a:latin typeface="FranklinGothic-DemiCnd"/>
              </a:rPr>
              <a:t>Some Generic Restrictions</a:t>
            </a:r>
          </a:p>
          <a:p>
            <a:pPr algn="l"/>
            <a:endParaRPr lang="en-IN" sz="1400" b="1" i="0" u="none" strike="noStrike" baseline="0" dirty="0">
              <a:latin typeface="FranklinGothic-DemiCnd"/>
            </a:endParaRPr>
          </a:p>
          <a:p>
            <a:pPr algn="l"/>
            <a:r>
              <a:rPr lang="en-IN" sz="2000" b="1" i="0" u="none" strike="noStrike" baseline="0" dirty="0">
                <a:latin typeface="FranklinGothic-DemiCnd"/>
              </a:rPr>
              <a:t>Generic Exception Restriction</a:t>
            </a:r>
          </a:p>
          <a:p>
            <a:pPr algn="l"/>
            <a:endParaRPr lang="en-IN" sz="1800" b="1" i="0" u="none" strike="noStrike" baseline="0" dirty="0">
              <a:latin typeface="FranklinGothic-DemiCnd"/>
            </a:endParaRPr>
          </a:p>
          <a:p>
            <a:pPr algn="just"/>
            <a:r>
              <a:rPr lang="en-US" sz="2000" b="0" i="0" u="none" strike="noStrike" baseline="0" dirty="0" err="1">
                <a:latin typeface="Palatino-Roman"/>
              </a:rPr>
              <a:t>Ageneric</a:t>
            </a:r>
            <a:r>
              <a:rPr lang="en-US" sz="2000" b="0" i="0" u="none" strike="noStrike" baseline="0" dirty="0">
                <a:latin typeface="Palatino-Roman"/>
              </a:rPr>
              <a:t> class cannot extend </a:t>
            </a:r>
            <a:r>
              <a:rPr lang="en-US" sz="2000" b="1" i="0" u="none" strike="noStrike" baseline="0" dirty="0">
                <a:latin typeface="Palatino-Bold"/>
              </a:rPr>
              <a:t>Throwable</a:t>
            </a:r>
            <a:r>
              <a:rPr lang="en-US" sz="2000" b="0" i="0" u="none" strike="noStrike" baseline="0" dirty="0">
                <a:latin typeface="Palatino-Roman"/>
              </a:rPr>
              <a:t>. This means that you cannot create generic exception </a:t>
            </a:r>
            <a:r>
              <a:rPr lang="en-IN" sz="2000" b="0" i="0" u="none" strike="noStrike" baseline="0" dirty="0">
                <a:latin typeface="Palatino-Roman"/>
              </a:rPr>
              <a:t>classes.</a:t>
            </a:r>
            <a:endParaRPr lang="en-IN" sz="2000" dirty="0"/>
          </a:p>
        </p:txBody>
      </p:sp>
    </p:spTree>
    <p:extLst>
      <p:ext uri="{BB962C8B-B14F-4D97-AF65-F5344CB8AC3E}">
        <p14:creationId xmlns:p14="http://schemas.microsoft.com/office/powerpoint/2010/main" val="575802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62F2949D-9666-DB1F-62EA-752B75D56C86}"/>
              </a:ext>
            </a:extLst>
          </p:cNvPr>
          <p:cNvSpPr txBox="1"/>
          <p:nvPr/>
        </p:nvSpPr>
        <p:spPr>
          <a:xfrm>
            <a:off x="309046" y="580846"/>
            <a:ext cx="8314682" cy="461665"/>
          </a:xfrm>
          <a:prstGeom prst="rect">
            <a:avLst/>
          </a:prstGeom>
          <a:noFill/>
        </p:spPr>
        <p:txBody>
          <a:bodyPr wrap="square">
            <a:spAutoFit/>
          </a:bodyPr>
          <a:lstStyle/>
          <a:p>
            <a:pPr algn="l"/>
            <a:r>
              <a:rPr lang="en-US" sz="2400" b="1" i="0" u="none" strike="noStrike" baseline="0" dirty="0">
                <a:solidFill>
                  <a:srgbClr val="FF0000"/>
                </a:solidFill>
                <a:latin typeface="FranklinGothic-DemiCnd"/>
              </a:rPr>
              <a:t>Tutorial</a:t>
            </a:r>
            <a:endParaRPr lang="en-IN" sz="2000" dirty="0"/>
          </a:p>
        </p:txBody>
      </p:sp>
      <p:sp>
        <p:nvSpPr>
          <p:cNvPr id="2" name="TextBox 1">
            <a:extLst>
              <a:ext uri="{FF2B5EF4-FFF2-40B4-BE49-F238E27FC236}">
                <a16:creationId xmlns:a16="http://schemas.microsoft.com/office/drawing/2014/main" id="{E8B0E4B4-038D-4238-92B9-17BB7A6C57EE}"/>
              </a:ext>
            </a:extLst>
          </p:cNvPr>
          <p:cNvSpPr txBox="1"/>
          <p:nvPr/>
        </p:nvSpPr>
        <p:spPr>
          <a:xfrm>
            <a:off x="769905" y="1700775"/>
            <a:ext cx="7335355" cy="646331"/>
          </a:xfrm>
          <a:prstGeom prst="rect">
            <a:avLst/>
          </a:prstGeom>
          <a:noFill/>
        </p:spPr>
        <p:txBody>
          <a:bodyPr wrap="square" rtlCol="0">
            <a:spAutoFit/>
          </a:bodyPr>
          <a:lstStyle/>
          <a:p>
            <a:r>
              <a:rPr lang="en-US" dirty="0"/>
              <a:t>Create a generic class namely Pair with </a:t>
            </a:r>
            <a:r>
              <a:rPr lang="en-US"/>
              <a:t>2 members. </a:t>
            </a:r>
            <a:r>
              <a:rPr lang="en-US" dirty="0"/>
              <a:t>Write a java programs  to  check the two objects of Pairs are equal or not.</a:t>
            </a:r>
            <a:endParaRPr lang="en-IN" dirty="0"/>
          </a:p>
        </p:txBody>
      </p:sp>
    </p:spTree>
    <p:extLst>
      <p:ext uri="{BB962C8B-B14F-4D97-AF65-F5344CB8AC3E}">
        <p14:creationId xmlns:p14="http://schemas.microsoft.com/office/powerpoint/2010/main" val="39716305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506D8A3B-9BB7-DAC8-3706-C315389D98B2}"/>
              </a:ext>
            </a:extLst>
          </p:cNvPr>
          <p:cNvSpPr txBox="1"/>
          <p:nvPr/>
        </p:nvSpPr>
        <p:spPr>
          <a:xfrm>
            <a:off x="385855" y="457520"/>
            <a:ext cx="8410695" cy="5786199"/>
          </a:xfrm>
          <a:prstGeom prst="rect">
            <a:avLst/>
          </a:prstGeom>
          <a:noFill/>
        </p:spPr>
        <p:txBody>
          <a:bodyPr wrap="square">
            <a:spAutoFit/>
          </a:bodyPr>
          <a:lstStyle/>
          <a:p>
            <a:pPr algn="l"/>
            <a:r>
              <a:rPr lang="en-IN" b="1" i="0" u="none" strike="noStrike" baseline="0" dirty="0">
                <a:solidFill>
                  <a:srgbClr val="C00000"/>
                </a:solidFill>
                <a:latin typeface="FranklinGothic-DemiCnd"/>
              </a:rPr>
              <a:t>The Comparable Interface</a:t>
            </a:r>
          </a:p>
          <a:p>
            <a:pPr algn="just"/>
            <a:r>
              <a:rPr lang="en-US" sz="1600" b="0" i="0" u="none" strike="noStrike" baseline="0" dirty="0">
                <a:latin typeface="Palatino-Roman"/>
              </a:rPr>
              <a:t>classes </a:t>
            </a:r>
            <a:r>
              <a:rPr lang="en-US" sz="1600" b="0" i="0" u="none" strike="noStrike" baseline="0" dirty="0" err="1">
                <a:latin typeface="Palatino-Roman"/>
              </a:rPr>
              <a:t>thatimplement</a:t>
            </a:r>
            <a:r>
              <a:rPr lang="en-US" sz="1600" b="0" i="0" u="none" strike="noStrike" baseline="0" dirty="0">
                <a:latin typeface="Palatino-Roman"/>
              </a:rPr>
              <a:t> </a:t>
            </a:r>
            <a:r>
              <a:rPr lang="en-US" sz="1600" b="1" i="0" u="none" strike="noStrike" baseline="0" dirty="0">
                <a:latin typeface="Palatino-Bold"/>
              </a:rPr>
              <a:t>Comparable </a:t>
            </a:r>
            <a:r>
              <a:rPr lang="en-US" sz="1600" b="0" i="0" u="none" strike="noStrike" baseline="0" dirty="0">
                <a:latin typeface="Palatino-Roman"/>
              </a:rPr>
              <a:t>contain objects that can be compared in some meaningful manner.</a:t>
            </a:r>
          </a:p>
          <a:p>
            <a:pPr algn="l"/>
            <a:r>
              <a:rPr lang="en-US" sz="1600" b="0" i="0" u="none" strike="noStrike" baseline="0" dirty="0">
                <a:latin typeface="Palatino-Roman"/>
              </a:rPr>
              <a:t>Comparable is generic and is declared like this:</a:t>
            </a:r>
          </a:p>
          <a:p>
            <a:pPr algn="l"/>
            <a:endParaRPr lang="en-US" sz="1600" b="0" i="0" u="none" strike="noStrike" baseline="0" dirty="0">
              <a:latin typeface="Palatino-Roman"/>
            </a:endParaRPr>
          </a:p>
          <a:p>
            <a:pPr algn="l"/>
            <a:r>
              <a:rPr lang="en-IN" sz="1600" b="0" i="0" u="none" strike="noStrike" baseline="0" dirty="0">
                <a:latin typeface="Palatino-Roman"/>
              </a:rPr>
              <a:t>interface Comparable&lt;T&gt;</a:t>
            </a:r>
          </a:p>
          <a:p>
            <a:pPr algn="l"/>
            <a:r>
              <a:rPr lang="en-US" sz="1600" b="0" i="0" u="none" strike="noStrike" baseline="0" dirty="0">
                <a:latin typeface="Palatino-Roman"/>
              </a:rPr>
              <a:t>Here, </a:t>
            </a:r>
            <a:r>
              <a:rPr lang="en-US" sz="1600" b="1" i="0" u="none" strike="noStrike" baseline="0" dirty="0">
                <a:latin typeface="Palatino-Bold"/>
              </a:rPr>
              <a:t>T </a:t>
            </a:r>
            <a:r>
              <a:rPr lang="en-US" sz="1600" b="0" i="0" u="none" strike="noStrike" baseline="0" dirty="0">
                <a:latin typeface="Palatino-Roman"/>
              </a:rPr>
              <a:t>represents the type of objects being compared.</a:t>
            </a:r>
          </a:p>
          <a:p>
            <a:pPr algn="l"/>
            <a:endParaRPr lang="en-US" sz="1600" b="0" i="0" u="none" strike="noStrike" baseline="0" dirty="0">
              <a:latin typeface="Palatino-Roman"/>
            </a:endParaRPr>
          </a:p>
          <a:p>
            <a:pPr algn="l"/>
            <a:r>
              <a:rPr lang="en-US" sz="1600" b="0" i="0" u="none" strike="noStrike" baseline="0" dirty="0">
                <a:latin typeface="Palatino-Roman"/>
              </a:rPr>
              <a:t>The </a:t>
            </a:r>
            <a:r>
              <a:rPr lang="en-US" sz="1600" b="1" i="0" u="none" strike="noStrike" baseline="0" dirty="0">
                <a:latin typeface="Palatino-Bold"/>
              </a:rPr>
              <a:t>Comparable </a:t>
            </a:r>
            <a:r>
              <a:rPr lang="en-US" sz="1600" b="0" i="0" u="none" strike="noStrike" baseline="0" dirty="0">
                <a:latin typeface="Palatino-Roman"/>
              </a:rPr>
              <a:t>interface declares one method. </a:t>
            </a:r>
          </a:p>
          <a:p>
            <a:pPr algn="l"/>
            <a:endParaRPr lang="en-US" sz="1600" dirty="0">
              <a:latin typeface="Palatino-Roman"/>
            </a:endParaRPr>
          </a:p>
          <a:p>
            <a:pPr algn="l"/>
            <a:r>
              <a:rPr lang="en-IN" b="0" i="0" u="none" strike="noStrike" baseline="0" dirty="0">
                <a:latin typeface="Palatino-Roman"/>
              </a:rPr>
              <a:t>int </a:t>
            </a:r>
            <a:r>
              <a:rPr lang="en-IN" b="0" i="0" u="none" strike="noStrike" baseline="0" dirty="0" err="1">
                <a:latin typeface="Palatino-Roman"/>
              </a:rPr>
              <a:t>compareTo</a:t>
            </a:r>
            <a:r>
              <a:rPr lang="en-IN" b="0" i="0" u="none" strike="noStrike" baseline="0" dirty="0">
                <a:latin typeface="Palatino-Roman"/>
              </a:rPr>
              <a:t>(T </a:t>
            </a:r>
            <a:r>
              <a:rPr lang="en-IN" b="0" i="1" u="none" strike="noStrike" baseline="0" dirty="0" err="1">
                <a:latin typeface="Palatino-Italic"/>
              </a:rPr>
              <a:t>obj</a:t>
            </a:r>
            <a:r>
              <a:rPr lang="en-IN" b="0" i="0" u="none" strike="noStrike" baseline="0" dirty="0">
                <a:latin typeface="Palatino-Roman"/>
              </a:rPr>
              <a:t>)</a:t>
            </a:r>
          </a:p>
          <a:p>
            <a:pPr algn="l"/>
            <a:endParaRPr lang="en-IN" sz="1600" dirty="0">
              <a:latin typeface="Palatino-Roman"/>
            </a:endParaRPr>
          </a:p>
          <a:p>
            <a:pPr algn="l"/>
            <a:endParaRPr lang="en-IN" sz="1600" dirty="0">
              <a:latin typeface="Palatino-Roman"/>
            </a:endParaRPr>
          </a:p>
          <a:p>
            <a:pPr algn="l"/>
            <a:r>
              <a:rPr lang="en-US" sz="1800" b="0" i="0" u="none" strike="noStrike" baseline="0" dirty="0">
                <a:latin typeface="Palatino-Roman"/>
              </a:rPr>
              <a:t>Returns 0, negative or positive</a:t>
            </a:r>
            <a:endParaRPr lang="en-IN" sz="1800" b="0" i="0" u="none" strike="noStrike" baseline="0" dirty="0">
              <a:latin typeface="Palatino-Roman"/>
            </a:endParaRPr>
          </a:p>
          <a:p>
            <a:pPr algn="l"/>
            <a:endParaRPr lang="en-IN" sz="1800" b="0" i="0" u="none" strike="noStrike" baseline="0" dirty="0">
              <a:latin typeface="Palatino-Roman"/>
            </a:endParaRPr>
          </a:p>
          <a:p>
            <a:pPr algn="l"/>
            <a:r>
              <a:rPr lang="en-US" sz="1800" b="0" i="0" u="none" strike="noStrike" baseline="0" dirty="0">
                <a:latin typeface="Palatino-Roman"/>
              </a:rPr>
              <a:t>This interface is implemented by several of the classes.</a:t>
            </a:r>
          </a:p>
          <a:p>
            <a:pPr algn="l"/>
            <a:r>
              <a:rPr lang="en-US" sz="1800" b="0" i="0" u="none" strike="noStrike" baseline="0" dirty="0">
                <a:latin typeface="Palatino-Roman"/>
              </a:rPr>
              <a:t>Specifically, the </a:t>
            </a:r>
            <a:r>
              <a:rPr lang="en-US" sz="1800" b="1" i="0" u="none" strike="noStrike" baseline="0" dirty="0">
                <a:latin typeface="Palatino-Bold"/>
              </a:rPr>
              <a:t>Byte</a:t>
            </a:r>
            <a:r>
              <a:rPr lang="en-US" sz="1800" b="0" i="0" u="none" strike="noStrike" baseline="0" dirty="0">
                <a:latin typeface="Palatino-Roman"/>
              </a:rPr>
              <a:t>, </a:t>
            </a:r>
            <a:r>
              <a:rPr lang="en-US" sz="1800" b="1" i="0" u="none" strike="noStrike" baseline="0" dirty="0">
                <a:latin typeface="Palatino-Bold"/>
              </a:rPr>
              <a:t>Character</a:t>
            </a:r>
            <a:r>
              <a:rPr lang="en-US" sz="1800" b="0" i="0" u="none" strike="noStrike" baseline="0" dirty="0">
                <a:latin typeface="Palatino-Roman"/>
              </a:rPr>
              <a:t>, </a:t>
            </a:r>
            <a:r>
              <a:rPr lang="en-US" sz="1800" b="1" i="0" u="none" strike="noStrike" baseline="0" dirty="0">
                <a:latin typeface="Palatino-Bold"/>
              </a:rPr>
              <a:t>Double</a:t>
            </a:r>
            <a:r>
              <a:rPr lang="en-US" sz="1800" b="0" i="0" u="none" strike="noStrike" baseline="0" dirty="0">
                <a:latin typeface="Palatino-Roman"/>
              </a:rPr>
              <a:t>, </a:t>
            </a:r>
            <a:r>
              <a:rPr lang="en-US" sz="1800" b="1" i="0" u="none" strike="noStrike" baseline="0" dirty="0">
                <a:latin typeface="Palatino-Bold"/>
              </a:rPr>
              <a:t>Float</a:t>
            </a:r>
            <a:r>
              <a:rPr lang="en-US" sz="1800" b="0" i="0" u="none" strike="noStrike" baseline="0" dirty="0">
                <a:latin typeface="Palatino-Roman"/>
              </a:rPr>
              <a:t>, </a:t>
            </a:r>
            <a:r>
              <a:rPr lang="en-US" sz="1800" b="1" i="0" u="none" strike="noStrike" baseline="0" dirty="0">
                <a:latin typeface="Palatino-Bold"/>
              </a:rPr>
              <a:t>Long</a:t>
            </a:r>
            <a:r>
              <a:rPr lang="en-US" sz="1800" b="0" i="0" u="none" strike="noStrike" baseline="0" dirty="0">
                <a:latin typeface="Palatino-Roman"/>
              </a:rPr>
              <a:t>, </a:t>
            </a:r>
            <a:r>
              <a:rPr lang="en-US" sz="1800" b="1" i="0" u="none" strike="noStrike" baseline="0" dirty="0">
                <a:latin typeface="Palatino-Bold"/>
              </a:rPr>
              <a:t>Short</a:t>
            </a:r>
            <a:r>
              <a:rPr lang="en-US" sz="1800" b="0" i="0" u="none" strike="noStrike" baseline="0" dirty="0">
                <a:latin typeface="Palatino-Roman"/>
              </a:rPr>
              <a:t>, </a:t>
            </a:r>
            <a:r>
              <a:rPr lang="en-US" sz="1800" b="1" i="0" u="none" strike="noStrike" baseline="0" dirty="0">
                <a:latin typeface="Palatino-Bold"/>
              </a:rPr>
              <a:t>String</a:t>
            </a:r>
            <a:r>
              <a:rPr lang="en-US" sz="1800" b="0" i="0" u="none" strike="noStrike" baseline="0" dirty="0">
                <a:latin typeface="Palatino-Roman"/>
              </a:rPr>
              <a:t>, and </a:t>
            </a:r>
            <a:r>
              <a:rPr lang="en-US" sz="1800" b="1" i="0" u="none" strike="noStrike" baseline="0" dirty="0">
                <a:latin typeface="Palatino-Bold"/>
              </a:rPr>
              <a:t>Integer </a:t>
            </a:r>
            <a:r>
              <a:rPr lang="en-US" sz="1800" b="0" i="0" u="none" strike="noStrike" baseline="0" dirty="0" err="1">
                <a:latin typeface="Palatino-Roman"/>
              </a:rPr>
              <a:t>classesdefine</a:t>
            </a:r>
            <a:r>
              <a:rPr lang="en-US" sz="1800" b="0" i="0" u="none" strike="noStrike" baseline="0" dirty="0">
                <a:latin typeface="Palatino-Roman"/>
              </a:rPr>
              <a:t> a </a:t>
            </a:r>
            <a:r>
              <a:rPr lang="en-US" sz="1800" b="1" i="0" u="none" strike="noStrike" baseline="0" dirty="0" err="1">
                <a:latin typeface="Palatino-Bold"/>
              </a:rPr>
              <a:t>compareTo</a:t>
            </a:r>
            <a:r>
              <a:rPr lang="en-US" sz="1800" b="1" i="0" u="none" strike="noStrike" baseline="0" dirty="0">
                <a:latin typeface="Palatino-Bold"/>
              </a:rPr>
              <a:t>( ) </a:t>
            </a:r>
            <a:r>
              <a:rPr lang="en-US" sz="1800" b="0" i="0" u="none" strike="noStrike" baseline="0" dirty="0">
                <a:latin typeface="Palatino-Roman"/>
              </a:rPr>
              <a:t>method.</a:t>
            </a:r>
          </a:p>
          <a:p>
            <a:pPr algn="l"/>
            <a:endParaRPr lang="en-US" dirty="0">
              <a:latin typeface="Palatino-Roman"/>
            </a:endParaRPr>
          </a:p>
          <a:p>
            <a:pPr algn="l"/>
            <a:r>
              <a:rPr lang="en-US" sz="1800" b="0" i="0" u="none" strike="noStrike" baseline="0" dirty="0">
                <a:latin typeface="Palatino-Roman"/>
              </a:rPr>
              <a:t>Objects that implement</a:t>
            </a:r>
          </a:p>
          <a:p>
            <a:pPr algn="l"/>
            <a:r>
              <a:rPr lang="en-US" sz="1800" b="0" i="0" u="none" strike="noStrike" baseline="0" dirty="0">
                <a:latin typeface="Palatino-Roman"/>
              </a:rPr>
              <a:t>this interface can be used in various collections.</a:t>
            </a:r>
            <a:endParaRPr lang="en-IN" sz="1600" dirty="0"/>
          </a:p>
        </p:txBody>
      </p:sp>
    </p:spTree>
    <p:extLst>
      <p:ext uri="{BB962C8B-B14F-4D97-AF65-F5344CB8AC3E}">
        <p14:creationId xmlns:p14="http://schemas.microsoft.com/office/powerpoint/2010/main" val="3476828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8F7E4FCB1512840BAD4581AEB2993C3" ma:contentTypeVersion="3" ma:contentTypeDescription="Create a new document." ma:contentTypeScope="" ma:versionID="324425fce7a942132883d4f789ce0353">
  <xsd:schema xmlns:xsd="http://www.w3.org/2001/XMLSchema" xmlns:xs="http://www.w3.org/2001/XMLSchema" xmlns:p="http://schemas.microsoft.com/office/2006/metadata/properties" xmlns:ns2="e8abe1e0-1045-4bfa-861e-7a9dbaef2821" targetNamespace="http://schemas.microsoft.com/office/2006/metadata/properties" ma:root="true" ma:fieldsID="38e4dca0b9b8fb153f01297bae77524f" ns2:_="">
    <xsd:import namespace="e8abe1e0-1045-4bfa-861e-7a9dbaef282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abe1e0-1045-4bfa-861e-7a9dbaef28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0FC044D-4988-4277-B463-EF551C5586A5}">
  <ds:schemaRefs>
    <ds:schemaRef ds:uri="http://schemas.microsoft.com/sharepoint/v3/contenttype/forms"/>
  </ds:schemaRefs>
</ds:datastoreItem>
</file>

<file path=customXml/itemProps2.xml><?xml version="1.0" encoding="utf-8"?>
<ds:datastoreItem xmlns:ds="http://schemas.openxmlformats.org/officeDocument/2006/customXml" ds:itemID="{DAB1E47D-6129-40ED-98CC-A292B837BC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abe1e0-1045-4bfa-861e-7a9dbaef28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BD05DA-FCB5-43C6-8F6E-18F224C58E4C}">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generics-RA-23</Template>
  <TotalTime>18172</TotalTime>
  <Words>2928</Words>
  <Application>Microsoft Office PowerPoint</Application>
  <PresentationFormat>On-screen Show (4:3)</PresentationFormat>
  <Paragraphs>388</Paragraphs>
  <Slides>28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Aptos</vt:lpstr>
      <vt:lpstr>Arial</vt:lpstr>
      <vt:lpstr>Calibri</vt:lpstr>
      <vt:lpstr>Calibri Light</vt:lpstr>
      <vt:lpstr>Courier</vt:lpstr>
      <vt:lpstr>FranklinGothic-DemiCnd</vt:lpstr>
      <vt:lpstr>Palatino-Bold</vt:lpstr>
      <vt:lpstr>Palatino-Italic</vt:lpstr>
      <vt:lpstr>Palatino-Roman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SJEC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DEMIAN</dc:creator>
  <cp:lastModifiedBy>Bhukya Padma [MAHE-MIT]</cp:lastModifiedBy>
  <cp:revision>2037</cp:revision>
  <dcterms:created xsi:type="dcterms:W3CDTF">2009-06-28T04:21:19Z</dcterms:created>
  <dcterms:modified xsi:type="dcterms:W3CDTF">2026-02-27T01:57:41Z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0x010100C8F7E4FCB1512840BAD4581AEB2993C3</vt:lpwstr>
  </property>
</Properties>
</file>