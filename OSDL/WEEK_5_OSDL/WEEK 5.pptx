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58" r:id="rId14"/>
    <p:sldId id="269" r:id="rId15"/>
    <p:sldId id="270" r:id="rId16"/>
    <p:sldId id="271" r:id="rId17"/>
    <p:sldId id="272" r:id="rId18"/>
    <p:sldId id="276" r:id="rId19"/>
    <p:sldId id="275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3ACD-ADF0-4E4A-BDD5-59DE3AE61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43875-5702-43AB-974F-05EB067DA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60E4-4B62-4FB3-88FB-49ADD9FF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5B62-A8FC-44DF-9CFD-D80DD138987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6D38E-128F-471E-8E29-8A639D34C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5FAD3-EA44-469C-921C-E317F414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E84E-F8D6-4D80-A80A-5B00523D2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991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FE72-21DC-4A23-87BE-EF726068C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7E76A-33A8-41DA-A95E-521A152A1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7687C-3224-4878-B093-14A862DE8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5B62-A8FC-44DF-9CFD-D80DD138987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547EA-7740-4BC5-916D-03C7DD32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EBF9B-B18C-44EF-9404-D1B1E80F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E84E-F8D6-4D80-A80A-5B00523D2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06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D79B-D751-4B15-BBFF-E964A2DF6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A2D14-6523-423E-AC3E-01AAEA40C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6DC37-3B78-4668-A1AB-58001D556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5B62-A8FC-44DF-9CFD-D80DD138987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A5DF5-ED4C-4E4F-8D7D-5E14757F5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87426-8184-4BA6-8FA3-BBBC4768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E84E-F8D6-4D80-A80A-5B00523D2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612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15908-915A-4BE7-B644-FBE2E0D6F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2EEE2-26EB-4A1E-BACE-D50187FF7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FDDD2-2A5E-4ADA-A375-48F260713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3C1F4-4EA3-423A-B761-29924330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5B62-A8FC-44DF-9CFD-D80DD138987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8C87B-CD8B-4D82-B286-A8C3E2B2E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514C2-491B-4278-A796-FC7004967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E84E-F8D6-4D80-A80A-5B00523D2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62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7879-FE8A-4E31-B8E2-0FC5481B9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C7298-8984-438D-B830-B171EEB37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EEEF1-FE0C-4FED-A7DF-453C44A8C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A2DF6-A6C4-44F3-9021-EF170709F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1FFA0A-A782-4921-B874-512DFA15B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D08886-0922-4252-9D7B-328B2EF8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5B62-A8FC-44DF-9CFD-D80DD138987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B4F7F3-1B2A-4950-8076-2862043F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5884AB-3123-4195-9071-C4726206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E84E-F8D6-4D80-A80A-5B00523D2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98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10E8-5C62-498A-A2DD-EAF6A8CF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B24CC-6D3E-450F-A443-0B171F47E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5B62-A8FC-44DF-9CFD-D80DD138987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3C570-479C-4194-B7B7-1852DDD77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F883A-7CAC-4F81-B8E9-320D164D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E84E-F8D6-4D80-A80A-5B00523D2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75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69FFE-17B9-4FE8-B211-449CF94C0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5B62-A8FC-44DF-9CFD-D80DD138987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2660C-7525-49F8-B201-83D3129CC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2755C-60FC-4B97-BD46-526F58F7A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E84E-F8D6-4D80-A80A-5B00523D2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530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7D54A-1A6F-4FCF-A68C-EFC00B98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E7725-1231-4177-B6DC-5A138481B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4ADEA-36F8-4339-BCD2-D6764E64C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DF925-9F35-4634-AFFD-AA442D4B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5B62-A8FC-44DF-9CFD-D80DD138987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44794-555E-4EDF-B7AA-819C9EF8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A12F5-0B4C-4852-BBDA-DA70E3843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E84E-F8D6-4D80-A80A-5B00523D2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8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7A12-2952-44CE-BC0A-9C5224E90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AB305F-1296-4024-84B4-8FC59054D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038D0-B886-4ADA-A1F1-FA695818F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65F4C-434B-4FF1-B69F-5E25F9979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5B62-A8FC-44DF-9CFD-D80DD138987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C6012-4916-4C56-B2B7-5668772E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438A0-2F1B-442A-BFD9-864ED654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E84E-F8D6-4D80-A80A-5B00523D2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05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57D7-0A60-4513-B7CE-B5A601622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22C0D-7BB8-44FA-B09C-C7B2C31E9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A42ED-101D-4BEE-968F-8E48FA120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5B62-A8FC-44DF-9CFD-D80DD138987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0E444-9775-4F37-A41C-F2C5A3F7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FE0B7-D31E-4A8F-A706-06E5A713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E84E-F8D6-4D80-A80A-5B00523D2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24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A2CB6F-1885-4AF8-80DD-F7470A4204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828BA-448D-41E5-94B8-1DC4D5B24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EC626-85C4-4506-AD44-3A6D583D6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5B62-A8FC-44DF-9CFD-D80DD138987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4C632-D5F7-4311-B10A-B443AA2F6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486FB-8BC5-4A4D-923E-3CC8220C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E84E-F8D6-4D80-A80A-5B00523D2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1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533193-08FA-479A-BEC9-6B6C338E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86B37-1A58-46F2-82B8-FDC186D1D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3CC55-01F2-4B4F-BACE-F8E63DA8B8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35B62-A8FC-44DF-9CFD-D80DD138987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15739-0893-472C-9D08-D640D007E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06DF-1E04-48A9-8DA5-9B9962273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5E84E-F8D6-4D80-A80A-5B00523D2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81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41711-F297-42C5-9990-30EF2C2B42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WEEK 5: </a:t>
            </a:r>
            <a:r>
              <a:rPr lang="en-US" b="1" dirty="0" err="1">
                <a:solidFill>
                  <a:srgbClr val="C00000"/>
                </a:solidFill>
              </a:rPr>
              <a:t>Input/Output</a:t>
            </a:r>
            <a:r>
              <a:rPr lang="en-US" b="1" dirty="0">
                <a:solidFill>
                  <a:srgbClr val="C00000"/>
                </a:solidFill>
              </a:rPr>
              <a:t> Streams – Byte Streams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b="1" dirty="0">
                <a:solidFill>
                  <a:srgbClr val="C00000"/>
                </a:solidFill>
              </a:rPr>
              <a:t>, Character Streams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BEB69-A067-4194-9B4E-977010D34E98}"/>
              </a:ext>
            </a:extLst>
          </p:cNvPr>
          <p:cNvSpPr/>
          <p:nvPr/>
        </p:nvSpPr>
        <p:spPr>
          <a:xfrm>
            <a:off x="235670" y="4138875"/>
            <a:ext cx="11651529" cy="119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kern="100" dirty="0">
                <a:solidFill>
                  <a:srgbClr val="C00000"/>
                </a:solidFill>
                <a:latin typeface="Aptos"/>
                <a:ea typeface="Aptos"/>
                <a:cs typeface="Times New Roman" panose="02020603050405020304" pitchFamily="18" charset="0"/>
              </a:rPr>
              <a:t>Objective: To perform file operations using byte-oriented I/O streams and character oriented I/O Streams</a:t>
            </a:r>
            <a:endParaRPr lang="en-IN" sz="3200" kern="100" dirty="0">
              <a:solidFill>
                <a:srgbClr val="C00000"/>
              </a:solidFill>
              <a:latin typeface="Aptos"/>
              <a:ea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585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DC8AD3-5885-4AE6-983B-ABF9E2B88520}"/>
              </a:ext>
            </a:extLst>
          </p:cNvPr>
          <p:cNvSpPr/>
          <p:nvPr/>
        </p:nvSpPr>
        <p:spPr>
          <a:xfrm>
            <a:off x="2425830" y="1280960"/>
            <a:ext cx="8386713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100" dirty="0">
                <a:solidFill>
                  <a:srgbClr val="C00000"/>
                </a:solidFill>
                <a:ea typeface="Aptos"/>
                <a:cs typeface="Times New Roman" panose="02020603050405020304" pitchFamily="18" charset="0"/>
              </a:rPr>
              <a:t>Difference between byte and character stream</a:t>
            </a:r>
            <a:endParaRPr lang="en-IN" sz="3200" kern="100" dirty="0">
              <a:solidFill>
                <a:srgbClr val="C00000"/>
              </a:solidFill>
              <a:ea typeface="Aptos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100" dirty="0">
                <a:solidFill>
                  <a:srgbClr val="C00000"/>
                </a:solidFill>
                <a:ea typeface="Aptos"/>
                <a:cs typeface="Times New Roman" panose="02020603050405020304" pitchFamily="18" charset="0"/>
              </a:rPr>
              <a:t>Reading and writing binary files </a:t>
            </a:r>
            <a:endParaRPr lang="en-IN" sz="3200" b="1" kern="100" dirty="0">
              <a:solidFill>
                <a:srgbClr val="C00000"/>
              </a:solidFill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100" dirty="0" err="1">
                <a:solidFill>
                  <a:srgbClr val="C00000"/>
                </a:solidFill>
                <a:ea typeface="Aptos"/>
                <a:cs typeface="Times New Roman" panose="02020603050405020304" pitchFamily="18" charset="0"/>
              </a:rPr>
              <a:t>FileInputStream</a:t>
            </a:r>
            <a:r>
              <a:rPr lang="en-US" sz="3200" kern="100" dirty="0">
                <a:solidFill>
                  <a:srgbClr val="C00000"/>
                </a:solidFill>
                <a:ea typeface="Aptos"/>
                <a:cs typeface="Times New Roman" panose="02020603050405020304" pitchFamily="18" charset="0"/>
              </a:rPr>
              <a:t> </a:t>
            </a:r>
            <a:endParaRPr lang="en-IN" sz="3200" kern="100" dirty="0">
              <a:solidFill>
                <a:srgbClr val="C00000"/>
              </a:solidFill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100" dirty="0">
                <a:solidFill>
                  <a:srgbClr val="C00000"/>
                </a:solidFill>
                <a:ea typeface="Aptos"/>
                <a:cs typeface="Times New Roman" panose="02020603050405020304" pitchFamily="18" charset="0"/>
              </a:rPr>
              <a:t>FileOutputStream </a:t>
            </a:r>
            <a:endParaRPr lang="en-IN" sz="3200" kern="100" dirty="0">
              <a:solidFill>
                <a:srgbClr val="C00000"/>
              </a:solidFill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100" dirty="0">
                <a:solidFill>
                  <a:srgbClr val="C00000"/>
                </a:solidFill>
                <a:ea typeface="Aptos"/>
                <a:cs typeface="Times New Roman" panose="02020603050405020304" pitchFamily="18" charset="0"/>
              </a:rPr>
              <a:t>Reading and writing text files </a:t>
            </a:r>
            <a:endParaRPr lang="en-IN" sz="3200" b="1" kern="100" dirty="0">
              <a:solidFill>
                <a:srgbClr val="C00000"/>
              </a:solidFill>
              <a:ea typeface="Aptos"/>
              <a:cs typeface="Times New Roman" panose="02020603050405020304" pitchFamily="18" charset="0"/>
            </a:endParaRPr>
          </a:p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 err="1">
                <a:solidFill>
                  <a:srgbClr val="C00000"/>
                </a:solidFill>
                <a:ea typeface="Times New Roman" panose="02020603050405020304" pitchFamily="18" charset="0"/>
              </a:rPr>
              <a:t>FileReader</a:t>
            </a:r>
            <a:r>
              <a:rPr lang="en-US" sz="3200" dirty="0">
                <a:solidFill>
                  <a:srgbClr val="C00000"/>
                </a:solidFill>
                <a:ea typeface="Times New Roman" panose="02020603050405020304" pitchFamily="18" charset="0"/>
              </a:rPr>
              <a:t> </a:t>
            </a:r>
            <a:endParaRPr lang="en-IN" sz="3200" dirty="0">
              <a:solidFill>
                <a:srgbClr val="C00000"/>
              </a:solidFill>
              <a:ea typeface="Times New Roman" panose="02020603050405020304" pitchFamily="18" charset="0"/>
            </a:endParaRPr>
          </a:p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 err="1">
                <a:solidFill>
                  <a:srgbClr val="C00000"/>
                </a:solidFill>
                <a:ea typeface="Times New Roman" panose="02020603050405020304" pitchFamily="18" charset="0"/>
              </a:rPr>
              <a:t>FileWriter</a:t>
            </a:r>
            <a:r>
              <a:rPr lang="en-US" sz="3200" dirty="0">
                <a:solidFill>
                  <a:srgbClr val="C00000"/>
                </a:solidFill>
                <a:ea typeface="Times New Roman" panose="02020603050405020304" pitchFamily="18" charset="0"/>
              </a:rPr>
              <a:t> </a:t>
            </a:r>
            <a:endParaRPr lang="en-IN" sz="3200" dirty="0">
              <a:solidFill>
                <a:srgbClr val="C00000"/>
              </a:solidFill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94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F2DA-180E-4169-A9B2-42AE3BCA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2" y="273377"/>
            <a:ext cx="10515600" cy="502911"/>
          </a:xfrm>
        </p:spPr>
        <p:txBody>
          <a:bodyPr>
            <a:normAutofit fontScale="90000"/>
          </a:bodyPr>
          <a:lstStyle/>
          <a:p>
            <a:r>
              <a:rPr lang="en-US" b="1" kern="100" dirty="0">
                <a:solidFill>
                  <a:srgbClr val="C00000"/>
                </a:solidFill>
                <a:ea typeface="Aptos"/>
                <a:cs typeface="Times New Roman" panose="02020603050405020304" pitchFamily="18" charset="0"/>
              </a:rPr>
              <a:t>Byte stream Vs Character stream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47A323-714C-476F-8195-0ECBA02A2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777" y="1171575"/>
            <a:ext cx="9794450" cy="491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36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F2DA-180E-4169-A9B2-42AE3BCA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2" y="273377"/>
            <a:ext cx="10515600" cy="502911"/>
          </a:xfrm>
        </p:spPr>
        <p:txBody>
          <a:bodyPr>
            <a:normAutofit fontScale="90000"/>
          </a:bodyPr>
          <a:lstStyle/>
          <a:p>
            <a:r>
              <a:rPr lang="en-US" b="1" kern="100" dirty="0">
                <a:solidFill>
                  <a:srgbClr val="C00000"/>
                </a:solidFill>
                <a:ea typeface="Aptos"/>
                <a:cs typeface="Times New Roman" panose="02020603050405020304" pitchFamily="18" charset="0"/>
              </a:rPr>
              <a:t>Byte stream Vs Character stream</a:t>
            </a: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0DD85B-4300-4EBA-9E9C-037C92705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56090"/>
              </p:ext>
            </p:extLst>
          </p:nvPr>
        </p:nvGraphicFramePr>
        <p:xfrm>
          <a:off x="838200" y="1376313"/>
          <a:ext cx="10515600" cy="40423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939572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980694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40218754"/>
                    </a:ext>
                  </a:extLst>
                </a:gridCol>
              </a:tblGrid>
              <a:tr h="521587">
                <a:tc>
                  <a:txBody>
                    <a:bodyPr/>
                    <a:lstStyle/>
                    <a:p>
                      <a:r>
                        <a:rPr lang="en-IN" sz="2400" b="1" dirty="0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Byte 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Character 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377481"/>
                  </a:ext>
                </a:extLst>
              </a:tr>
              <a:tr h="521587">
                <a:tc>
                  <a:txBody>
                    <a:bodyPr/>
                    <a:lstStyle/>
                    <a:p>
                      <a:r>
                        <a:rPr lang="en-IN" b="1"/>
                        <a:t>Data handled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Raw </a:t>
                      </a:r>
                      <a:r>
                        <a:rPr lang="en-IN" b="1"/>
                        <a:t>bytes (8-bit)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Characters (16-bit Unicode)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424214"/>
                  </a:ext>
                </a:extLst>
              </a:tr>
              <a:tr h="912778">
                <a:tc>
                  <a:txBody>
                    <a:bodyPr/>
                    <a:lstStyle/>
                    <a:p>
                      <a:r>
                        <a:rPr lang="en-IN" b="1"/>
                        <a:t>Used for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Binary data (images, audio, video, PDFs)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Text data (files with characters)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567952"/>
                  </a:ext>
                </a:extLst>
              </a:tr>
              <a:tr h="521587">
                <a:tc>
                  <a:txBody>
                    <a:bodyPr/>
                    <a:lstStyle/>
                    <a:p>
                      <a:r>
                        <a:rPr lang="en-IN" b="1"/>
                        <a:t>Base classes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InputStream, OutputStream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Reader, Writer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04976"/>
                  </a:ext>
                </a:extLst>
              </a:tr>
              <a:tr h="521587">
                <a:tc>
                  <a:txBody>
                    <a:bodyPr/>
                    <a:lstStyle/>
                    <a:p>
                      <a:r>
                        <a:rPr lang="en-IN" b="1"/>
                        <a:t>Encoding support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 automatic encoding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 Handles character encoding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777080"/>
                  </a:ext>
                </a:extLst>
              </a:tr>
              <a:tr h="521587">
                <a:tc>
                  <a:txBody>
                    <a:bodyPr/>
                    <a:lstStyle/>
                    <a:p>
                      <a:r>
                        <a:rPr lang="en-IN" b="1"/>
                        <a:t>Speed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Faster for binary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Safer for text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203737"/>
                  </a:ext>
                </a:extLst>
              </a:tr>
              <a:tr h="521587">
                <a:tc>
                  <a:txBody>
                    <a:bodyPr/>
                    <a:lstStyle/>
                    <a:p>
                      <a:r>
                        <a:rPr lang="en-IN" b="1"/>
                        <a:t>Example unit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Reads/writes 1 byte at a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Reads/writes 1 character at a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499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83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58AC-67F2-452B-999B-D7450469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402"/>
            <a:ext cx="10515600" cy="7164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Byte stream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676215-2E8C-41DA-AD13-187B273F8A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4250" y="1095211"/>
            <a:ext cx="105156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Byte Stream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</a:rPr>
              <a:t>InputStream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/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</a:rPr>
              <a:t>OutputStream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✔ Used when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data is not text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C00000"/>
                </a:solidFill>
              </a:rPr>
              <a:t>✔ </a:t>
            </a:r>
            <a:r>
              <a:rPr lang="en-US" dirty="0">
                <a:solidFill>
                  <a:srgbClr val="C00000"/>
                </a:solidFill>
              </a:rPr>
              <a:t>Byte streams handle raw binary data and are suitable for images, audio, and other non-text files. 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Common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</a:rPr>
              <a:t>FileInputStream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FileOutputStream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</a:rPr>
              <a:t>BufferedInputStream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</a:rPr>
              <a:t>BufferedOutputStream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059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0992A9-559C-498E-8971-F0B66E1192C8}"/>
              </a:ext>
            </a:extLst>
          </p:cNvPr>
          <p:cNvSpPr/>
          <p:nvPr/>
        </p:nvSpPr>
        <p:spPr>
          <a:xfrm>
            <a:off x="1074655" y="1371215"/>
            <a:ext cx="71737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err="1">
                <a:solidFill>
                  <a:srgbClr val="C00000"/>
                </a:solidFill>
              </a:rPr>
              <a:t>FileInputStream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 err="1">
                <a:solidFill>
                  <a:srgbClr val="C00000"/>
                </a:solidFill>
              </a:rPr>
              <a:t>fis</a:t>
            </a:r>
            <a:r>
              <a:rPr lang="en-IN" sz="2000" dirty="0">
                <a:solidFill>
                  <a:srgbClr val="C00000"/>
                </a:solidFill>
              </a:rPr>
              <a:t> = new </a:t>
            </a:r>
            <a:r>
              <a:rPr lang="en-IN" sz="2000" dirty="0" err="1">
                <a:solidFill>
                  <a:srgbClr val="C00000"/>
                </a:solidFill>
              </a:rPr>
              <a:t>FileInputStream</a:t>
            </a:r>
            <a:r>
              <a:rPr lang="en-IN" sz="2000" dirty="0">
                <a:solidFill>
                  <a:srgbClr val="C00000"/>
                </a:solidFill>
              </a:rPr>
              <a:t>("image.jpg");</a:t>
            </a:r>
          </a:p>
          <a:p>
            <a:r>
              <a:rPr lang="en-IN" sz="2000" dirty="0">
                <a:solidFill>
                  <a:srgbClr val="C00000"/>
                </a:solidFill>
              </a:rPr>
              <a:t>int b;</a:t>
            </a:r>
          </a:p>
          <a:p>
            <a:r>
              <a:rPr lang="en-IN" sz="2000" dirty="0">
                <a:solidFill>
                  <a:srgbClr val="C00000"/>
                </a:solidFill>
              </a:rPr>
              <a:t>while ((b = </a:t>
            </a:r>
            <a:r>
              <a:rPr lang="en-IN" sz="2000" dirty="0" err="1">
                <a:solidFill>
                  <a:srgbClr val="C00000"/>
                </a:solidFill>
              </a:rPr>
              <a:t>fis.read</a:t>
            </a:r>
            <a:r>
              <a:rPr lang="en-IN" sz="2000" dirty="0">
                <a:solidFill>
                  <a:srgbClr val="C00000"/>
                </a:solidFill>
              </a:rPr>
              <a:t>()) != -1) {</a:t>
            </a:r>
          </a:p>
          <a:p>
            <a:r>
              <a:rPr lang="en-IN" sz="2000" dirty="0">
                <a:solidFill>
                  <a:srgbClr val="C00000"/>
                </a:solidFill>
              </a:rPr>
              <a:t>    </a:t>
            </a:r>
            <a:r>
              <a:rPr lang="en-IN" sz="2000" dirty="0" err="1">
                <a:solidFill>
                  <a:srgbClr val="C00000"/>
                </a:solidFill>
              </a:rPr>
              <a:t>System.out.print</a:t>
            </a:r>
            <a:r>
              <a:rPr lang="en-IN" sz="2000" dirty="0">
                <a:solidFill>
                  <a:srgbClr val="C00000"/>
                </a:solidFill>
              </a:rPr>
              <a:t>(b);</a:t>
            </a:r>
          </a:p>
          <a:p>
            <a:r>
              <a:rPr lang="en-IN" sz="2000" dirty="0">
                <a:solidFill>
                  <a:srgbClr val="C00000"/>
                </a:solidFill>
              </a:rPr>
              <a:t>}</a:t>
            </a:r>
          </a:p>
          <a:p>
            <a:r>
              <a:rPr lang="en-IN" sz="2000" dirty="0" err="1">
                <a:solidFill>
                  <a:srgbClr val="C00000"/>
                </a:solidFill>
              </a:rPr>
              <a:t>fis.close</a:t>
            </a:r>
            <a:r>
              <a:rPr lang="en-IN" sz="2000" dirty="0">
                <a:solidFill>
                  <a:srgbClr val="C00000"/>
                </a:solidFill>
              </a:rPr>
              <a:t>();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5834B1-89BE-4DC3-809B-3597F9E818C7}"/>
              </a:ext>
            </a:extLst>
          </p:cNvPr>
          <p:cNvSpPr/>
          <p:nvPr/>
        </p:nvSpPr>
        <p:spPr>
          <a:xfrm>
            <a:off x="945772" y="670816"/>
            <a:ext cx="30566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 err="1">
                <a:solidFill>
                  <a:srgbClr val="C00000"/>
                </a:solidFill>
              </a:rPr>
              <a:t>FileInputStream</a:t>
            </a:r>
            <a:endParaRPr lang="en-US" altLang="en-US" sz="3200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9E2B8F-88EC-42C7-A484-A27E27EB54F3}"/>
              </a:ext>
            </a:extLst>
          </p:cNvPr>
          <p:cNvSpPr/>
          <p:nvPr/>
        </p:nvSpPr>
        <p:spPr>
          <a:xfrm>
            <a:off x="792685" y="3547794"/>
            <a:ext cx="33628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C00000"/>
                </a:solidFill>
              </a:rPr>
              <a:t>FileOutputStream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5F166E-C974-4D14-83AC-A003407FD083}"/>
              </a:ext>
            </a:extLst>
          </p:cNvPr>
          <p:cNvSpPr/>
          <p:nvPr/>
        </p:nvSpPr>
        <p:spPr>
          <a:xfrm>
            <a:off x="700726" y="456345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>
                <a:solidFill>
                  <a:srgbClr val="C00000"/>
                </a:solidFill>
              </a:rPr>
              <a:t>FileOutputStream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 err="1">
                <a:solidFill>
                  <a:srgbClr val="C00000"/>
                </a:solidFill>
              </a:rPr>
              <a:t>fos</a:t>
            </a:r>
            <a:r>
              <a:rPr lang="en-IN" dirty="0">
                <a:solidFill>
                  <a:srgbClr val="C00000"/>
                </a:solidFill>
              </a:rPr>
              <a:t> = new </a:t>
            </a:r>
            <a:r>
              <a:rPr lang="en-IN" dirty="0" err="1">
                <a:solidFill>
                  <a:srgbClr val="C00000"/>
                </a:solidFill>
              </a:rPr>
              <a:t>FileOutputStream</a:t>
            </a:r>
            <a:r>
              <a:rPr lang="en-IN" dirty="0">
                <a:solidFill>
                  <a:srgbClr val="C00000"/>
                </a:solidFill>
              </a:rPr>
              <a:t>("</a:t>
            </a:r>
            <a:r>
              <a:rPr lang="en-IN" dirty="0" err="1">
                <a:solidFill>
                  <a:srgbClr val="C00000"/>
                </a:solidFill>
              </a:rPr>
              <a:t>data.bin</a:t>
            </a:r>
            <a:r>
              <a:rPr lang="en-IN" dirty="0">
                <a:solidFill>
                  <a:srgbClr val="C00000"/>
                </a:solidFill>
              </a:rPr>
              <a:t>");</a:t>
            </a:r>
          </a:p>
          <a:p>
            <a:r>
              <a:rPr lang="en-IN" dirty="0" err="1">
                <a:solidFill>
                  <a:srgbClr val="C00000"/>
                </a:solidFill>
              </a:rPr>
              <a:t>fos.write</a:t>
            </a:r>
            <a:r>
              <a:rPr lang="en-IN" dirty="0">
                <a:solidFill>
                  <a:srgbClr val="C00000"/>
                </a:solidFill>
              </a:rPr>
              <a:t>(65);   // writes byte value</a:t>
            </a:r>
          </a:p>
          <a:p>
            <a:r>
              <a:rPr lang="en-IN" dirty="0" err="1">
                <a:solidFill>
                  <a:srgbClr val="C00000"/>
                </a:solidFill>
              </a:rPr>
              <a:t>fos.close</a:t>
            </a:r>
            <a:r>
              <a:rPr lang="en-IN" dirty="0">
                <a:solidFill>
                  <a:srgbClr val="C00000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94512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FC4B98-DE12-4F70-9BE1-C52C71CDA489}"/>
              </a:ext>
            </a:extLst>
          </p:cNvPr>
          <p:cNvSpPr/>
          <p:nvPr/>
        </p:nvSpPr>
        <p:spPr>
          <a:xfrm>
            <a:off x="1027520" y="323516"/>
            <a:ext cx="9907571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import </a:t>
            </a:r>
            <a:r>
              <a:rPr lang="en-IN" sz="2000" dirty="0" err="1">
                <a:solidFill>
                  <a:srgbClr val="C00000"/>
                </a:solidFill>
              </a:rPr>
              <a:t>java.io.FileOutputStream</a:t>
            </a:r>
            <a:r>
              <a:rPr lang="en-IN" sz="2000" dirty="0">
                <a:solidFill>
                  <a:srgbClr val="C00000"/>
                </a:solidFill>
              </a:rPr>
              <a:t>;</a:t>
            </a:r>
          </a:p>
          <a:p>
            <a:r>
              <a:rPr lang="en-IN" sz="2000" dirty="0">
                <a:solidFill>
                  <a:srgbClr val="C00000"/>
                </a:solidFill>
              </a:rPr>
              <a:t>import </a:t>
            </a:r>
            <a:r>
              <a:rPr lang="en-IN" sz="2000" dirty="0" err="1">
                <a:solidFill>
                  <a:srgbClr val="C00000"/>
                </a:solidFill>
              </a:rPr>
              <a:t>java.io.IOException</a:t>
            </a:r>
            <a:r>
              <a:rPr lang="en-IN" sz="2000" dirty="0">
                <a:solidFill>
                  <a:srgbClr val="C00000"/>
                </a:solidFill>
              </a:rPr>
              <a:t>;</a:t>
            </a:r>
          </a:p>
          <a:p>
            <a:endParaRPr lang="en-IN" sz="2000" dirty="0">
              <a:solidFill>
                <a:srgbClr val="C00000"/>
              </a:solidFill>
            </a:endParaRPr>
          </a:p>
          <a:p>
            <a:r>
              <a:rPr lang="en-IN" sz="2000" dirty="0">
                <a:solidFill>
                  <a:srgbClr val="C00000"/>
                </a:solidFill>
              </a:rPr>
              <a:t>public class </a:t>
            </a:r>
            <a:r>
              <a:rPr lang="en-IN" sz="2000" dirty="0" err="1">
                <a:solidFill>
                  <a:srgbClr val="C00000"/>
                </a:solidFill>
              </a:rPr>
              <a:t>FileOutputExample</a:t>
            </a:r>
            <a:r>
              <a:rPr lang="en-IN" sz="2000" dirty="0">
                <a:solidFill>
                  <a:srgbClr val="C00000"/>
                </a:solidFill>
              </a:rPr>
              <a:t> {</a:t>
            </a:r>
          </a:p>
          <a:p>
            <a:r>
              <a:rPr lang="en-IN" sz="2000" dirty="0">
                <a:solidFill>
                  <a:srgbClr val="C00000"/>
                </a:solidFill>
              </a:rPr>
              <a:t>    public static void main(String[] </a:t>
            </a:r>
            <a:r>
              <a:rPr lang="en-IN" sz="2000" dirty="0" err="1">
                <a:solidFill>
                  <a:srgbClr val="C00000"/>
                </a:solidFill>
              </a:rPr>
              <a:t>args</a:t>
            </a:r>
            <a:r>
              <a:rPr lang="en-IN" sz="2000" dirty="0">
                <a:solidFill>
                  <a:srgbClr val="C00000"/>
                </a:solidFill>
              </a:rPr>
              <a:t>) {</a:t>
            </a:r>
          </a:p>
          <a:p>
            <a:r>
              <a:rPr lang="en-IN" sz="2000" dirty="0">
                <a:solidFill>
                  <a:srgbClr val="C00000"/>
                </a:solidFill>
              </a:rPr>
              <a:t>        try {</a:t>
            </a:r>
          </a:p>
          <a:p>
            <a:r>
              <a:rPr lang="en-IN" sz="2000" dirty="0">
                <a:solidFill>
                  <a:srgbClr val="C00000"/>
                </a:solidFill>
              </a:rPr>
              <a:t>            </a:t>
            </a:r>
            <a:r>
              <a:rPr lang="en-IN" sz="2000" dirty="0" err="1">
                <a:solidFill>
                  <a:srgbClr val="C00000"/>
                </a:solidFill>
              </a:rPr>
              <a:t>FileOutputStream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 err="1">
                <a:solidFill>
                  <a:srgbClr val="C00000"/>
                </a:solidFill>
              </a:rPr>
              <a:t>fos</a:t>
            </a:r>
            <a:r>
              <a:rPr lang="en-IN" sz="2000" dirty="0">
                <a:solidFill>
                  <a:srgbClr val="C00000"/>
                </a:solidFill>
              </a:rPr>
              <a:t> = new </a:t>
            </a:r>
            <a:r>
              <a:rPr lang="en-IN" sz="2000" dirty="0" err="1">
                <a:solidFill>
                  <a:srgbClr val="C00000"/>
                </a:solidFill>
              </a:rPr>
              <a:t>FileOutputStream</a:t>
            </a:r>
            <a:r>
              <a:rPr lang="en-IN" sz="2000" dirty="0">
                <a:solidFill>
                  <a:srgbClr val="C00000"/>
                </a:solidFill>
              </a:rPr>
              <a:t>("output.txt");</a:t>
            </a:r>
          </a:p>
          <a:p>
            <a:endParaRPr lang="en-IN" sz="2000" dirty="0">
              <a:solidFill>
                <a:srgbClr val="C00000"/>
              </a:solidFill>
            </a:endParaRPr>
          </a:p>
          <a:p>
            <a:r>
              <a:rPr lang="en-IN" sz="2000" dirty="0">
                <a:solidFill>
                  <a:srgbClr val="C00000"/>
                </a:solidFill>
              </a:rPr>
              <a:t>            String </a:t>
            </a:r>
            <a:r>
              <a:rPr lang="en-IN" sz="2000" dirty="0" err="1">
                <a:solidFill>
                  <a:srgbClr val="C00000"/>
                </a:solidFill>
              </a:rPr>
              <a:t>msg</a:t>
            </a:r>
            <a:r>
              <a:rPr lang="en-IN" sz="2000" dirty="0">
                <a:solidFill>
                  <a:srgbClr val="C00000"/>
                </a:solidFill>
              </a:rPr>
              <a:t> = "Hello Java";</a:t>
            </a:r>
          </a:p>
          <a:p>
            <a:r>
              <a:rPr lang="en-IN" sz="2000" dirty="0">
                <a:solidFill>
                  <a:srgbClr val="C00000"/>
                </a:solidFill>
              </a:rPr>
              <a:t>            byte[] data = </a:t>
            </a:r>
            <a:r>
              <a:rPr lang="en-IN" sz="2000" dirty="0" err="1">
                <a:solidFill>
                  <a:srgbClr val="C00000"/>
                </a:solidFill>
              </a:rPr>
              <a:t>msg.getBytes</a:t>
            </a:r>
            <a:r>
              <a:rPr lang="en-IN" sz="2000" dirty="0">
                <a:solidFill>
                  <a:srgbClr val="C00000"/>
                </a:solidFill>
              </a:rPr>
              <a:t>();   // convert String to bytes</a:t>
            </a:r>
          </a:p>
          <a:p>
            <a:endParaRPr lang="en-IN" sz="2000" dirty="0">
              <a:solidFill>
                <a:srgbClr val="C00000"/>
              </a:solidFill>
            </a:endParaRPr>
          </a:p>
          <a:p>
            <a:r>
              <a:rPr lang="en-IN" sz="2000" dirty="0">
                <a:solidFill>
                  <a:srgbClr val="C00000"/>
                </a:solidFill>
              </a:rPr>
              <a:t>            </a:t>
            </a:r>
            <a:r>
              <a:rPr lang="en-IN" sz="2000" dirty="0" err="1">
                <a:solidFill>
                  <a:srgbClr val="C00000"/>
                </a:solidFill>
              </a:rPr>
              <a:t>fos.write</a:t>
            </a:r>
            <a:r>
              <a:rPr lang="en-IN" sz="2000" dirty="0">
                <a:solidFill>
                  <a:srgbClr val="C00000"/>
                </a:solidFill>
              </a:rPr>
              <a:t>(data);   // write bytes to file</a:t>
            </a:r>
          </a:p>
          <a:p>
            <a:r>
              <a:rPr lang="en-IN" sz="2000" dirty="0">
                <a:solidFill>
                  <a:srgbClr val="C00000"/>
                </a:solidFill>
              </a:rPr>
              <a:t>            </a:t>
            </a:r>
            <a:r>
              <a:rPr lang="en-IN" sz="2000" dirty="0" err="1">
                <a:solidFill>
                  <a:srgbClr val="C00000"/>
                </a:solidFill>
              </a:rPr>
              <a:t>fos.close</a:t>
            </a:r>
            <a:r>
              <a:rPr lang="en-IN" sz="2000" dirty="0">
                <a:solidFill>
                  <a:srgbClr val="C00000"/>
                </a:solidFill>
              </a:rPr>
              <a:t>();       // close the stream</a:t>
            </a:r>
          </a:p>
          <a:p>
            <a:endParaRPr lang="en-IN" sz="2000" dirty="0">
              <a:solidFill>
                <a:srgbClr val="C00000"/>
              </a:solidFill>
            </a:endParaRPr>
          </a:p>
          <a:p>
            <a:r>
              <a:rPr lang="en-IN" sz="2000" dirty="0">
                <a:solidFill>
                  <a:srgbClr val="C00000"/>
                </a:solidFill>
              </a:rPr>
              <a:t>            </a:t>
            </a:r>
            <a:r>
              <a:rPr lang="en-IN" sz="2000" dirty="0" err="1">
                <a:solidFill>
                  <a:srgbClr val="C00000"/>
                </a:solidFill>
              </a:rPr>
              <a:t>System.out.println</a:t>
            </a:r>
            <a:r>
              <a:rPr lang="en-IN" sz="2000" dirty="0">
                <a:solidFill>
                  <a:srgbClr val="C00000"/>
                </a:solidFill>
              </a:rPr>
              <a:t>("Data written successfully");</a:t>
            </a:r>
          </a:p>
          <a:p>
            <a:r>
              <a:rPr lang="en-IN" sz="2000" dirty="0">
                <a:solidFill>
                  <a:srgbClr val="C00000"/>
                </a:solidFill>
              </a:rPr>
              <a:t>        } catch (</a:t>
            </a:r>
            <a:r>
              <a:rPr lang="en-IN" sz="2000" dirty="0" err="1">
                <a:solidFill>
                  <a:srgbClr val="C00000"/>
                </a:solidFill>
              </a:rPr>
              <a:t>IOException</a:t>
            </a:r>
            <a:r>
              <a:rPr lang="en-IN" sz="2000" dirty="0">
                <a:solidFill>
                  <a:srgbClr val="C00000"/>
                </a:solidFill>
              </a:rPr>
              <a:t> e) {</a:t>
            </a:r>
          </a:p>
          <a:p>
            <a:r>
              <a:rPr lang="en-IN" sz="2000" dirty="0">
                <a:solidFill>
                  <a:srgbClr val="C00000"/>
                </a:solidFill>
              </a:rPr>
              <a:t>            </a:t>
            </a:r>
            <a:r>
              <a:rPr lang="en-IN" sz="2000" dirty="0" err="1">
                <a:solidFill>
                  <a:srgbClr val="C00000"/>
                </a:solidFill>
              </a:rPr>
              <a:t>e.printStackTrace</a:t>
            </a:r>
            <a:r>
              <a:rPr lang="en-IN" sz="2000" dirty="0">
                <a:solidFill>
                  <a:srgbClr val="C00000"/>
                </a:solidFill>
              </a:rPr>
              <a:t>();</a:t>
            </a:r>
          </a:p>
          <a:p>
            <a:r>
              <a:rPr lang="en-IN" sz="2000" dirty="0">
                <a:solidFill>
                  <a:srgbClr val="C00000"/>
                </a:solidFill>
              </a:rPr>
              <a:t>        }     </a:t>
            </a:r>
          </a:p>
          <a:p>
            <a:r>
              <a:rPr lang="en-IN" sz="2000" dirty="0">
                <a:solidFill>
                  <a:srgbClr val="C00000"/>
                </a:solidFill>
              </a:rPr>
              <a:t> }   </a:t>
            </a:r>
          </a:p>
          <a:p>
            <a:r>
              <a:rPr lang="en-IN" sz="2000" dirty="0">
                <a:solidFill>
                  <a:srgbClr val="C00000"/>
                </a:solidFill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260743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3F86A2-86BE-48B5-BF5C-3E73B30A67F5}"/>
              </a:ext>
            </a:extLst>
          </p:cNvPr>
          <p:cNvSpPr/>
          <p:nvPr/>
        </p:nvSpPr>
        <p:spPr>
          <a:xfrm>
            <a:off x="320512" y="389531"/>
            <a:ext cx="633481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FileInputStream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FileOutputStream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IOException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iostexample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   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Class name should start with a capital letter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try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FileInputStream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fis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FileInputStream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AS.jpg"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FileOutputStream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fos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FileOutputStream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Temp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destination.jpg"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) {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</a:t>
            </a:r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A821E-E54B-4489-A547-D591D528DA52}"/>
              </a:ext>
            </a:extLst>
          </p:cNvPr>
          <p:cNvSpPr/>
          <p:nvPr/>
        </p:nvSpPr>
        <p:spPr>
          <a:xfrm>
            <a:off x="7500593" y="1158135"/>
            <a:ext cx="437089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((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fis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read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())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!=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fos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}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"Image copied successfully"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catch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IOException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printStackTrace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439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A199-D34D-4171-AF31-E5EB94E1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112"/>
            <a:ext cx="10515600" cy="492715"/>
          </a:xfrm>
        </p:spPr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 err="1">
                <a:solidFill>
                  <a:srgbClr val="C00000"/>
                </a:solidFill>
              </a:rPr>
              <a:t>BufferedInputStream</a:t>
            </a:r>
            <a:r>
              <a:rPr lang="en-US" altLang="en-US" b="1" dirty="0">
                <a:solidFill>
                  <a:srgbClr val="C00000"/>
                </a:solidFill>
              </a:rPr>
              <a:t>  and </a:t>
            </a:r>
            <a:r>
              <a:rPr lang="en-US" altLang="en-US" b="1" dirty="0" err="1">
                <a:solidFill>
                  <a:srgbClr val="C00000"/>
                </a:solidFill>
              </a:rPr>
              <a:t>BufferedOutputStream</a:t>
            </a:r>
            <a:br>
              <a:rPr lang="en-US" altLang="en-US" dirty="0">
                <a:solidFill>
                  <a:srgbClr val="C0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4DC4F-A4D0-48E7-816E-3A79E6F45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3827"/>
            <a:ext cx="10515600" cy="525313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What is Buffering?</a:t>
            </a:r>
          </a:p>
          <a:p>
            <a:r>
              <a:rPr lang="en-US" b="1" dirty="0">
                <a:solidFill>
                  <a:srgbClr val="C00000"/>
                </a:solidFill>
              </a:rPr>
              <a:t>Buffering</a:t>
            </a:r>
            <a:r>
              <a:rPr lang="en-US" dirty="0">
                <a:solidFill>
                  <a:srgbClr val="C00000"/>
                </a:solidFill>
              </a:rPr>
              <a:t> means using a </a:t>
            </a:r>
            <a:r>
              <a:rPr lang="en-US" b="1" dirty="0">
                <a:solidFill>
                  <a:srgbClr val="C00000"/>
                </a:solidFill>
              </a:rPr>
              <a:t>temporary memory area (buffer)</a:t>
            </a:r>
            <a:r>
              <a:rPr lang="en-US" dirty="0">
                <a:solidFill>
                  <a:srgbClr val="C00000"/>
                </a:solidFill>
              </a:rPr>
              <a:t> to store data before actual I/O happens.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C00000"/>
                </a:solidFill>
              </a:rPr>
              <a:t>Instead of reading/writing </a:t>
            </a:r>
            <a:r>
              <a:rPr lang="en-US" b="1" dirty="0">
                <a:solidFill>
                  <a:srgbClr val="C00000"/>
                </a:solidFill>
              </a:rPr>
              <a:t>one byte at a time from disk: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Reads a </a:t>
            </a:r>
            <a:r>
              <a:rPr lang="en-US" b="1" dirty="0">
                <a:solidFill>
                  <a:srgbClr val="C00000"/>
                </a:solidFill>
              </a:rPr>
              <a:t>block of bytes</a:t>
            </a:r>
            <a:r>
              <a:rPr lang="en-US" dirty="0">
                <a:solidFill>
                  <a:srgbClr val="C00000"/>
                </a:solidFill>
              </a:rPr>
              <a:t> into memory</a:t>
            </a:r>
          </a:p>
          <a:p>
            <a:r>
              <a:rPr lang="en-US" dirty="0">
                <a:solidFill>
                  <a:srgbClr val="C00000"/>
                </a:solidFill>
              </a:rPr>
              <a:t>Performs faster operations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 descr="Java.io BufferedOutputStream">
            <a:extLst>
              <a:ext uri="{FF2B5EF4-FFF2-40B4-BE49-F238E27FC236}">
                <a16:creationId xmlns:a16="http://schemas.microsoft.com/office/drawing/2014/main" id="{6A5DDD38-4A00-4404-8854-36EBF790E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876" y="4229198"/>
            <a:ext cx="566737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81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A199-D34D-4171-AF31-E5EB94E1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112"/>
            <a:ext cx="10515600" cy="492715"/>
          </a:xfrm>
        </p:spPr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 err="1">
                <a:solidFill>
                  <a:srgbClr val="C00000"/>
                </a:solidFill>
              </a:rPr>
              <a:t>BufferedInputStream</a:t>
            </a:r>
            <a:r>
              <a:rPr lang="en-US" altLang="en-US" b="1" dirty="0">
                <a:solidFill>
                  <a:srgbClr val="C00000"/>
                </a:solidFill>
              </a:rPr>
              <a:t>  and </a:t>
            </a:r>
            <a:r>
              <a:rPr lang="en-US" altLang="en-US" b="1" dirty="0" err="1">
                <a:solidFill>
                  <a:srgbClr val="C00000"/>
                </a:solidFill>
              </a:rPr>
              <a:t>BufferedOutputStream</a:t>
            </a:r>
            <a:br>
              <a:rPr lang="en-US" altLang="en-US" dirty="0">
                <a:solidFill>
                  <a:srgbClr val="C0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4DC4F-A4D0-48E7-816E-3A79E6F45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3827"/>
            <a:ext cx="10515600" cy="5253136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rgbClr val="C00000"/>
                </a:solidFill>
              </a:rPr>
              <a:t>BufferedInputStream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✔ What it does</a:t>
            </a:r>
          </a:p>
          <a:p>
            <a:r>
              <a:rPr lang="en-US" dirty="0">
                <a:solidFill>
                  <a:srgbClr val="C00000"/>
                </a:solidFill>
              </a:rPr>
              <a:t>Reads data </a:t>
            </a:r>
            <a:r>
              <a:rPr lang="en-US" b="1" dirty="0">
                <a:solidFill>
                  <a:srgbClr val="C00000"/>
                </a:solidFill>
              </a:rPr>
              <a:t>from a buffer</a:t>
            </a:r>
            <a:r>
              <a:rPr lang="en-US" dirty="0">
                <a:solidFill>
                  <a:srgbClr val="C00000"/>
                </a:solidFill>
              </a:rPr>
              <a:t>, not directly from the file</a:t>
            </a:r>
          </a:p>
          <a:p>
            <a:r>
              <a:rPr lang="en-US" dirty="0">
                <a:solidFill>
                  <a:srgbClr val="C00000"/>
                </a:solidFill>
              </a:rPr>
              <a:t>Wraps around another input stream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444521-FF83-4F82-8B7E-D3C766026937}"/>
              </a:ext>
            </a:extLst>
          </p:cNvPr>
          <p:cNvSpPr/>
          <p:nvPr/>
        </p:nvSpPr>
        <p:spPr>
          <a:xfrm>
            <a:off x="719578" y="3253358"/>
            <a:ext cx="911257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err="1">
                <a:solidFill>
                  <a:srgbClr val="C00000"/>
                </a:solidFill>
              </a:rPr>
              <a:t>FileInputStream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 err="1">
                <a:solidFill>
                  <a:srgbClr val="C00000"/>
                </a:solidFill>
              </a:rPr>
              <a:t>fis</a:t>
            </a:r>
            <a:r>
              <a:rPr lang="en-IN" sz="2400" dirty="0">
                <a:solidFill>
                  <a:srgbClr val="C00000"/>
                </a:solidFill>
              </a:rPr>
              <a:t> = new </a:t>
            </a:r>
            <a:r>
              <a:rPr lang="en-IN" sz="2400" dirty="0" err="1">
                <a:solidFill>
                  <a:srgbClr val="C00000"/>
                </a:solidFill>
              </a:rPr>
              <a:t>FileInputStream</a:t>
            </a:r>
            <a:r>
              <a:rPr lang="en-IN" sz="2400" dirty="0">
                <a:solidFill>
                  <a:srgbClr val="C00000"/>
                </a:solidFill>
              </a:rPr>
              <a:t>("image.jpg");</a:t>
            </a:r>
          </a:p>
          <a:p>
            <a:r>
              <a:rPr lang="en-IN" sz="2400" dirty="0" err="1">
                <a:solidFill>
                  <a:srgbClr val="C00000"/>
                </a:solidFill>
              </a:rPr>
              <a:t>BufferedInputStream</a:t>
            </a:r>
            <a:r>
              <a:rPr lang="en-IN" sz="2400" dirty="0">
                <a:solidFill>
                  <a:srgbClr val="C00000"/>
                </a:solidFill>
              </a:rPr>
              <a:t> bis = new </a:t>
            </a:r>
            <a:r>
              <a:rPr lang="en-IN" sz="2400" dirty="0" err="1">
                <a:solidFill>
                  <a:srgbClr val="C00000"/>
                </a:solidFill>
              </a:rPr>
              <a:t>BufferedInputStream</a:t>
            </a:r>
            <a:r>
              <a:rPr lang="en-IN" sz="2400" dirty="0">
                <a:solidFill>
                  <a:srgbClr val="C00000"/>
                </a:solidFill>
              </a:rPr>
              <a:t>(</a:t>
            </a:r>
            <a:r>
              <a:rPr lang="en-IN" sz="2400" dirty="0" err="1">
                <a:solidFill>
                  <a:srgbClr val="C00000"/>
                </a:solidFill>
              </a:rPr>
              <a:t>fis</a:t>
            </a:r>
            <a:r>
              <a:rPr lang="en-IN" sz="2400" dirty="0">
                <a:solidFill>
                  <a:srgbClr val="C00000"/>
                </a:solidFill>
              </a:rPr>
              <a:t>);</a:t>
            </a:r>
          </a:p>
          <a:p>
            <a:endParaRPr lang="en-IN" sz="2400" dirty="0">
              <a:solidFill>
                <a:srgbClr val="C00000"/>
              </a:solidFill>
            </a:endParaRPr>
          </a:p>
          <a:p>
            <a:r>
              <a:rPr lang="en-IN" sz="2400" dirty="0">
                <a:solidFill>
                  <a:srgbClr val="C00000"/>
                </a:solidFill>
              </a:rPr>
              <a:t>int b;</a:t>
            </a:r>
          </a:p>
          <a:p>
            <a:r>
              <a:rPr lang="en-IN" sz="2400" dirty="0">
                <a:solidFill>
                  <a:srgbClr val="C00000"/>
                </a:solidFill>
              </a:rPr>
              <a:t>while ((b = </a:t>
            </a:r>
            <a:r>
              <a:rPr lang="en-IN" sz="2400" dirty="0" err="1">
                <a:solidFill>
                  <a:srgbClr val="C00000"/>
                </a:solidFill>
              </a:rPr>
              <a:t>bis.read</a:t>
            </a:r>
            <a:r>
              <a:rPr lang="en-IN" sz="2400" dirty="0">
                <a:solidFill>
                  <a:srgbClr val="C00000"/>
                </a:solidFill>
              </a:rPr>
              <a:t>()) != -1) {</a:t>
            </a:r>
          </a:p>
          <a:p>
            <a:r>
              <a:rPr lang="en-IN" sz="2400" dirty="0">
                <a:solidFill>
                  <a:srgbClr val="C00000"/>
                </a:solidFill>
              </a:rPr>
              <a:t>    </a:t>
            </a:r>
            <a:r>
              <a:rPr lang="en-IN" sz="2400" dirty="0" err="1">
                <a:solidFill>
                  <a:srgbClr val="C00000"/>
                </a:solidFill>
              </a:rPr>
              <a:t>System.out.print</a:t>
            </a:r>
            <a:r>
              <a:rPr lang="en-IN" sz="2400" dirty="0">
                <a:solidFill>
                  <a:srgbClr val="C00000"/>
                </a:solidFill>
              </a:rPr>
              <a:t>(b);</a:t>
            </a:r>
          </a:p>
          <a:p>
            <a:r>
              <a:rPr lang="en-IN" sz="2400" dirty="0">
                <a:solidFill>
                  <a:srgbClr val="C00000"/>
                </a:solidFill>
              </a:rPr>
              <a:t>}</a:t>
            </a:r>
          </a:p>
          <a:p>
            <a:endParaRPr lang="en-IN" sz="2400" dirty="0">
              <a:solidFill>
                <a:srgbClr val="C00000"/>
              </a:solidFill>
            </a:endParaRPr>
          </a:p>
          <a:p>
            <a:r>
              <a:rPr lang="en-IN" sz="2400" dirty="0" err="1">
                <a:solidFill>
                  <a:srgbClr val="C00000"/>
                </a:solidFill>
              </a:rPr>
              <a:t>bis.close</a:t>
            </a:r>
            <a:r>
              <a:rPr lang="en-IN" sz="2400" dirty="0">
                <a:solidFill>
                  <a:srgbClr val="C00000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719484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A199-D34D-4171-AF31-E5EB94E1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30"/>
            <a:ext cx="10515600" cy="810704"/>
          </a:xfrm>
        </p:spPr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 err="1">
                <a:solidFill>
                  <a:srgbClr val="C00000"/>
                </a:solidFill>
              </a:rPr>
              <a:t>BufferedInputStream</a:t>
            </a:r>
            <a:r>
              <a:rPr lang="en-US" altLang="en-US" b="1" dirty="0">
                <a:solidFill>
                  <a:srgbClr val="C00000"/>
                </a:solidFill>
              </a:rPr>
              <a:t>  and </a:t>
            </a:r>
            <a:r>
              <a:rPr lang="en-US" altLang="en-US" b="1" dirty="0" err="1">
                <a:solidFill>
                  <a:srgbClr val="C00000"/>
                </a:solidFill>
              </a:rPr>
              <a:t>BufferedOutputStream</a:t>
            </a:r>
            <a:br>
              <a:rPr lang="en-US" altLang="en-US" dirty="0">
                <a:solidFill>
                  <a:srgbClr val="C00000"/>
                </a:solidFill>
              </a:rPr>
            </a:br>
            <a:endParaRPr lang="en-IN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6ADC6E57-3B24-4D05-9C32-0CA939343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57" y="1344091"/>
            <a:ext cx="584461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BufferedOutputStream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✔ What it does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Writes data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to a buffer first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Actual file write happens when: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Buffer is full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flush()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is called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Stream is closed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007F9C-56CF-40FC-BE1B-58B8BBA992B7}"/>
              </a:ext>
            </a:extLst>
          </p:cNvPr>
          <p:cNvSpPr/>
          <p:nvPr/>
        </p:nvSpPr>
        <p:spPr>
          <a:xfrm>
            <a:off x="6923203" y="1482591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 err="1">
                <a:solidFill>
                  <a:srgbClr val="C00000"/>
                </a:solidFill>
              </a:rPr>
              <a:t>FileOutputStream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 err="1">
                <a:solidFill>
                  <a:srgbClr val="C00000"/>
                </a:solidFill>
              </a:rPr>
              <a:t>fos</a:t>
            </a:r>
            <a:r>
              <a:rPr lang="en-IN" sz="2400" dirty="0">
                <a:solidFill>
                  <a:srgbClr val="C00000"/>
                </a:solidFill>
              </a:rPr>
              <a:t> = new </a:t>
            </a:r>
            <a:r>
              <a:rPr lang="en-IN" sz="2400" dirty="0" err="1">
                <a:solidFill>
                  <a:srgbClr val="C00000"/>
                </a:solidFill>
              </a:rPr>
              <a:t>FileOutputStream</a:t>
            </a:r>
            <a:r>
              <a:rPr lang="en-IN" sz="2400" dirty="0">
                <a:solidFill>
                  <a:srgbClr val="C00000"/>
                </a:solidFill>
              </a:rPr>
              <a:t>("copy.jpg");</a:t>
            </a:r>
          </a:p>
          <a:p>
            <a:r>
              <a:rPr lang="en-IN" sz="2400" dirty="0" err="1">
                <a:solidFill>
                  <a:srgbClr val="C00000"/>
                </a:solidFill>
              </a:rPr>
              <a:t>BufferedOutputStream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 err="1">
                <a:solidFill>
                  <a:srgbClr val="C00000"/>
                </a:solidFill>
              </a:rPr>
              <a:t>bos</a:t>
            </a:r>
            <a:r>
              <a:rPr lang="en-IN" sz="2400" dirty="0">
                <a:solidFill>
                  <a:srgbClr val="C00000"/>
                </a:solidFill>
              </a:rPr>
              <a:t> = new </a:t>
            </a:r>
            <a:r>
              <a:rPr lang="en-IN" sz="2400" dirty="0" err="1">
                <a:solidFill>
                  <a:srgbClr val="C00000"/>
                </a:solidFill>
              </a:rPr>
              <a:t>BufferedOutputStream</a:t>
            </a:r>
            <a:r>
              <a:rPr lang="en-IN" sz="2400" dirty="0">
                <a:solidFill>
                  <a:srgbClr val="C00000"/>
                </a:solidFill>
              </a:rPr>
              <a:t>(</a:t>
            </a:r>
            <a:r>
              <a:rPr lang="en-IN" sz="2400" dirty="0" err="1">
                <a:solidFill>
                  <a:srgbClr val="C00000"/>
                </a:solidFill>
              </a:rPr>
              <a:t>fos</a:t>
            </a:r>
            <a:r>
              <a:rPr lang="en-IN" sz="2400" dirty="0">
                <a:solidFill>
                  <a:srgbClr val="C00000"/>
                </a:solidFill>
              </a:rPr>
              <a:t>);</a:t>
            </a:r>
          </a:p>
          <a:p>
            <a:endParaRPr lang="en-IN" sz="2400" dirty="0">
              <a:solidFill>
                <a:srgbClr val="C00000"/>
              </a:solidFill>
            </a:endParaRPr>
          </a:p>
          <a:p>
            <a:r>
              <a:rPr lang="en-IN" sz="2400" dirty="0" err="1">
                <a:solidFill>
                  <a:srgbClr val="C00000"/>
                </a:solidFill>
              </a:rPr>
              <a:t>bos.write</a:t>
            </a:r>
            <a:r>
              <a:rPr lang="en-IN" sz="2400" dirty="0">
                <a:solidFill>
                  <a:srgbClr val="C00000"/>
                </a:solidFill>
              </a:rPr>
              <a:t>(65);   // written to buffer</a:t>
            </a:r>
          </a:p>
          <a:p>
            <a:r>
              <a:rPr lang="en-IN" sz="2400" dirty="0" err="1">
                <a:solidFill>
                  <a:srgbClr val="C00000"/>
                </a:solidFill>
              </a:rPr>
              <a:t>bos.flush</a:t>
            </a:r>
            <a:r>
              <a:rPr lang="en-IN" sz="2400" dirty="0">
                <a:solidFill>
                  <a:srgbClr val="C00000"/>
                </a:solidFill>
              </a:rPr>
              <a:t>();     // forces data to file</a:t>
            </a:r>
          </a:p>
          <a:p>
            <a:r>
              <a:rPr lang="en-IN" sz="2400" dirty="0" err="1">
                <a:solidFill>
                  <a:srgbClr val="C00000"/>
                </a:solidFill>
              </a:rPr>
              <a:t>bos.close</a:t>
            </a:r>
            <a:r>
              <a:rPr lang="en-IN" sz="2400" dirty="0">
                <a:solidFill>
                  <a:srgbClr val="C00000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226955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25F289-FC7C-401F-8859-44E2A74C36FE}"/>
              </a:ext>
            </a:extLst>
          </p:cNvPr>
          <p:cNvSpPr/>
          <p:nvPr/>
        </p:nvSpPr>
        <p:spPr>
          <a:xfrm>
            <a:off x="606458" y="889843"/>
            <a:ext cx="593574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.*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iostexample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throws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IOException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try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BufferedInputStream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FC1FF"/>
                </a:solidFill>
                <a:latin typeface="Consolas" panose="020B0609020204030204" pitchFamily="49" charset="0"/>
              </a:rPr>
              <a:t>bis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BufferedInputStream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FileInputStream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AS.jpg"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BufferedOutputStream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bos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BufferedOutputStream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FileOutputStream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dest.jpg"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) 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3B71C7-79BD-4F80-9148-4855E8FFC7C1}"/>
              </a:ext>
            </a:extLst>
          </p:cNvPr>
          <p:cNvSpPr/>
          <p:nvPr/>
        </p:nvSpPr>
        <p:spPr>
          <a:xfrm>
            <a:off x="6884708" y="1224123"/>
            <a:ext cx="517531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((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bis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read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())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!=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bos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"Image copied using buffered streams"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474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9D37-67FB-42AB-8A36-8E5397F7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02"/>
            <a:ext cx="10515600" cy="88864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Character Streams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A9DA99-28A3-4DE4-B354-FCAB07D1FE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14810"/>
            <a:ext cx="6938913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Character Stream (Reader / Writer)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✔ Used when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working with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Common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</a:rPr>
              <a:t>FileReader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</a:rPr>
              <a:t>FileWriter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</a:rPr>
              <a:t>BufferedReader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</a:rPr>
              <a:t>BufferedWriter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512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9D37-67FB-42AB-8A36-8E5397F7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02"/>
            <a:ext cx="10515600" cy="88864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Character Streams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26CDE3-BA08-4542-AB6F-1221D3B569C0}"/>
              </a:ext>
            </a:extLst>
          </p:cNvPr>
          <p:cNvSpPr/>
          <p:nvPr/>
        </p:nvSpPr>
        <p:spPr>
          <a:xfrm>
            <a:off x="915953" y="868146"/>
            <a:ext cx="22137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>
                <a:solidFill>
                  <a:srgbClr val="C00000"/>
                </a:solidFill>
              </a:rPr>
              <a:t>FileReader</a:t>
            </a:r>
            <a:endParaRPr lang="en-US" altLang="en-US" sz="24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A434CE-7891-44BA-9615-3100DB46FF0A}"/>
              </a:ext>
            </a:extLst>
          </p:cNvPr>
          <p:cNvSpPr/>
          <p:nvPr/>
        </p:nvSpPr>
        <p:spPr>
          <a:xfrm>
            <a:off x="357813" y="3327797"/>
            <a:ext cx="58147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err="1">
                <a:solidFill>
                  <a:srgbClr val="C00000"/>
                </a:solidFill>
              </a:rPr>
              <a:t>FileReader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 err="1">
                <a:solidFill>
                  <a:srgbClr val="C00000"/>
                </a:solidFill>
              </a:rPr>
              <a:t>fr</a:t>
            </a:r>
            <a:r>
              <a:rPr lang="en-IN" sz="2400" dirty="0">
                <a:solidFill>
                  <a:srgbClr val="C00000"/>
                </a:solidFill>
              </a:rPr>
              <a:t> = new </a:t>
            </a:r>
            <a:r>
              <a:rPr lang="en-IN" sz="2400" dirty="0" err="1">
                <a:solidFill>
                  <a:srgbClr val="C00000"/>
                </a:solidFill>
              </a:rPr>
              <a:t>FileReader</a:t>
            </a:r>
            <a:r>
              <a:rPr lang="en-IN" sz="2400" dirty="0">
                <a:solidFill>
                  <a:srgbClr val="C00000"/>
                </a:solidFill>
              </a:rPr>
              <a:t>("data.txt");</a:t>
            </a:r>
          </a:p>
          <a:p>
            <a:r>
              <a:rPr lang="en-IN" sz="2400" dirty="0">
                <a:solidFill>
                  <a:srgbClr val="C00000"/>
                </a:solidFill>
              </a:rPr>
              <a:t>int </a:t>
            </a:r>
            <a:r>
              <a:rPr lang="en-IN" sz="2400" dirty="0" err="1">
                <a:solidFill>
                  <a:srgbClr val="C00000"/>
                </a:solidFill>
              </a:rPr>
              <a:t>ch</a:t>
            </a:r>
            <a:r>
              <a:rPr lang="en-IN" sz="2400" dirty="0">
                <a:solidFill>
                  <a:srgbClr val="C00000"/>
                </a:solidFill>
              </a:rPr>
              <a:t>;</a:t>
            </a:r>
          </a:p>
          <a:p>
            <a:r>
              <a:rPr lang="en-IN" sz="2400" dirty="0">
                <a:solidFill>
                  <a:srgbClr val="C00000"/>
                </a:solidFill>
              </a:rPr>
              <a:t>while ((</a:t>
            </a:r>
            <a:r>
              <a:rPr lang="en-IN" sz="2400" dirty="0" err="1">
                <a:solidFill>
                  <a:srgbClr val="C00000"/>
                </a:solidFill>
              </a:rPr>
              <a:t>ch</a:t>
            </a:r>
            <a:r>
              <a:rPr lang="en-IN" sz="2400" dirty="0">
                <a:solidFill>
                  <a:srgbClr val="C00000"/>
                </a:solidFill>
              </a:rPr>
              <a:t> = </a:t>
            </a:r>
            <a:r>
              <a:rPr lang="en-IN" sz="2400" dirty="0" err="1">
                <a:solidFill>
                  <a:srgbClr val="C00000"/>
                </a:solidFill>
              </a:rPr>
              <a:t>fr.read</a:t>
            </a:r>
            <a:r>
              <a:rPr lang="en-IN" sz="2400" dirty="0">
                <a:solidFill>
                  <a:srgbClr val="C00000"/>
                </a:solidFill>
              </a:rPr>
              <a:t>()) != -1) {</a:t>
            </a:r>
          </a:p>
          <a:p>
            <a:r>
              <a:rPr lang="en-IN" sz="2400" dirty="0">
                <a:solidFill>
                  <a:srgbClr val="C00000"/>
                </a:solidFill>
              </a:rPr>
              <a:t>    </a:t>
            </a:r>
            <a:r>
              <a:rPr lang="en-IN" sz="2400" dirty="0" err="1">
                <a:solidFill>
                  <a:srgbClr val="C00000"/>
                </a:solidFill>
              </a:rPr>
              <a:t>System.out.print</a:t>
            </a:r>
            <a:r>
              <a:rPr lang="en-IN" sz="2400" dirty="0">
                <a:solidFill>
                  <a:srgbClr val="C00000"/>
                </a:solidFill>
              </a:rPr>
              <a:t>((char) </a:t>
            </a:r>
            <a:r>
              <a:rPr lang="en-IN" sz="2400" dirty="0" err="1">
                <a:solidFill>
                  <a:srgbClr val="C00000"/>
                </a:solidFill>
              </a:rPr>
              <a:t>ch</a:t>
            </a:r>
            <a:r>
              <a:rPr lang="en-IN" sz="2400" dirty="0">
                <a:solidFill>
                  <a:srgbClr val="C00000"/>
                </a:solidFill>
              </a:rPr>
              <a:t>);</a:t>
            </a:r>
          </a:p>
          <a:p>
            <a:r>
              <a:rPr lang="en-IN" sz="2400" dirty="0">
                <a:solidFill>
                  <a:srgbClr val="C00000"/>
                </a:solidFill>
              </a:rPr>
              <a:t>}</a:t>
            </a:r>
          </a:p>
          <a:p>
            <a:r>
              <a:rPr lang="en-IN" sz="2400" dirty="0" err="1">
                <a:solidFill>
                  <a:srgbClr val="C00000"/>
                </a:solidFill>
              </a:rPr>
              <a:t>fr.close</a:t>
            </a:r>
            <a:r>
              <a:rPr lang="en-IN" sz="2400" dirty="0">
                <a:solidFill>
                  <a:srgbClr val="C00000"/>
                </a:solidFill>
              </a:rPr>
              <a:t>();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2ED36-0B65-4C47-AF5C-DC5FC5306564}"/>
              </a:ext>
            </a:extLst>
          </p:cNvPr>
          <p:cNvSpPr/>
          <p:nvPr/>
        </p:nvSpPr>
        <p:spPr>
          <a:xfrm>
            <a:off x="7310497" y="729646"/>
            <a:ext cx="15781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err="1">
                <a:solidFill>
                  <a:srgbClr val="C00000"/>
                </a:solidFill>
              </a:rPr>
              <a:t>FileWriter</a:t>
            </a:r>
            <a:endParaRPr lang="en-US" altLang="en-US" sz="2400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FB10CC-1661-41FE-93AF-EC81F8179EE3}"/>
              </a:ext>
            </a:extLst>
          </p:cNvPr>
          <p:cNvSpPr/>
          <p:nvPr/>
        </p:nvSpPr>
        <p:spPr>
          <a:xfrm>
            <a:off x="6489499" y="2644170"/>
            <a:ext cx="47982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err="1">
                <a:solidFill>
                  <a:srgbClr val="C00000"/>
                </a:solidFill>
              </a:rPr>
              <a:t>FileWriter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 err="1">
                <a:solidFill>
                  <a:srgbClr val="C00000"/>
                </a:solidFill>
              </a:rPr>
              <a:t>fw</a:t>
            </a:r>
            <a:r>
              <a:rPr lang="en-IN" sz="2400" dirty="0">
                <a:solidFill>
                  <a:srgbClr val="C00000"/>
                </a:solidFill>
              </a:rPr>
              <a:t> = new </a:t>
            </a:r>
            <a:r>
              <a:rPr lang="en-IN" sz="2400" dirty="0" err="1">
                <a:solidFill>
                  <a:srgbClr val="C00000"/>
                </a:solidFill>
              </a:rPr>
              <a:t>FileWriter</a:t>
            </a:r>
            <a:r>
              <a:rPr lang="en-IN" sz="2400" dirty="0">
                <a:solidFill>
                  <a:srgbClr val="C00000"/>
                </a:solidFill>
              </a:rPr>
              <a:t>("data.txt", true);</a:t>
            </a:r>
          </a:p>
          <a:p>
            <a:r>
              <a:rPr lang="en-IN" sz="2400" dirty="0" err="1">
                <a:solidFill>
                  <a:srgbClr val="C00000"/>
                </a:solidFill>
              </a:rPr>
              <a:t>fw.write</a:t>
            </a:r>
            <a:r>
              <a:rPr lang="en-IN" sz="2400" dirty="0">
                <a:solidFill>
                  <a:srgbClr val="C00000"/>
                </a:solidFill>
              </a:rPr>
              <a:t>("\</a:t>
            </a:r>
            <a:r>
              <a:rPr lang="en-IN" sz="2400" dirty="0" err="1">
                <a:solidFill>
                  <a:srgbClr val="C00000"/>
                </a:solidFill>
              </a:rPr>
              <a:t>nThis</a:t>
            </a:r>
            <a:r>
              <a:rPr lang="en-IN" sz="2400" dirty="0">
                <a:solidFill>
                  <a:srgbClr val="C00000"/>
                </a:solidFill>
              </a:rPr>
              <a:t> line is appended");</a:t>
            </a:r>
          </a:p>
          <a:p>
            <a:r>
              <a:rPr lang="en-IN" sz="2400" dirty="0" err="1">
                <a:solidFill>
                  <a:srgbClr val="C00000"/>
                </a:solidFill>
              </a:rPr>
              <a:t>fw.close</a:t>
            </a:r>
            <a:r>
              <a:rPr lang="en-IN" sz="2400" dirty="0">
                <a:solidFill>
                  <a:srgbClr val="C00000"/>
                </a:solidFill>
              </a:rPr>
              <a:t>();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E6695C2-5C4B-4082-AEBE-CD6CF44EF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0032" y="1083590"/>
            <a:ext cx="610857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</a:rPr>
              <a:t>FileWriter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is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character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stream class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used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write text (characters)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to a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It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Unicode-aware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, so it’s suitable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text files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966142-D549-45C0-9A8C-505249A0971E}"/>
              </a:ext>
            </a:extLst>
          </p:cNvPr>
          <p:cNvSpPr txBox="1"/>
          <p:nvPr/>
        </p:nvSpPr>
        <p:spPr>
          <a:xfrm>
            <a:off x="357813" y="1329811"/>
            <a:ext cx="353034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Reads 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characters</a:t>
            </a: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, not bytes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Best for 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text files</a:t>
            </a: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 (</a:t>
            </a:r>
            <a:r>
              <a:rPr lang="en-US" altLang="en-US" sz="2000" dirty="0">
                <a:solidFill>
                  <a:srgbClr val="C00000"/>
                </a:solidFill>
                <a:latin typeface="Arial Unicode MS"/>
              </a:rPr>
              <a:t>.txt</a:t>
            </a:r>
            <a:r>
              <a:rPr lang="en-US" altLang="en-US" sz="2000" dirty="0">
                <a:solidFill>
                  <a:srgbClr val="C00000"/>
                </a:solidFill>
              </a:rPr>
              <a:t>, </a:t>
            </a:r>
            <a:r>
              <a:rPr lang="en-US" altLang="en-US" sz="2000" dirty="0">
                <a:solidFill>
                  <a:srgbClr val="C00000"/>
                </a:solidFill>
                <a:latin typeface="Arial Unicode MS"/>
              </a:rPr>
              <a:t>.csv</a:t>
            </a:r>
            <a:r>
              <a:rPr lang="en-US" altLang="en-US" sz="2000" dirty="0">
                <a:solidFill>
                  <a:srgbClr val="C00000"/>
                </a:solidFill>
              </a:rPr>
              <a:t>, source code)</a:t>
            </a:r>
            <a:endParaRPr lang="en-US" altLang="en-US" sz="2000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Uses 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default character encoding</a:t>
            </a:r>
            <a:endParaRPr lang="en-US" altLang="en-US" sz="2000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0539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9D37-67FB-42AB-8A36-8E5397F7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02"/>
            <a:ext cx="10515600" cy="88864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Character Streams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1674BD-BFD7-4785-97EE-1DB99D543F5B}"/>
              </a:ext>
            </a:extLst>
          </p:cNvPr>
          <p:cNvSpPr/>
          <p:nvPr/>
        </p:nvSpPr>
        <p:spPr>
          <a:xfrm>
            <a:off x="1131217" y="1599756"/>
            <a:ext cx="10515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FileReader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IOException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filsampl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throws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IOException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FileReader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FileReader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sampl.txt"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((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fr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read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())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!=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((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char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fr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close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990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9D37-67FB-42AB-8A36-8E5397F7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02"/>
            <a:ext cx="10515600" cy="88864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Character Streams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3772F7-0E31-465D-8D27-FFE3BCD36FEC}"/>
              </a:ext>
            </a:extLst>
          </p:cNvPr>
          <p:cNvSpPr/>
          <p:nvPr/>
        </p:nvSpPr>
        <p:spPr>
          <a:xfrm>
            <a:off x="6014301" y="1234913"/>
            <a:ext cx="5825765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b="1" dirty="0" err="1">
                <a:solidFill>
                  <a:srgbClr val="C00000"/>
                </a:solidFill>
              </a:rPr>
              <a:t>BufferedReader</a:t>
            </a:r>
            <a:endParaRPr lang="en-US" altLang="en-US" sz="2800" b="1" dirty="0">
              <a:solidFill>
                <a:srgbClr val="C00000"/>
              </a:solidFill>
            </a:endParaRPr>
          </a:p>
          <a:p>
            <a:endParaRPr lang="en-IN" dirty="0"/>
          </a:p>
          <a:p>
            <a:r>
              <a:rPr lang="en-IN" sz="2400" dirty="0" err="1">
                <a:solidFill>
                  <a:srgbClr val="C00000"/>
                </a:solidFill>
              </a:rPr>
              <a:t>BufferedReader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 err="1">
                <a:solidFill>
                  <a:srgbClr val="C00000"/>
                </a:solidFill>
              </a:rPr>
              <a:t>br</a:t>
            </a:r>
            <a:r>
              <a:rPr lang="en-IN" sz="2400" dirty="0">
                <a:solidFill>
                  <a:srgbClr val="C00000"/>
                </a:solidFill>
              </a:rPr>
              <a:t> = new </a:t>
            </a:r>
            <a:r>
              <a:rPr lang="en-IN" sz="2400" dirty="0" err="1">
                <a:solidFill>
                  <a:srgbClr val="C00000"/>
                </a:solidFill>
              </a:rPr>
              <a:t>BufferedReader</a:t>
            </a:r>
            <a:r>
              <a:rPr lang="en-IN" sz="2400" dirty="0">
                <a:solidFill>
                  <a:srgbClr val="C00000"/>
                </a:solidFill>
              </a:rPr>
              <a:t>(new </a:t>
            </a:r>
            <a:r>
              <a:rPr lang="en-IN" sz="2400" dirty="0" err="1">
                <a:solidFill>
                  <a:srgbClr val="C00000"/>
                </a:solidFill>
              </a:rPr>
              <a:t>FileReader</a:t>
            </a:r>
            <a:r>
              <a:rPr lang="en-IN" sz="2400" dirty="0">
                <a:solidFill>
                  <a:srgbClr val="C00000"/>
                </a:solidFill>
              </a:rPr>
              <a:t>("data.txt"));</a:t>
            </a:r>
          </a:p>
          <a:p>
            <a:endParaRPr lang="en-IN" sz="2400" dirty="0">
              <a:solidFill>
                <a:srgbClr val="C00000"/>
              </a:solidFill>
            </a:endParaRPr>
          </a:p>
          <a:p>
            <a:r>
              <a:rPr lang="en-IN" sz="2400" dirty="0">
                <a:solidFill>
                  <a:srgbClr val="C00000"/>
                </a:solidFill>
              </a:rPr>
              <a:t>String line;</a:t>
            </a:r>
          </a:p>
          <a:p>
            <a:r>
              <a:rPr lang="en-IN" sz="2400" dirty="0">
                <a:solidFill>
                  <a:srgbClr val="C00000"/>
                </a:solidFill>
              </a:rPr>
              <a:t>while ((line = </a:t>
            </a:r>
            <a:r>
              <a:rPr lang="en-IN" sz="2400" dirty="0" err="1">
                <a:solidFill>
                  <a:srgbClr val="C00000"/>
                </a:solidFill>
              </a:rPr>
              <a:t>br.readLine</a:t>
            </a:r>
            <a:r>
              <a:rPr lang="en-IN" sz="2400" dirty="0">
                <a:solidFill>
                  <a:srgbClr val="C00000"/>
                </a:solidFill>
              </a:rPr>
              <a:t>()) != null) {</a:t>
            </a:r>
          </a:p>
          <a:p>
            <a:r>
              <a:rPr lang="en-IN" sz="2400" dirty="0">
                <a:solidFill>
                  <a:srgbClr val="C00000"/>
                </a:solidFill>
              </a:rPr>
              <a:t>    </a:t>
            </a:r>
            <a:r>
              <a:rPr lang="en-IN" sz="2400" dirty="0" err="1">
                <a:solidFill>
                  <a:srgbClr val="C00000"/>
                </a:solidFill>
              </a:rPr>
              <a:t>System.out.println</a:t>
            </a:r>
            <a:r>
              <a:rPr lang="en-IN" sz="2400" dirty="0">
                <a:solidFill>
                  <a:srgbClr val="C00000"/>
                </a:solidFill>
              </a:rPr>
              <a:t>(line);</a:t>
            </a:r>
          </a:p>
          <a:p>
            <a:r>
              <a:rPr lang="en-IN" sz="2400" dirty="0">
                <a:solidFill>
                  <a:srgbClr val="C00000"/>
                </a:solidFill>
              </a:rPr>
              <a:t>}</a:t>
            </a:r>
          </a:p>
          <a:p>
            <a:endParaRPr lang="en-IN" sz="2400" dirty="0">
              <a:solidFill>
                <a:srgbClr val="C00000"/>
              </a:solidFill>
            </a:endParaRPr>
          </a:p>
          <a:p>
            <a:r>
              <a:rPr lang="en-IN" sz="2400" dirty="0" err="1">
                <a:solidFill>
                  <a:srgbClr val="C00000"/>
                </a:solidFill>
              </a:rPr>
              <a:t>br.close</a:t>
            </a:r>
            <a:r>
              <a:rPr lang="en-IN" sz="2400" dirty="0">
                <a:solidFill>
                  <a:srgbClr val="C00000"/>
                </a:solidFill>
              </a:rPr>
              <a:t>();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5980DDD-AE8C-4286-A1D8-647A85ACF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34" y="1204136"/>
            <a:ext cx="468197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BufferedReader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✔ What it does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Reads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blocks of characters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into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Wraps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FileReader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Can read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line by line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988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9D37-67FB-42AB-8A36-8E5397F7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02"/>
            <a:ext cx="10515600" cy="88864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Character Streams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5AEFD42-79C8-46B6-9A48-A6E9BE6D5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13" y="810185"/>
            <a:ext cx="503391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</a:rPr>
              <a:t>BufferedWriter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✔ What it does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Writes characters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to a buffer first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Disk write happens when: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Buffer is full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flush() is called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Stream is closed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F7F615-3197-48F2-963B-E0B43130813F}"/>
              </a:ext>
            </a:extLst>
          </p:cNvPr>
          <p:cNvSpPr/>
          <p:nvPr/>
        </p:nvSpPr>
        <p:spPr>
          <a:xfrm>
            <a:off x="3110845" y="3931053"/>
            <a:ext cx="82429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C00000"/>
                </a:solidFill>
              </a:rPr>
              <a:t>BufferedWriter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 err="1">
                <a:solidFill>
                  <a:srgbClr val="C00000"/>
                </a:solidFill>
              </a:rPr>
              <a:t>bw</a:t>
            </a:r>
            <a:r>
              <a:rPr lang="en-IN" dirty="0">
                <a:solidFill>
                  <a:srgbClr val="C00000"/>
                </a:solidFill>
              </a:rPr>
              <a:t> =  new </a:t>
            </a:r>
            <a:r>
              <a:rPr lang="en-IN" dirty="0" err="1">
                <a:solidFill>
                  <a:srgbClr val="C00000"/>
                </a:solidFill>
              </a:rPr>
              <a:t>BufferedWriter</a:t>
            </a:r>
            <a:r>
              <a:rPr lang="en-IN" dirty="0">
                <a:solidFill>
                  <a:srgbClr val="C00000"/>
                </a:solidFill>
              </a:rPr>
              <a:t>(new </a:t>
            </a:r>
            <a:r>
              <a:rPr lang="en-IN" dirty="0" err="1">
                <a:solidFill>
                  <a:srgbClr val="C00000"/>
                </a:solidFill>
              </a:rPr>
              <a:t>FileWriter</a:t>
            </a:r>
            <a:r>
              <a:rPr lang="en-IN" dirty="0">
                <a:solidFill>
                  <a:srgbClr val="C00000"/>
                </a:solidFill>
              </a:rPr>
              <a:t>("data.txt"));</a:t>
            </a:r>
          </a:p>
          <a:p>
            <a:endParaRPr lang="en-IN" dirty="0">
              <a:solidFill>
                <a:srgbClr val="C00000"/>
              </a:solidFill>
            </a:endParaRPr>
          </a:p>
          <a:p>
            <a:r>
              <a:rPr lang="en-IN" dirty="0" err="1">
                <a:solidFill>
                  <a:srgbClr val="C00000"/>
                </a:solidFill>
              </a:rPr>
              <a:t>bw.write</a:t>
            </a:r>
            <a:r>
              <a:rPr lang="en-IN" dirty="0">
                <a:solidFill>
                  <a:srgbClr val="C00000"/>
                </a:solidFill>
              </a:rPr>
              <a:t>("Hello Java");</a:t>
            </a:r>
          </a:p>
          <a:p>
            <a:r>
              <a:rPr lang="en-IN" dirty="0" err="1">
                <a:solidFill>
                  <a:srgbClr val="C00000"/>
                </a:solidFill>
              </a:rPr>
              <a:t>bw.newLine</a:t>
            </a:r>
            <a:r>
              <a:rPr lang="en-IN" dirty="0">
                <a:solidFill>
                  <a:srgbClr val="C00000"/>
                </a:solidFill>
              </a:rPr>
              <a:t>();   </a:t>
            </a:r>
          </a:p>
          <a:p>
            <a:r>
              <a:rPr lang="en-IN" dirty="0" err="1">
                <a:solidFill>
                  <a:srgbClr val="C00000"/>
                </a:solidFill>
              </a:rPr>
              <a:t>bw.flush</a:t>
            </a:r>
            <a:r>
              <a:rPr lang="en-IN" dirty="0">
                <a:solidFill>
                  <a:srgbClr val="C00000"/>
                </a:solidFill>
              </a:rPr>
              <a:t>();</a:t>
            </a:r>
          </a:p>
          <a:p>
            <a:r>
              <a:rPr lang="en-IN" dirty="0" err="1">
                <a:solidFill>
                  <a:srgbClr val="C00000"/>
                </a:solidFill>
              </a:rPr>
              <a:t>bw.close</a:t>
            </a:r>
            <a:r>
              <a:rPr lang="en-IN" dirty="0">
                <a:solidFill>
                  <a:srgbClr val="C00000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943875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41902-B4E7-45D9-871C-AEA95BA0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680"/>
            <a:ext cx="10515600" cy="81322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Copying from one text file to another text file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A580D8-28D3-4755-956C-20AB76F26B68}"/>
              </a:ext>
            </a:extLst>
          </p:cNvPr>
          <p:cNvSpPr/>
          <p:nvPr/>
        </p:nvSpPr>
        <p:spPr>
          <a:xfrm>
            <a:off x="747860" y="1538163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FileReader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FileWriter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IOException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sampl12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FileReader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FileWriter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try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FileReader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sampl.txt"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   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source file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FileWriter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dest.txt"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  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destination file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</a:t>
            </a:r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08E072-EB1D-43C8-B60C-DC0A263E6A82}"/>
              </a:ext>
            </a:extLst>
          </p:cNvPr>
          <p:cNvSpPr/>
          <p:nvPr/>
        </p:nvSpPr>
        <p:spPr>
          <a:xfrm>
            <a:off x="7032396" y="1027906"/>
            <a:ext cx="49207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((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fr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read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())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!=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fw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}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"File copied successfully."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catch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IOException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printStackTrace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>
                <a:solidFill>
                  <a:srgbClr val="CCCCCC"/>
                </a:solidFill>
                <a:latin typeface="Consolas" panose="020B0609020204030204" pitchFamily="49" charset="0"/>
              </a:rPr>
              <a:t>} 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677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28C6-81EA-4E0B-89D5-9D881AFD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98" y="0"/>
            <a:ext cx="10515600" cy="55618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Writing multiple text files into a single file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29CD06-63BB-4AA6-BEC5-57015481F540}"/>
              </a:ext>
            </a:extLst>
          </p:cNvPr>
          <p:cNvSpPr/>
          <p:nvPr/>
        </p:nvSpPr>
        <p:spPr>
          <a:xfrm>
            <a:off x="583676" y="862552"/>
            <a:ext cx="581712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.*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multfile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List of input files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inputFiles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sampl.txt"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T1.txt"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t2.txt"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outputFile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merged.txt"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try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BufferedWriter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bw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BufferedWriter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FileWriter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outputFile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)))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file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inputFiles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try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BufferedReader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br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BufferedReader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FileReader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file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)))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E90663-9496-44F0-B9E3-B93706E005E8}"/>
              </a:ext>
            </a:extLst>
          </p:cNvPr>
          <p:cNvSpPr/>
          <p:nvPr/>
        </p:nvSpPr>
        <p:spPr>
          <a:xfrm>
            <a:off x="6711885" y="1109633"/>
            <a:ext cx="515646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line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((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line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br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readLine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())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!=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bw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line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bw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newLine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Optional separator between files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bw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newLine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}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"Files merged successfully."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catch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IOException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printStackTrace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    }}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206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97D1-E60D-41FF-8011-8D6F852C2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44" y="127924"/>
            <a:ext cx="10515600" cy="9561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WEEK 5 ----Q1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B91460-9D0C-44FB-A570-E674E9458543}"/>
              </a:ext>
            </a:extLst>
          </p:cNvPr>
          <p:cNvSpPr/>
          <p:nvPr/>
        </p:nvSpPr>
        <p:spPr>
          <a:xfrm>
            <a:off x="329938" y="1084082"/>
            <a:ext cx="563722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FileInputStream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FileOutputStream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IOException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FileCopy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try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FileInputStream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fis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FileInputStream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sampl.txt"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FileOutputStream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fos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FileOutputStream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"destination.txt"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</a:t>
            </a:r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21F1F5-28EC-4AF8-91CA-B1434BCC4AD3}"/>
              </a:ext>
            </a:extLst>
          </p:cNvPr>
          <p:cNvSpPr/>
          <p:nvPr/>
        </p:nvSpPr>
        <p:spPr>
          <a:xfrm>
            <a:off x="6485641" y="1084082"/>
            <a:ext cx="548639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byteData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((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byteData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fis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read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())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!=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fos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byteData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}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fis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close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fos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close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"File copied successfully"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catch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IOException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printStackTrace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08007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6B1211-2EB4-4CE9-91F4-1987C6377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698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WEEK 5 ----Q2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95EF43-3AE6-4653-8848-52282A5BAE4A}"/>
              </a:ext>
            </a:extLst>
          </p:cNvPr>
          <p:cNvSpPr/>
          <p:nvPr/>
        </p:nvSpPr>
        <p:spPr>
          <a:xfrm>
            <a:off x="1124932" y="1562076"/>
            <a:ext cx="533242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FileReader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FileWriter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java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IOException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TextFileCopy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try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FileReader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FileReader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"C: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Users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MAHE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Desktop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\\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sampl.txt"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FileWriter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FileWriter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"destination.txt"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</a:t>
            </a:r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C350AF-568C-454C-A689-0BC5CFBCD598}"/>
              </a:ext>
            </a:extLst>
          </p:cNvPr>
          <p:cNvSpPr/>
          <p:nvPr/>
        </p:nvSpPr>
        <p:spPr>
          <a:xfrm>
            <a:off x="6457361" y="1374232"/>
            <a:ext cx="547697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((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fr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read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())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!=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fw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}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fr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close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fw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close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"Text file copied successfully"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catch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IOException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printStackTrace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0452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2854</Words>
  <Application>Microsoft Office PowerPoint</Application>
  <PresentationFormat>Widescreen</PresentationFormat>
  <Paragraphs>311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Arial</vt:lpstr>
      <vt:lpstr>Arial Unicode MS</vt:lpstr>
      <vt:lpstr>Calibri</vt:lpstr>
      <vt:lpstr>Calibri Light</vt:lpstr>
      <vt:lpstr>Consolas</vt:lpstr>
      <vt:lpstr>Symbol</vt:lpstr>
      <vt:lpstr>Times New Roman</vt:lpstr>
      <vt:lpstr>Wingdings</vt:lpstr>
      <vt:lpstr>Office Theme</vt:lpstr>
      <vt:lpstr>WEEK 5: Input/Output Streams – Byte Streams , Character Streams</vt:lpstr>
      <vt:lpstr>PowerPoint Presentation</vt:lpstr>
      <vt:lpstr>Byte stream Vs Character stream</vt:lpstr>
      <vt:lpstr>Byte stream Vs Character stream</vt:lpstr>
      <vt:lpstr>Byte stream</vt:lpstr>
      <vt:lpstr>PowerPoint Presentation</vt:lpstr>
      <vt:lpstr>PowerPoint Presentation</vt:lpstr>
      <vt:lpstr>PowerPoint Presentation</vt:lpstr>
      <vt:lpstr>BufferedInputStream  and BufferedOutputStream </vt:lpstr>
      <vt:lpstr>BufferedInputStream  and BufferedOutputStream </vt:lpstr>
      <vt:lpstr>BufferedInputStream  and BufferedOutputStream </vt:lpstr>
      <vt:lpstr>PowerPoint Presentation</vt:lpstr>
      <vt:lpstr>Character Streams</vt:lpstr>
      <vt:lpstr>Character Streams</vt:lpstr>
      <vt:lpstr>Character Streams</vt:lpstr>
      <vt:lpstr>Character Streams</vt:lpstr>
      <vt:lpstr>Character Streams</vt:lpstr>
      <vt:lpstr>Copying from one text file to another text file</vt:lpstr>
      <vt:lpstr>Writing multiple text files into a single file</vt:lpstr>
      <vt:lpstr>WEEK 5 ----Q1</vt:lpstr>
      <vt:lpstr>WEEK 5 ----Q2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</dc:title>
  <dc:creator>Ahamed  Shafeeq B. M. [MAHE-MIT]</dc:creator>
  <cp:lastModifiedBy>Ahamed  Shafeeq B. M. [MAHE-MIT]</cp:lastModifiedBy>
  <cp:revision>40</cp:revision>
  <dcterms:created xsi:type="dcterms:W3CDTF">2026-02-04T05:59:30Z</dcterms:created>
  <dcterms:modified xsi:type="dcterms:W3CDTF">2026-02-06T04:02:57Z</dcterms:modified>
</cp:coreProperties>
</file>