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1" r:id="rId3"/>
    <p:sldId id="257" r:id="rId4"/>
    <p:sldId id="262" r:id="rId5"/>
    <p:sldId id="263" r:id="rId6"/>
    <p:sldId id="264" r:id="rId7"/>
    <p:sldId id="265" r:id="rId8"/>
    <p:sldId id="266" r:id="rId9"/>
    <p:sldId id="267" r:id="rId10"/>
    <p:sldId id="268" r:id="rId11"/>
    <p:sldId id="269" r:id="rId12"/>
    <p:sldId id="270" r:id="rId13"/>
    <p:sldId id="271" r:id="rId14"/>
    <p:sldId id="273" r:id="rId15"/>
    <p:sldId id="272" r:id="rId16"/>
    <p:sldId id="274" r:id="rId17"/>
    <p:sldId id="275" r:id="rId18"/>
    <p:sldId id="276" r:id="rId19"/>
    <p:sldId id="277" r:id="rId20"/>
    <p:sldId id="278" r:id="rId21"/>
    <p:sldId id="279" r:id="rId22"/>
    <p:sldId id="280" r:id="rId23"/>
    <p:sldId id="281" r:id="rId24"/>
    <p:sldId id="283" r:id="rId25"/>
    <p:sldId id="282"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226C63-1B5E-4039-A822-7481082A404F}" type="datetimeFigureOut">
              <a:rPr lang="en-US" smtClean="0"/>
              <a:t>05-Jan-26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ECDB83-C639-4A5E-9329-2CDF7F65FAF6}" type="slidenum">
              <a:rPr lang="en-US" smtClean="0"/>
              <a:t>‹#›</a:t>
            </a:fld>
            <a:endParaRPr lang="en-US"/>
          </a:p>
        </p:txBody>
      </p:sp>
    </p:spTree>
    <p:extLst>
      <p:ext uri="{BB962C8B-B14F-4D97-AF65-F5344CB8AC3E}">
        <p14:creationId xmlns:p14="http://schemas.microsoft.com/office/powerpoint/2010/main" val="2503605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226C63-1B5E-4039-A822-7481082A404F}" type="datetimeFigureOut">
              <a:rPr lang="en-US" smtClean="0"/>
              <a:t>05-Jan-26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ECDB83-C639-4A5E-9329-2CDF7F65FAF6}" type="slidenum">
              <a:rPr lang="en-US" smtClean="0"/>
              <a:t>‹#›</a:t>
            </a:fld>
            <a:endParaRPr lang="en-US"/>
          </a:p>
        </p:txBody>
      </p:sp>
    </p:spTree>
    <p:extLst>
      <p:ext uri="{BB962C8B-B14F-4D97-AF65-F5344CB8AC3E}">
        <p14:creationId xmlns:p14="http://schemas.microsoft.com/office/powerpoint/2010/main" val="4203369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226C63-1B5E-4039-A822-7481082A404F}" type="datetimeFigureOut">
              <a:rPr lang="en-US" smtClean="0"/>
              <a:t>05-Jan-26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ECDB83-C639-4A5E-9329-2CDF7F65FAF6}" type="slidenum">
              <a:rPr lang="en-US" smtClean="0"/>
              <a:t>‹#›</a:t>
            </a:fld>
            <a:endParaRPr lang="en-US"/>
          </a:p>
        </p:txBody>
      </p:sp>
    </p:spTree>
    <p:extLst>
      <p:ext uri="{BB962C8B-B14F-4D97-AF65-F5344CB8AC3E}">
        <p14:creationId xmlns:p14="http://schemas.microsoft.com/office/powerpoint/2010/main" val="4134208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226C63-1B5E-4039-A822-7481082A404F}" type="datetimeFigureOut">
              <a:rPr lang="en-US" smtClean="0"/>
              <a:t>05-Jan-26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ECDB83-C639-4A5E-9329-2CDF7F65FAF6}" type="slidenum">
              <a:rPr lang="en-US" smtClean="0"/>
              <a:t>‹#›</a:t>
            </a:fld>
            <a:endParaRPr lang="en-US"/>
          </a:p>
        </p:txBody>
      </p:sp>
    </p:spTree>
    <p:extLst>
      <p:ext uri="{BB962C8B-B14F-4D97-AF65-F5344CB8AC3E}">
        <p14:creationId xmlns:p14="http://schemas.microsoft.com/office/powerpoint/2010/main" val="2358785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226C63-1B5E-4039-A822-7481082A404F}" type="datetimeFigureOut">
              <a:rPr lang="en-US" smtClean="0"/>
              <a:t>05-Jan-26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ECDB83-C639-4A5E-9329-2CDF7F65FAF6}" type="slidenum">
              <a:rPr lang="en-US" smtClean="0"/>
              <a:t>‹#›</a:t>
            </a:fld>
            <a:endParaRPr lang="en-US"/>
          </a:p>
        </p:txBody>
      </p:sp>
    </p:spTree>
    <p:extLst>
      <p:ext uri="{BB962C8B-B14F-4D97-AF65-F5344CB8AC3E}">
        <p14:creationId xmlns:p14="http://schemas.microsoft.com/office/powerpoint/2010/main" val="4103367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226C63-1B5E-4039-A822-7481082A404F}" type="datetimeFigureOut">
              <a:rPr lang="en-US" smtClean="0"/>
              <a:t>05-Jan-26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ECDB83-C639-4A5E-9329-2CDF7F65FAF6}" type="slidenum">
              <a:rPr lang="en-US" smtClean="0"/>
              <a:t>‹#›</a:t>
            </a:fld>
            <a:endParaRPr lang="en-US"/>
          </a:p>
        </p:txBody>
      </p:sp>
    </p:spTree>
    <p:extLst>
      <p:ext uri="{BB962C8B-B14F-4D97-AF65-F5344CB8AC3E}">
        <p14:creationId xmlns:p14="http://schemas.microsoft.com/office/powerpoint/2010/main" val="2988451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226C63-1B5E-4039-A822-7481082A404F}" type="datetimeFigureOut">
              <a:rPr lang="en-US" smtClean="0"/>
              <a:t>05-Jan-26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ECDB83-C639-4A5E-9329-2CDF7F65FAF6}" type="slidenum">
              <a:rPr lang="en-US" smtClean="0"/>
              <a:t>‹#›</a:t>
            </a:fld>
            <a:endParaRPr lang="en-US"/>
          </a:p>
        </p:txBody>
      </p:sp>
    </p:spTree>
    <p:extLst>
      <p:ext uri="{BB962C8B-B14F-4D97-AF65-F5344CB8AC3E}">
        <p14:creationId xmlns:p14="http://schemas.microsoft.com/office/powerpoint/2010/main" val="3059333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226C63-1B5E-4039-A822-7481082A404F}" type="datetimeFigureOut">
              <a:rPr lang="en-US" smtClean="0"/>
              <a:t>05-Jan-26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ECDB83-C639-4A5E-9329-2CDF7F65FAF6}" type="slidenum">
              <a:rPr lang="en-US" smtClean="0"/>
              <a:t>‹#›</a:t>
            </a:fld>
            <a:endParaRPr lang="en-US"/>
          </a:p>
        </p:txBody>
      </p:sp>
    </p:spTree>
    <p:extLst>
      <p:ext uri="{BB962C8B-B14F-4D97-AF65-F5344CB8AC3E}">
        <p14:creationId xmlns:p14="http://schemas.microsoft.com/office/powerpoint/2010/main" val="4164626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226C63-1B5E-4039-A822-7481082A404F}" type="datetimeFigureOut">
              <a:rPr lang="en-US" smtClean="0"/>
              <a:t>05-Jan-26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ECDB83-C639-4A5E-9329-2CDF7F65FAF6}" type="slidenum">
              <a:rPr lang="en-US" smtClean="0"/>
              <a:t>‹#›</a:t>
            </a:fld>
            <a:endParaRPr lang="en-US"/>
          </a:p>
        </p:txBody>
      </p:sp>
    </p:spTree>
    <p:extLst>
      <p:ext uri="{BB962C8B-B14F-4D97-AF65-F5344CB8AC3E}">
        <p14:creationId xmlns:p14="http://schemas.microsoft.com/office/powerpoint/2010/main" val="1031425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226C63-1B5E-4039-A822-7481082A404F}" type="datetimeFigureOut">
              <a:rPr lang="en-US" smtClean="0"/>
              <a:t>05-Jan-26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ECDB83-C639-4A5E-9329-2CDF7F65FAF6}" type="slidenum">
              <a:rPr lang="en-US" smtClean="0"/>
              <a:t>‹#›</a:t>
            </a:fld>
            <a:endParaRPr lang="en-US"/>
          </a:p>
        </p:txBody>
      </p:sp>
    </p:spTree>
    <p:extLst>
      <p:ext uri="{BB962C8B-B14F-4D97-AF65-F5344CB8AC3E}">
        <p14:creationId xmlns:p14="http://schemas.microsoft.com/office/powerpoint/2010/main" val="4148246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226C63-1B5E-4039-A822-7481082A404F}" type="datetimeFigureOut">
              <a:rPr lang="en-US" smtClean="0"/>
              <a:t>05-Jan-26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ECDB83-C639-4A5E-9329-2CDF7F65FAF6}"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173289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226C63-1B5E-4039-A822-7481082A404F}" type="datetimeFigureOut">
              <a:rPr lang="en-US" smtClean="0"/>
              <a:t>05-Jan-26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ECDB83-C639-4A5E-9329-2CDF7F65FAF6}" type="slidenum">
              <a:rPr lang="en-US" smtClean="0"/>
              <a:t>‹#›</a:t>
            </a:fld>
            <a:endParaRPr lang="en-US"/>
          </a:p>
        </p:txBody>
      </p:sp>
    </p:spTree>
    <p:extLst>
      <p:ext uri="{BB962C8B-B14F-4D97-AF65-F5344CB8AC3E}">
        <p14:creationId xmlns:p14="http://schemas.microsoft.com/office/powerpoint/2010/main" val="3819647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226C63-1B5E-4039-A822-7481082A404F}" type="datetimeFigureOut">
              <a:rPr lang="en-US" smtClean="0"/>
              <a:t>05-Jan-26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ECDB83-C639-4A5E-9329-2CDF7F65FAF6}"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048842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226C63-1B5E-4039-A822-7481082A404F}" type="datetimeFigureOut">
              <a:rPr lang="en-US" smtClean="0"/>
              <a:t>05-Jan-26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ECDB83-C639-4A5E-9329-2CDF7F65FAF6}" type="slidenum">
              <a:rPr lang="en-US" smtClean="0"/>
              <a:t>‹#›</a:t>
            </a:fld>
            <a:endParaRPr lang="en-US"/>
          </a:p>
        </p:txBody>
      </p:sp>
    </p:spTree>
    <p:extLst>
      <p:ext uri="{BB962C8B-B14F-4D97-AF65-F5344CB8AC3E}">
        <p14:creationId xmlns:p14="http://schemas.microsoft.com/office/powerpoint/2010/main" val="21045422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226C63-1B5E-4039-A822-7481082A404F}" type="datetimeFigureOut">
              <a:rPr lang="en-US" smtClean="0"/>
              <a:t>05-Jan-26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ECDB83-C639-4A5E-9329-2CDF7F65FAF6}" type="slidenum">
              <a:rPr lang="en-US" smtClean="0"/>
              <a:t>‹#›</a:t>
            </a:fld>
            <a:endParaRPr lang="en-US"/>
          </a:p>
        </p:txBody>
      </p:sp>
    </p:spTree>
    <p:extLst>
      <p:ext uri="{BB962C8B-B14F-4D97-AF65-F5344CB8AC3E}">
        <p14:creationId xmlns:p14="http://schemas.microsoft.com/office/powerpoint/2010/main" val="19005055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226C63-1B5E-4039-A822-7481082A404F}" type="datetimeFigureOut">
              <a:rPr lang="en-US" smtClean="0"/>
              <a:t>05-Jan-26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ECDB83-C639-4A5E-9329-2CDF7F65FAF6}" type="slidenum">
              <a:rPr lang="en-US" smtClean="0"/>
              <a:t>‹#›</a:t>
            </a:fld>
            <a:endParaRPr lang="en-US"/>
          </a:p>
        </p:txBody>
      </p:sp>
    </p:spTree>
    <p:extLst>
      <p:ext uri="{BB962C8B-B14F-4D97-AF65-F5344CB8AC3E}">
        <p14:creationId xmlns:p14="http://schemas.microsoft.com/office/powerpoint/2010/main" val="1039832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1226C63-1B5E-4039-A822-7481082A404F}" type="datetimeFigureOut">
              <a:rPr lang="en-US" smtClean="0"/>
              <a:t>05-Jan-26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BECDB83-C639-4A5E-9329-2CDF7F65FAF6}" type="slidenum">
              <a:rPr lang="en-US" smtClean="0"/>
              <a:t>‹#›</a:t>
            </a:fld>
            <a:endParaRPr lang="en-US"/>
          </a:p>
        </p:txBody>
      </p:sp>
    </p:spTree>
    <p:extLst>
      <p:ext uri="{BB962C8B-B14F-4D97-AF65-F5344CB8AC3E}">
        <p14:creationId xmlns:p14="http://schemas.microsoft.com/office/powerpoint/2010/main" val="397288330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java/object-oriented-programming-oops-concept-in-java/"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geeksforgeeks.org/java/method-overloading-in-java/" TargetMode="External"/><Relationship Id="rId2" Type="http://schemas.openxmlformats.org/officeDocument/2006/relationships/hyperlink" Target="https://www.geeksforgeeks.org/java/compile-time-polymorphism-in-java/"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www.geeksforgeeks.org/java/overriding-in-java/" TargetMode="External"/><Relationship Id="rId2" Type="http://schemas.openxmlformats.org/officeDocument/2006/relationships/hyperlink" Target="https://www.geeksforgeeks.org/java/dynamic-method-dispatch-runtime-polymorphism-java/"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geeksforgeeks.org/java/java-this-keywor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hyperlink" Target="https://www.geeksforgeeks.org/java/copy-constructor-in-java/"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hyperlink" Target="https://www.geeksforgeeks.org/system-design/singleton-design-pattern/"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BE447-3E9C-8ED6-E910-E262C26A65BA}"/>
              </a:ext>
            </a:extLst>
          </p:cNvPr>
          <p:cNvSpPr>
            <a:spLocks noGrp="1"/>
          </p:cNvSpPr>
          <p:nvPr>
            <p:ph type="ctrTitle"/>
          </p:nvPr>
        </p:nvSpPr>
        <p:spPr>
          <a:xfrm>
            <a:off x="-237744" y="665138"/>
            <a:ext cx="11494007" cy="2541431"/>
          </a:xfrm>
        </p:spPr>
        <p:txBody>
          <a:bodyPr>
            <a:normAutofit/>
          </a:bodyPr>
          <a:lstStyle/>
          <a:p>
            <a:pPr algn="ctr"/>
            <a:r>
              <a:rPr lang="en-US" dirty="0"/>
              <a:t>Object Oriented Software Development Lab</a:t>
            </a:r>
          </a:p>
        </p:txBody>
      </p:sp>
      <p:sp>
        <p:nvSpPr>
          <p:cNvPr id="3" name="Subtitle 2">
            <a:extLst>
              <a:ext uri="{FF2B5EF4-FFF2-40B4-BE49-F238E27FC236}">
                <a16:creationId xmlns:a16="http://schemas.microsoft.com/office/drawing/2014/main" id="{8BC6FBF8-A5F7-A285-E4B4-A5FB30D32D51}"/>
              </a:ext>
            </a:extLst>
          </p:cNvPr>
          <p:cNvSpPr>
            <a:spLocks noGrp="1"/>
          </p:cNvSpPr>
          <p:nvPr>
            <p:ph type="subTitle" idx="1"/>
          </p:nvPr>
        </p:nvSpPr>
        <p:spPr>
          <a:xfrm>
            <a:off x="1524000" y="4159822"/>
            <a:ext cx="9144000" cy="1655762"/>
          </a:xfrm>
        </p:spPr>
        <p:txBody>
          <a:bodyPr>
            <a:normAutofit/>
          </a:bodyPr>
          <a:lstStyle/>
          <a:p>
            <a:pPr algn="l"/>
            <a:r>
              <a:rPr lang="en-US" sz="2400" b="1" dirty="0">
                <a:solidFill>
                  <a:schemeClr val="tx1"/>
                </a:solidFill>
              </a:rPr>
              <a:t>Subject code: </a:t>
            </a:r>
            <a:r>
              <a:rPr lang="en-US" sz="2400" dirty="0">
                <a:solidFill>
                  <a:schemeClr val="tx1"/>
                </a:solidFill>
              </a:rPr>
              <a:t>CSS 2213 					</a:t>
            </a:r>
            <a:r>
              <a:rPr lang="en-US" sz="2400" b="1" dirty="0">
                <a:solidFill>
                  <a:schemeClr val="tx1"/>
                </a:solidFill>
              </a:rPr>
              <a:t>    Credits: </a:t>
            </a:r>
            <a:r>
              <a:rPr lang="en-US" sz="2400" dirty="0">
                <a:solidFill>
                  <a:schemeClr val="tx1"/>
                </a:solidFill>
              </a:rPr>
              <a:t>2</a:t>
            </a:r>
          </a:p>
          <a:p>
            <a:pPr algn="l"/>
            <a:r>
              <a:rPr lang="en-US" sz="2400" b="1" dirty="0">
                <a:solidFill>
                  <a:schemeClr val="tx1"/>
                </a:solidFill>
              </a:rPr>
              <a:t>Sem and Branch: </a:t>
            </a:r>
            <a:r>
              <a:rPr lang="en-US" sz="2400" dirty="0">
                <a:solidFill>
                  <a:schemeClr val="tx1"/>
                </a:solidFill>
              </a:rPr>
              <a:t>4CSE D1 Batch</a:t>
            </a:r>
          </a:p>
          <a:p>
            <a:pPr algn="l"/>
            <a:r>
              <a:rPr lang="en-US" sz="2400" b="1" dirty="0">
                <a:solidFill>
                  <a:schemeClr val="tx1"/>
                </a:solidFill>
              </a:rPr>
              <a:t>Faculties: </a:t>
            </a:r>
            <a:r>
              <a:rPr lang="en-US" sz="2400" dirty="0">
                <a:solidFill>
                  <a:schemeClr val="tx1"/>
                </a:solidFill>
              </a:rPr>
              <a:t>Ms. Jayashree Hegde K, Dr. Ramya D Shetty</a:t>
            </a:r>
          </a:p>
        </p:txBody>
      </p:sp>
    </p:spTree>
    <p:extLst>
      <p:ext uri="{BB962C8B-B14F-4D97-AF65-F5344CB8AC3E}">
        <p14:creationId xmlns:p14="http://schemas.microsoft.com/office/powerpoint/2010/main" val="1602956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3E09F-13E5-4A35-C22F-D54838332C93}"/>
              </a:ext>
            </a:extLst>
          </p:cNvPr>
          <p:cNvSpPr>
            <a:spLocks noGrp="1"/>
          </p:cNvSpPr>
          <p:nvPr>
            <p:ph type="title"/>
          </p:nvPr>
        </p:nvSpPr>
        <p:spPr/>
        <p:txBody>
          <a:bodyPr/>
          <a:lstStyle/>
          <a:p>
            <a:r>
              <a:rPr lang="en-US" dirty="0"/>
              <a:t>Installation</a:t>
            </a:r>
          </a:p>
        </p:txBody>
      </p:sp>
      <p:sp>
        <p:nvSpPr>
          <p:cNvPr id="3" name="Content Placeholder 2">
            <a:extLst>
              <a:ext uri="{FF2B5EF4-FFF2-40B4-BE49-F238E27FC236}">
                <a16:creationId xmlns:a16="http://schemas.microsoft.com/office/drawing/2014/main" id="{604BDC90-59AD-5BDB-F583-4C1B125443DC}"/>
              </a:ext>
            </a:extLst>
          </p:cNvPr>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JDK (latest)</a:t>
            </a:r>
          </a:p>
          <a:p>
            <a:r>
              <a:rPr lang="en-US" sz="2600" dirty="0">
                <a:latin typeface="Times New Roman" panose="02020603050405020304" pitchFamily="18" charset="0"/>
                <a:cs typeface="Times New Roman" panose="02020603050405020304" pitchFamily="18" charset="0"/>
              </a:rPr>
              <a:t>Visual Studio Code</a:t>
            </a:r>
          </a:p>
          <a:p>
            <a:r>
              <a:rPr lang="en-US" sz="2600" dirty="0">
                <a:latin typeface="Times New Roman" panose="02020603050405020304" pitchFamily="18" charset="0"/>
                <a:cs typeface="Times New Roman" panose="02020603050405020304" pitchFamily="18" charset="0"/>
              </a:rPr>
              <a:t>Java for Visual Studio Code</a:t>
            </a:r>
          </a:p>
        </p:txBody>
      </p:sp>
    </p:spTree>
    <p:extLst>
      <p:ext uri="{BB962C8B-B14F-4D97-AF65-F5344CB8AC3E}">
        <p14:creationId xmlns:p14="http://schemas.microsoft.com/office/powerpoint/2010/main" val="2008431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D72BE-59A6-B737-DF22-DAF83EA6D7FD}"/>
              </a:ext>
            </a:extLst>
          </p:cNvPr>
          <p:cNvSpPr>
            <a:spLocks noGrp="1"/>
          </p:cNvSpPr>
          <p:nvPr>
            <p:ph type="title"/>
          </p:nvPr>
        </p:nvSpPr>
        <p:spPr>
          <a:xfrm>
            <a:off x="256033" y="804519"/>
            <a:ext cx="10798822" cy="1049235"/>
          </a:xfrm>
        </p:spPr>
        <p:txBody>
          <a:bodyPr>
            <a:normAutofit fontScale="90000"/>
          </a:bodyPr>
          <a:lstStyle/>
          <a:p>
            <a:r>
              <a:rPr lang="en-US" sz="3600" dirty="0"/>
              <a:t>Week 1: Review of Object-Oriented Programming Concepts</a:t>
            </a:r>
          </a:p>
        </p:txBody>
      </p:sp>
      <p:sp>
        <p:nvSpPr>
          <p:cNvPr id="3" name="Content Placeholder 2">
            <a:extLst>
              <a:ext uri="{FF2B5EF4-FFF2-40B4-BE49-F238E27FC236}">
                <a16:creationId xmlns:a16="http://schemas.microsoft.com/office/drawing/2014/main" id="{3B00DEEC-A0EB-B864-B02D-885BFF0E50CF}"/>
              </a:ext>
            </a:extLst>
          </p:cNvPr>
          <p:cNvSpPr>
            <a:spLocks noGrp="1"/>
          </p:cNvSpPr>
          <p:nvPr>
            <p:ph idx="1"/>
          </p:nvPr>
        </p:nvSpPr>
        <p:spPr/>
        <p:txBody>
          <a:bodyPr>
            <a:normAutofit fontScale="92500" lnSpcReduction="10000"/>
          </a:bodyPr>
          <a:lstStyle/>
          <a:p>
            <a:r>
              <a:rPr lang="en-US" sz="2800" dirty="0">
                <a:latin typeface="Times New Roman" panose="02020603050405020304" pitchFamily="18" charset="0"/>
                <a:cs typeface="Times New Roman" panose="02020603050405020304" pitchFamily="18" charset="0"/>
              </a:rPr>
              <a:t>Class and Object</a:t>
            </a:r>
          </a:p>
          <a:p>
            <a:r>
              <a:rPr lang="en-US" sz="2800" dirty="0">
                <a:latin typeface="Times New Roman" panose="02020603050405020304" pitchFamily="18" charset="0"/>
                <a:cs typeface="Times New Roman" panose="02020603050405020304" pitchFamily="18" charset="0"/>
              </a:rPr>
              <a:t>Encapsulation</a:t>
            </a:r>
          </a:p>
          <a:p>
            <a:r>
              <a:rPr lang="en-US" sz="2800" dirty="0">
                <a:latin typeface="Times New Roman" panose="02020603050405020304" pitchFamily="18" charset="0"/>
                <a:cs typeface="Times New Roman" panose="02020603050405020304" pitchFamily="18" charset="0"/>
              </a:rPr>
              <a:t>Inheritance</a:t>
            </a:r>
          </a:p>
          <a:p>
            <a:r>
              <a:rPr lang="en-US" sz="2800" dirty="0">
                <a:latin typeface="Times New Roman" panose="02020603050405020304" pitchFamily="18" charset="0"/>
                <a:cs typeface="Times New Roman" panose="02020603050405020304" pitchFamily="18" charset="0"/>
              </a:rPr>
              <a:t>Polymorphism</a:t>
            </a:r>
          </a:p>
          <a:p>
            <a:r>
              <a:rPr lang="en-US" sz="2800" dirty="0">
                <a:latin typeface="Times New Roman" panose="02020603050405020304" pitchFamily="18" charset="0"/>
                <a:cs typeface="Times New Roman" panose="02020603050405020304" pitchFamily="18" charset="0"/>
              </a:rPr>
              <a:t>Method Overloading and Overriding</a:t>
            </a:r>
          </a:p>
          <a:p>
            <a:r>
              <a:rPr lang="en-US" sz="2800" dirty="0">
                <a:latin typeface="Times New Roman" panose="02020603050405020304" pitchFamily="18" charset="0"/>
                <a:cs typeface="Times New Roman" panose="02020603050405020304" pitchFamily="18" charset="0"/>
              </a:rPr>
              <a:t>this and super keywords</a:t>
            </a:r>
          </a:p>
          <a:p>
            <a:r>
              <a:rPr lang="en-US" sz="2800" dirty="0">
                <a:latin typeface="Times New Roman" panose="02020603050405020304" pitchFamily="18" charset="0"/>
                <a:cs typeface="Times New Roman" panose="02020603050405020304" pitchFamily="18" charset="0"/>
              </a:rPr>
              <a:t>Constructors</a:t>
            </a:r>
          </a:p>
          <a:p>
            <a:r>
              <a:rPr lang="en-US" sz="2800" dirty="0">
                <a:latin typeface="Times New Roman" panose="02020603050405020304" pitchFamily="18" charset="0"/>
                <a:cs typeface="Times New Roman" panose="02020603050405020304" pitchFamily="18" charset="0"/>
              </a:rPr>
              <a:t>Abstraction</a:t>
            </a:r>
          </a:p>
        </p:txBody>
      </p:sp>
    </p:spTree>
    <p:extLst>
      <p:ext uri="{BB962C8B-B14F-4D97-AF65-F5344CB8AC3E}">
        <p14:creationId xmlns:p14="http://schemas.microsoft.com/office/powerpoint/2010/main" val="2304579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DA2C5-93D8-2F34-E918-39684275DD32}"/>
              </a:ext>
            </a:extLst>
          </p:cNvPr>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Class and Object</a:t>
            </a:r>
          </a:p>
        </p:txBody>
      </p:sp>
      <p:sp>
        <p:nvSpPr>
          <p:cNvPr id="3" name="Content Placeholder 2">
            <a:extLst>
              <a:ext uri="{FF2B5EF4-FFF2-40B4-BE49-F238E27FC236}">
                <a16:creationId xmlns:a16="http://schemas.microsoft.com/office/drawing/2014/main" id="{E59362A5-5F95-A743-7A66-34D11C0E48D5}"/>
              </a:ext>
            </a:extLst>
          </p:cNvPr>
          <p:cNvSpPr>
            <a:spLocks noGrp="1"/>
          </p:cNvSpPr>
          <p:nvPr>
            <p:ph idx="1"/>
          </p:nvPr>
        </p:nvSpPr>
        <p:spPr>
          <a:xfrm>
            <a:off x="521886" y="1685101"/>
            <a:ext cx="8596668" cy="3880773"/>
          </a:xfrm>
        </p:spPr>
        <p:txBody>
          <a:bodyPr>
            <a:normAutofit/>
          </a:bodyPr>
          <a:lstStyle/>
          <a:p>
            <a:r>
              <a:rPr lang="en-US" sz="2600" dirty="0">
                <a:latin typeface="Times New Roman" panose="02020603050405020304" pitchFamily="18" charset="0"/>
                <a:cs typeface="Times New Roman" panose="02020603050405020304" pitchFamily="18" charset="0"/>
              </a:rPr>
              <a:t>A class is a blueprint used to create objects that share common properties and behavior.</a:t>
            </a:r>
          </a:p>
          <a:p>
            <a:r>
              <a:rPr lang="en-US" sz="2600" dirty="0">
                <a:latin typeface="Times New Roman" panose="02020603050405020304" pitchFamily="18" charset="0"/>
                <a:cs typeface="Times New Roman" panose="02020603050405020304" pitchFamily="18" charset="0"/>
              </a:rPr>
              <a:t>An object is an instance of a class. It represents a specific entity created from the class template.</a:t>
            </a:r>
          </a:p>
        </p:txBody>
      </p:sp>
      <p:sp>
        <p:nvSpPr>
          <p:cNvPr id="6" name="AutoShape 6" descr="Class_Object_example">
            <a:extLst>
              <a:ext uri="{FF2B5EF4-FFF2-40B4-BE49-F238E27FC236}">
                <a16:creationId xmlns:a16="http://schemas.microsoft.com/office/drawing/2014/main" id="{9F688133-A2E1-3413-DCC4-5AD8CE9AA3C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01762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B4F71-272D-1FE7-B871-247C229C2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B933B1-A01D-2819-0661-69FA0B19E97A}"/>
              </a:ext>
            </a:extLst>
          </p:cNvPr>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Class and Object</a:t>
            </a:r>
          </a:p>
        </p:txBody>
      </p:sp>
      <p:pic>
        <p:nvPicPr>
          <p:cNvPr id="5" name="Content Placeholder 4">
            <a:extLst>
              <a:ext uri="{FF2B5EF4-FFF2-40B4-BE49-F238E27FC236}">
                <a16:creationId xmlns:a16="http://schemas.microsoft.com/office/drawing/2014/main" id="{5822EC7B-D409-7C11-5795-358B324B46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9007" y="1684338"/>
            <a:ext cx="8988764" cy="4494383"/>
          </a:xfrm>
        </p:spPr>
      </p:pic>
      <p:sp>
        <p:nvSpPr>
          <p:cNvPr id="6" name="AutoShape 6" descr="Class_Object_example">
            <a:extLst>
              <a:ext uri="{FF2B5EF4-FFF2-40B4-BE49-F238E27FC236}">
                <a16:creationId xmlns:a16="http://schemas.microsoft.com/office/drawing/2014/main" id="{DEC97076-48E0-B5B1-CAB2-FE46724DC9C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23021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B27C0-065C-1B1D-9257-21B424FDD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A7225-E13B-7B91-AE05-65431B51E28D}"/>
              </a:ext>
            </a:extLst>
          </p:cNvPr>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Class and Object - Example</a:t>
            </a:r>
          </a:p>
        </p:txBody>
      </p:sp>
      <p:sp>
        <p:nvSpPr>
          <p:cNvPr id="6" name="AutoShape 6" descr="Class_Object_example">
            <a:extLst>
              <a:ext uri="{FF2B5EF4-FFF2-40B4-BE49-F238E27FC236}">
                <a16:creationId xmlns:a16="http://schemas.microsoft.com/office/drawing/2014/main" id="{3B752DD8-3021-B46C-A851-DA2DD853042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Content Placeholder 3">
            <a:extLst>
              <a:ext uri="{FF2B5EF4-FFF2-40B4-BE49-F238E27FC236}">
                <a16:creationId xmlns:a16="http://schemas.microsoft.com/office/drawing/2014/main" id="{2B88ABBE-9E87-6FCF-1945-9A384B89295B}"/>
              </a:ext>
            </a:extLst>
          </p:cNvPr>
          <p:cNvSpPr>
            <a:spLocks noGrp="1"/>
          </p:cNvSpPr>
          <p:nvPr>
            <p:ph idx="1"/>
          </p:nvPr>
        </p:nvSpPr>
        <p:spPr/>
        <p:txBody>
          <a:bodyPr/>
          <a:lstStyle/>
          <a:p>
            <a:endParaRPr lang="en-US" dirty="0"/>
          </a:p>
        </p:txBody>
      </p:sp>
      <p:sp>
        <p:nvSpPr>
          <p:cNvPr id="8" name="TextBox 7">
            <a:extLst>
              <a:ext uri="{FF2B5EF4-FFF2-40B4-BE49-F238E27FC236}">
                <a16:creationId xmlns:a16="http://schemas.microsoft.com/office/drawing/2014/main" id="{26E7B6E5-9C92-C2FB-E04D-F389CF5642BB}"/>
              </a:ext>
            </a:extLst>
          </p:cNvPr>
          <p:cNvSpPr txBox="1"/>
          <p:nvPr/>
        </p:nvSpPr>
        <p:spPr>
          <a:xfrm>
            <a:off x="832104" y="1599843"/>
            <a:ext cx="7813548" cy="4801314"/>
          </a:xfrm>
          <a:prstGeom prst="rect">
            <a:avLst/>
          </a:prstGeom>
          <a:noFill/>
        </p:spPr>
        <p:txBody>
          <a:bodyPr wrap="square">
            <a:spAutoFit/>
          </a:bodyPr>
          <a:lstStyle/>
          <a:p>
            <a:r>
              <a:rPr lang="en-US" dirty="0"/>
              <a:t>class Student {</a:t>
            </a:r>
          </a:p>
          <a:p>
            <a:r>
              <a:rPr lang="en-US" dirty="0"/>
              <a:t>    int id;</a:t>
            </a:r>
          </a:p>
          <a:p>
            <a:r>
              <a:rPr lang="en-US" dirty="0"/>
              <a:t>    String n;</a:t>
            </a:r>
          </a:p>
          <a:p>
            <a:endParaRPr lang="en-US" dirty="0"/>
          </a:p>
          <a:p>
            <a:r>
              <a:rPr lang="en-US" dirty="0"/>
              <a:t>    public Student(int id, String n) {</a:t>
            </a:r>
          </a:p>
          <a:p>
            <a:r>
              <a:rPr lang="en-US" dirty="0"/>
              <a:t>        this.id = id;</a:t>
            </a:r>
          </a:p>
          <a:p>
            <a:r>
              <a:rPr lang="en-US" dirty="0"/>
              <a:t>        </a:t>
            </a:r>
            <a:r>
              <a:rPr lang="en-US" dirty="0" err="1"/>
              <a:t>this.n</a:t>
            </a:r>
            <a:r>
              <a:rPr lang="en-US" dirty="0"/>
              <a:t> = n;</a:t>
            </a:r>
          </a:p>
          <a:p>
            <a:r>
              <a:rPr lang="en-US" dirty="0"/>
              <a:t>    }</a:t>
            </a:r>
          </a:p>
          <a:p>
            <a:r>
              <a:rPr lang="en-US" dirty="0"/>
              <a:t>}</a:t>
            </a:r>
          </a:p>
          <a:p>
            <a:endParaRPr lang="en-US" dirty="0"/>
          </a:p>
          <a:p>
            <a:r>
              <a:rPr lang="en-US" dirty="0"/>
              <a:t>public class Main {</a:t>
            </a:r>
          </a:p>
          <a:p>
            <a:r>
              <a:rPr lang="en-US" dirty="0"/>
              <a:t>    public static void main(String[] </a:t>
            </a:r>
            <a:r>
              <a:rPr lang="en-US" dirty="0" err="1"/>
              <a:t>args</a:t>
            </a:r>
            <a:r>
              <a:rPr lang="en-US" dirty="0"/>
              <a:t>) {</a:t>
            </a:r>
          </a:p>
          <a:p>
            <a:r>
              <a:rPr lang="en-US" dirty="0"/>
              <a:t>        Student s1 = new Student(10, "Alice");</a:t>
            </a:r>
          </a:p>
          <a:p>
            <a:r>
              <a:rPr lang="en-US" dirty="0"/>
              <a:t>        </a:t>
            </a:r>
            <a:r>
              <a:rPr lang="en-US" dirty="0" err="1"/>
              <a:t>System.out.println</a:t>
            </a:r>
            <a:r>
              <a:rPr lang="en-US" dirty="0"/>
              <a:t>(s1.id);</a:t>
            </a:r>
          </a:p>
          <a:p>
            <a:r>
              <a:rPr lang="en-US" dirty="0"/>
              <a:t>        </a:t>
            </a:r>
            <a:r>
              <a:rPr lang="en-US" dirty="0" err="1"/>
              <a:t>System.out.println</a:t>
            </a:r>
            <a:r>
              <a:rPr lang="en-US" dirty="0"/>
              <a:t>(s1.n);</a:t>
            </a:r>
          </a:p>
          <a:p>
            <a:r>
              <a:rPr lang="en-US" dirty="0"/>
              <a:t>    }</a:t>
            </a:r>
          </a:p>
          <a:p>
            <a:r>
              <a:rPr lang="en-US" dirty="0"/>
              <a:t>}</a:t>
            </a:r>
          </a:p>
        </p:txBody>
      </p:sp>
    </p:spTree>
    <p:extLst>
      <p:ext uri="{BB962C8B-B14F-4D97-AF65-F5344CB8AC3E}">
        <p14:creationId xmlns:p14="http://schemas.microsoft.com/office/powerpoint/2010/main" val="936344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DEBB8-3721-3726-B579-8ACA84D550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AFDEE6-D693-B6C2-C6A1-643833285A6F}"/>
              </a:ext>
            </a:extLst>
          </p:cNvPr>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Encapsulation</a:t>
            </a:r>
          </a:p>
        </p:txBody>
      </p:sp>
      <p:sp>
        <p:nvSpPr>
          <p:cNvPr id="6" name="AutoShape 6" descr="Class_Object_example">
            <a:extLst>
              <a:ext uri="{FF2B5EF4-FFF2-40B4-BE49-F238E27FC236}">
                <a16:creationId xmlns:a16="http://schemas.microsoft.com/office/drawing/2014/main" id="{9C62CED1-01AB-C907-4446-7979D4DAA47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Content Placeholder 3">
            <a:extLst>
              <a:ext uri="{FF2B5EF4-FFF2-40B4-BE49-F238E27FC236}">
                <a16:creationId xmlns:a16="http://schemas.microsoft.com/office/drawing/2014/main" id="{725D7D86-C475-882C-0CB2-56AB7A3D3E2E}"/>
              </a:ext>
            </a:extLst>
          </p:cNvPr>
          <p:cNvSpPr>
            <a:spLocks noGrp="1"/>
          </p:cNvSpPr>
          <p:nvPr>
            <p:ph idx="1"/>
          </p:nvPr>
        </p:nvSpPr>
        <p:spPr>
          <a:xfrm>
            <a:off x="329862" y="1481329"/>
            <a:ext cx="9463362" cy="4413730"/>
          </a:xfrm>
        </p:spPr>
        <p:txBody>
          <a:bodyPr>
            <a:normAutofit/>
          </a:bodyPr>
          <a:lstStyle/>
          <a:p>
            <a:pPr algn="just" fontAlgn="base"/>
            <a:r>
              <a:rPr lang="en-US" sz="2600" dirty="0">
                <a:latin typeface="Times New Roman" panose="02020603050405020304" pitchFamily="18" charset="0"/>
                <a:cs typeface="Times New Roman" panose="02020603050405020304" pitchFamily="18" charset="0"/>
              </a:rPr>
              <a:t>Encapsulation means combining data and the functions that work on that data into a single unit, like a class. In </a:t>
            </a:r>
            <a:r>
              <a:rPr lang="en-US" sz="2600" u="sng" dirty="0">
                <a:latin typeface="Times New Roman" panose="02020603050405020304" pitchFamily="18" charset="0"/>
                <a:cs typeface="Times New Roman" panose="02020603050405020304" pitchFamily="18" charset="0"/>
                <a:hlinkClick r:id="rId2"/>
              </a:rPr>
              <a:t>Object-Oriented Programming</a:t>
            </a:r>
            <a:r>
              <a:rPr lang="en-US" sz="2600" dirty="0">
                <a:latin typeface="Times New Roman" panose="02020603050405020304" pitchFamily="18" charset="0"/>
                <a:cs typeface="Times New Roman" panose="02020603050405020304" pitchFamily="18" charset="0"/>
              </a:rPr>
              <a:t>, it helps keep things organized and secure.</a:t>
            </a:r>
          </a:p>
          <a:p>
            <a:pPr algn="just" fontAlgn="base"/>
            <a:r>
              <a:rPr lang="en-US" sz="2600" dirty="0">
                <a:latin typeface="Times New Roman" panose="02020603050405020304" pitchFamily="18" charset="0"/>
                <a:cs typeface="Times New Roman" panose="02020603050405020304" pitchFamily="18" charset="0"/>
              </a:rPr>
              <a:t>A class can hide the implementation part and discloses only the functionalities required by other classes. By making class data and methods private, representations or implementations can later be changed without impacting the codes that uses this class.</a:t>
            </a:r>
          </a:p>
          <a:p>
            <a:pPr marL="0" indent="0">
              <a:buNone/>
            </a:pPr>
            <a:endParaRPr lang="en-US" dirty="0"/>
          </a:p>
        </p:txBody>
      </p:sp>
    </p:spTree>
    <p:extLst>
      <p:ext uri="{BB962C8B-B14F-4D97-AF65-F5344CB8AC3E}">
        <p14:creationId xmlns:p14="http://schemas.microsoft.com/office/powerpoint/2010/main" val="1842374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2824B-D44D-A68B-B5B4-F980D91AC5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F6055-B681-2A2F-5F94-88F1E7DAAE41}"/>
              </a:ext>
            </a:extLst>
          </p:cNvPr>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Encapsulation</a:t>
            </a:r>
          </a:p>
        </p:txBody>
      </p:sp>
      <p:sp>
        <p:nvSpPr>
          <p:cNvPr id="6" name="AutoShape 6" descr="Class_Object_example">
            <a:extLst>
              <a:ext uri="{FF2B5EF4-FFF2-40B4-BE49-F238E27FC236}">
                <a16:creationId xmlns:a16="http://schemas.microsoft.com/office/drawing/2014/main" id="{8C3B6C3A-4B92-3EB0-BBF2-93ACD9D3ACA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Content Placeholder 4">
            <a:extLst>
              <a:ext uri="{FF2B5EF4-FFF2-40B4-BE49-F238E27FC236}">
                <a16:creationId xmlns:a16="http://schemas.microsoft.com/office/drawing/2014/main" id="{9ED8B754-EF6F-6992-B2F9-EDE0CC61C7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8494" y="1481138"/>
            <a:ext cx="8826499" cy="4413250"/>
          </a:xfrm>
        </p:spPr>
      </p:pic>
    </p:spTree>
    <p:extLst>
      <p:ext uri="{BB962C8B-B14F-4D97-AF65-F5344CB8AC3E}">
        <p14:creationId xmlns:p14="http://schemas.microsoft.com/office/powerpoint/2010/main" val="3047329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3E207-E610-B754-D7F5-167E37741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737F10-A4EC-0C30-B530-FA6DE30128FD}"/>
              </a:ext>
            </a:extLst>
          </p:cNvPr>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Implementation of Encapsulation</a:t>
            </a:r>
          </a:p>
        </p:txBody>
      </p:sp>
      <p:sp>
        <p:nvSpPr>
          <p:cNvPr id="6" name="AutoShape 6" descr="Class_Object_example">
            <a:extLst>
              <a:ext uri="{FF2B5EF4-FFF2-40B4-BE49-F238E27FC236}">
                <a16:creationId xmlns:a16="http://schemas.microsoft.com/office/drawing/2014/main" id="{884A31DD-9015-E4D9-9376-4167DC2B5C0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Content Placeholder 3">
            <a:extLst>
              <a:ext uri="{FF2B5EF4-FFF2-40B4-BE49-F238E27FC236}">
                <a16:creationId xmlns:a16="http://schemas.microsoft.com/office/drawing/2014/main" id="{CB9C89DA-96F5-BD67-B2E0-EC3BB9F3796E}"/>
              </a:ext>
            </a:extLst>
          </p:cNvPr>
          <p:cNvSpPr>
            <a:spLocks noGrp="1"/>
          </p:cNvSpPr>
          <p:nvPr>
            <p:ph idx="1"/>
          </p:nvPr>
        </p:nvSpPr>
        <p:spPr/>
        <p:txBody>
          <a:bodyPr/>
          <a:lstStyle/>
          <a:p>
            <a:pPr algn="just" fontAlgn="base"/>
            <a:r>
              <a:rPr lang="en-US" sz="2600" b="1" dirty="0">
                <a:latin typeface="Times New Roman" panose="02020603050405020304" pitchFamily="18" charset="0"/>
                <a:cs typeface="Times New Roman" panose="02020603050405020304" pitchFamily="18" charset="0"/>
              </a:rPr>
              <a:t>Declare data as private:</a:t>
            </a:r>
            <a:r>
              <a:rPr lang="en-US" sz="2600" dirty="0">
                <a:latin typeface="Times New Roman" panose="02020603050405020304" pitchFamily="18" charset="0"/>
                <a:cs typeface="Times New Roman" panose="02020603050405020304" pitchFamily="18" charset="0"/>
              </a:rPr>
              <a:t> Hide the class data so it cannot be accessed directly from outside the class.</a:t>
            </a:r>
          </a:p>
          <a:p>
            <a:pPr algn="just" fontAlgn="base"/>
            <a:r>
              <a:rPr lang="en-US" sz="2600" b="1" dirty="0">
                <a:latin typeface="Times New Roman" panose="02020603050405020304" pitchFamily="18" charset="0"/>
                <a:cs typeface="Times New Roman" panose="02020603050405020304" pitchFamily="18" charset="0"/>
              </a:rPr>
              <a:t>Use getters and setters:</a:t>
            </a:r>
            <a:r>
              <a:rPr lang="en-US" sz="2600" dirty="0">
                <a:latin typeface="Times New Roman" panose="02020603050405020304" pitchFamily="18" charset="0"/>
                <a:cs typeface="Times New Roman" panose="02020603050405020304" pitchFamily="18" charset="0"/>
              </a:rPr>
              <a:t> Keep variables private and provide public getter and setter methods for controlled access and safe modification, often with validation.</a:t>
            </a:r>
          </a:p>
          <a:p>
            <a:pPr algn="just" fontAlgn="base"/>
            <a:r>
              <a:rPr lang="en-US" sz="2600" b="1" dirty="0">
                <a:latin typeface="Times New Roman" panose="02020603050405020304" pitchFamily="18" charset="0"/>
                <a:cs typeface="Times New Roman" panose="02020603050405020304" pitchFamily="18" charset="0"/>
              </a:rPr>
              <a:t>Apply proper access modifiers:</a:t>
            </a:r>
            <a:r>
              <a:rPr lang="en-US" sz="2600" dirty="0">
                <a:latin typeface="Times New Roman" panose="02020603050405020304" pitchFamily="18" charset="0"/>
                <a:cs typeface="Times New Roman" panose="02020603050405020304" pitchFamily="18" charset="0"/>
              </a:rPr>
              <a:t> Use private for data hiding and public for methods that provide access.</a:t>
            </a:r>
          </a:p>
          <a:p>
            <a:endParaRPr lang="en-US" dirty="0"/>
          </a:p>
        </p:txBody>
      </p:sp>
    </p:spTree>
    <p:extLst>
      <p:ext uri="{BB962C8B-B14F-4D97-AF65-F5344CB8AC3E}">
        <p14:creationId xmlns:p14="http://schemas.microsoft.com/office/powerpoint/2010/main" val="3402997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D1993-866D-980C-B5BA-FC2AE6DD2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C9E269-727C-831C-2BF6-B58568CB714E}"/>
              </a:ext>
            </a:extLst>
          </p:cNvPr>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Inheritance</a:t>
            </a:r>
          </a:p>
        </p:txBody>
      </p:sp>
      <p:sp>
        <p:nvSpPr>
          <p:cNvPr id="6" name="AutoShape 6" descr="Class_Object_example">
            <a:extLst>
              <a:ext uri="{FF2B5EF4-FFF2-40B4-BE49-F238E27FC236}">
                <a16:creationId xmlns:a16="http://schemas.microsoft.com/office/drawing/2014/main" id="{9F0973AA-768F-5BFF-3C6B-DAA6FD58AF1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Content Placeholder 3">
            <a:extLst>
              <a:ext uri="{FF2B5EF4-FFF2-40B4-BE49-F238E27FC236}">
                <a16:creationId xmlns:a16="http://schemas.microsoft.com/office/drawing/2014/main" id="{8ACA33CD-B90C-C6A9-B488-1392C08B9E45}"/>
              </a:ext>
            </a:extLst>
          </p:cNvPr>
          <p:cNvSpPr>
            <a:spLocks noGrp="1"/>
          </p:cNvSpPr>
          <p:nvPr>
            <p:ph idx="1"/>
          </p:nvPr>
        </p:nvSpPr>
        <p:spPr/>
        <p:txBody>
          <a:bodyPr>
            <a:normAutofit/>
          </a:bodyPr>
          <a:lstStyle/>
          <a:p>
            <a:pPr algn="just" fontAlgn="base"/>
            <a:r>
              <a:rPr lang="en-US" sz="2600" dirty="0">
                <a:latin typeface="Times New Roman" panose="02020603050405020304" pitchFamily="18" charset="0"/>
                <a:cs typeface="Times New Roman" panose="02020603050405020304" pitchFamily="18" charset="0"/>
              </a:rPr>
              <a:t> Inheritance means creating new classes based on existing ones. A class that inherits from another class can reuse the methods and fields of that class.</a:t>
            </a:r>
          </a:p>
        </p:txBody>
      </p:sp>
      <p:pic>
        <p:nvPicPr>
          <p:cNvPr id="5" name="Picture 4">
            <a:extLst>
              <a:ext uri="{FF2B5EF4-FFF2-40B4-BE49-F238E27FC236}">
                <a16:creationId xmlns:a16="http://schemas.microsoft.com/office/drawing/2014/main" id="{464DEE03-10E7-9D96-711F-2BC7E8D278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0038" y="3429000"/>
            <a:ext cx="7380381" cy="3422322"/>
          </a:xfrm>
          <a:prstGeom prst="rect">
            <a:avLst/>
          </a:prstGeom>
        </p:spPr>
      </p:pic>
    </p:spTree>
    <p:extLst>
      <p:ext uri="{BB962C8B-B14F-4D97-AF65-F5344CB8AC3E}">
        <p14:creationId xmlns:p14="http://schemas.microsoft.com/office/powerpoint/2010/main" val="2572685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F73A3D-9974-7DCB-57A9-048677F873C7}"/>
              </a:ext>
            </a:extLst>
          </p:cNvPr>
          <p:cNvSpPr txBox="1"/>
          <p:nvPr/>
        </p:nvSpPr>
        <p:spPr>
          <a:xfrm>
            <a:off x="434340" y="240477"/>
            <a:ext cx="6099048" cy="6186309"/>
          </a:xfrm>
          <a:prstGeom prst="rect">
            <a:avLst/>
          </a:prstGeom>
          <a:noFill/>
        </p:spPr>
        <p:txBody>
          <a:bodyPr wrap="square">
            <a:spAutoFit/>
          </a:bodyPr>
          <a:lstStyle/>
          <a:p>
            <a:r>
              <a:rPr lang="en-US" dirty="0"/>
              <a:t>// Parent class</a:t>
            </a:r>
          </a:p>
          <a:p>
            <a:r>
              <a:rPr lang="en-US" dirty="0"/>
              <a:t>class Animal {</a:t>
            </a:r>
          </a:p>
          <a:p>
            <a:r>
              <a:rPr lang="en-US" dirty="0"/>
              <a:t>    void sound() {</a:t>
            </a:r>
          </a:p>
          <a:p>
            <a:r>
              <a:rPr lang="en-US" dirty="0"/>
              <a:t>        </a:t>
            </a:r>
            <a:r>
              <a:rPr lang="en-US" dirty="0" err="1"/>
              <a:t>System.out.println</a:t>
            </a:r>
            <a:r>
              <a:rPr lang="en-US" dirty="0"/>
              <a:t>("Animal makes a sound");</a:t>
            </a:r>
          </a:p>
          <a:p>
            <a:r>
              <a:rPr lang="en-US" dirty="0"/>
              <a:t>    }</a:t>
            </a:r>
          </a:p>
          <a:p>
            <a:r>
              <a:rPr lang="en-US" dirty="0"/>
              <a:t>}</a:t>
            </a:r>
          </a:p>
          <a:p>
            <a:endParaRPr lang="en-US" dirty="0"/>
          </a:p>
          <a:p>
            <a:r>
              <a:rPr lang="en-US" dirty="0"/>
              <a:t>// Child class</a:t>
            </a:r>
          </a:p>
          <a:p>
            <a:r>
              <a:rPr lang="en-US" dirty="0"/>
              <a:t>class Dog extends Animal {</a:t>
            </a:r>
          </a:p>
          <a:p>
            <a:r>
              <a:rPr lang="en-US" dirty="0"/>
              <a:t>    void sound() {</a:t>
            </a:r>
          </a:p>
          <a:p>
            <a:r>
              <a:rPr lang="en-US" dirty="0"/>
              <a:t>        </a:t>
            </a:r>
            <a:r>
              <a:rPr lang="en-US" dirty="0" err="1"/>
              <a:t>System.out.println</a:t>
            </a:r>
            <a:r>
              <a:rPr lang="en-US" dirty="0"/>
              <a:t>("Dog barks");</a:t>
            </a:r>
          </a:p>
          <a:p>
            <a:r>
              <a:rPr lang="en-US" dirty="0"/>
              <a:t>    }</a:t>
            </a:r>
          </a:p>
          <a:p>
            <a:r>
              <a:rPr lang="en-US" dirty="0"/>
              <a:t>}</a:t>
            </a:r>
          </a:p>
          <a:p>
            <a:endParaRPr lang="en-US" dirty="0"/>
          </a:p>
          <a:p>
            <a:r>
              <a:rPr lang="en-US" dirty="0"/>
              <a:t>// Child class</a:t>
            </a:r>
          </a:p>
          <a:p>
            <a:r>
              <a:rPr lang="en-US" dirty="0"/>
              <a:t>class Cat extends Animal {</a:t>
            </a:r>
          </a:p>
          <a:p>
            <a:r>
              <a:rPr lang="en-US" dirty="0"/>
              <a:t>    void sound() {</a:t>
            </a:r>
          </a:p>
          <a:p>
            <a:r>
              <a:rPr lang="en-US" dirty="0"/>
              <a:t>        </a:t>
            </a:r>
            <a:r>
              <a:rPr lang="en-US" dirty="0" err="1"/>
              <a:t>System.out.println</a:t>
            </a:r>
            <a:r>
              <a:rPr lang="en-US" dirty="0"/>
              <a:t>("Cat meows");</a:t>
            </a:r>
          </a:p>
          <a:p>
            <a:r>
              <a:rPr lang="en-US" dirty="0"/>
              <a:t>    }</a:t>
            </a:r>
          </a:p>
          <a:p>
            <a:r>
              <a:rPr lang="en-US" dirty="0"/>
              <a:t>}</a:t>
            </a:r>
          </a:p>
          <a:p>
            <a:endParaRPr lang="en-US" dirty="0"/>
          </a:p>
          <a:p>
            <a:endParaRPr lang="en-US" dirty="0"/>
          </a:p>
        </p:txBody>
      </p:sp>
      <p:sp>
        <p:nvSpPr>
          <p:cNvPr id="5" name="TextBox 4">
            <a:extLst>
              <a:ext uri="{FF2B5EF4-FFF2-40B4-BE49-F238E27FC236}">
                <a16:creationId xmlns:a16="http://schemas.microsoft.com/office/drawing/2014/main" id="{7469E6EE-029B-6FD6-563F-6B88A7EA871B}"/>
              </a:ext>
            </a:extLst>
          </p:cNvPr>
          <p:cNvSpPr txBox="1"/>
          <p:nvPr/>
        </p:nvSpPr>
        <p:spPr>
          <a:xfrm>
            <a:off x="6853428" y="483721"/>
            <a:ext cx="6099048" cy="6186309"/>
          </a:xfrm>
          <a:prstGeom prst="rect">
            <a:avLst/>
          </a:prstGeom>
          <a:noFill/>
        </p:spPr>
        <p:txBody>
          <a:bodyPr wrap="square">
            <a:spAutoFit/>
          </a:bodyPr>
          <a:lstStyle/>
          <a:p>
            <a:r>
              <a:rPr lang="en-US" dirty="0"/>
              <a:t>// Child class</a:t>
            </a:r>
          </a:p>
          <a:p>
            <a:r>
              <a:rPr lang="en-US" dirty="0"/>
              <a:t>class Cow extends Animal {</a:t>
            </a:r>
          </a:p>
          <a:p>
            <a:r>
              <a:rPr lang="en-US" dirty="0"/>
              <a:t>    void sound() {</a:t>
            </a:r>
          </a:p>
          <a:p>
            <a:r>
              <a:rPr lang="en-US" dirty="0"/>
              <a:t>        </a:t>
            </a:r>
            <a:r>
              <a:rPr lang="en-US" dirty="0" err="1"/>
              <a:t>System.out.println</a:t>
            </a:r>
            <a:r>
              <a:rPr lang="en-US" dirty="0"/>
              <a:t>("Cow moos");</a:t>
            </a:r>
          </a:p>
          <a:p>
            <a:r>
              <a:rPr lang="en-US" dirty="0"/>
              <a:t>    }</a:t>
            </a:r>
          </a:p>
          <a:p>
            <a:r>
              <a:rPr lang="en-US" dirty="0"/>
              <a:t>}</a:t>
            </a:r>
          </a:p>
          <a:p>
            <a:endParaRPr lang="en-US" dirty="0"/>
          </a:p>
          <a:p>
            <a:endParaRPr lang="en-US" dirty="0"/>
          </a:p>
          <a:p>
            <a:r>
              <a:rPr lang="en-US" dirty="0"/>
              <a:t>// Main class</a:t>
            </a:r>
          </a:p>
          <a:p>
            <a:r>
              <a:rPr lang="en-US" dirty="0"/>
              <a:t>public class </a:t>
            </a:r>
            <a:r>
              <a:rPr lang="en-US" dirty="0" err="1"/>
              <a:t>InheritanceDemo</a:t>
            </a:r>
            <a:r>
              <a:rPr lang="en-US" dirty="0"/>
              <a:t> {</a:t>
            </a:r>
          </a:p>
          <a:p>
            <a:r>
              <a:rPr lang="en-US" dirty="0"/>
              <a:t>    public static void main(String[] </a:t>
            </a:r>
            <a:r>
              <a:rPr lang="en-US" dirty="0" err="1"/>
              <a:t>args</a:t>
            </a:r>
            <a:r>
              <a:rPr lang="en-US" dirty="0"/>
              <a:t>) {</a:t>
            </a:r>
          </a:p>
          <a:p>
            <a:r>
              <a:rPr lang="en-US" dirty="0"/>
              <a:t>        Animal a;</a:t>
            </a:r>
          </a:p>
          <a:p>
            <a:r>
              <a:rPr lang="en-US" dirty="0"/>
              <a:t>        a = new Dog();</a:t>
            </a:r>
          </a:p>
          <a:p>
            <a:r>
              <a:rPr lang="en-US" dirty="0"/>
              <a:t>        </a:t>
            </a:r>
            <a:r>
              <a:rPr lang="en-US" dirty="0" err="1"/>
              <a:t>a.sound</a:t>
            </a:r>
            <a:r>
              <a:rPr lang="en-US" dirty="0"/>
              <a:t>();  </a:t>
            </a:r>
          </a:p>
          <a:p>
            <a:endParaRPr lang="en-US" dirty="0"/>
          </a:p>
          <a:p>
            <a:r>
              <a:rPr lang="en-US" dirty="0"/>
              <a:t>        a = new Cat();</a:t>
            </a:r>
          </a:p>
          <a:p>
            <a:r>
              <a:rPr lang="en-US" dirty="0"/>
              <a:t>        </a:t>
            </a:r>
            <a:r>
              <a:rPr lang="en-US" dirty="0" err="1"/>
              <a:t>a.sound</a:t>
            </a:r>
            <a:r>
              <a:rPr lang="en-US" dirty="0"/>
              <a:t>(); </a:t>
            </a:r>
          </a:p>
          <a:p>
            <a:endParaRPr lang="en-US" dirty="0"/>
          </a:p>
          <a:p>
            <a:r>
              <a:rPr lang="en-US" dirty="0"/>
              <a:t>        a = new Cow();</a:t>
            </a:r>
          </a:p>
          <a:p>
            <a:r>
              <a:rPr lang="en-US" dirty="0"/>
              <a:t>        </a:t>
            </a:r>
            <a:r>
              <a:rPr lang="en-US" dirty="0" err="1"/>
              <a:t>a.sound</a:t>
            </a:r>
            <a:r>
              <a:rPr lang="en-US" dirty="0"/>
              <a:t>();  </a:t>
            </a:r>
          </a:p>
          <a:p>
            <a:r>
              <a:rPr lang="en-US" dirty="0"/>
              <a:t>    }</a:t>
            </a:r>
          </a:p>
          <a:p>
            <a:r>
              <a:rPr lang="en-US" dirty="0"/>
              <a:t>}</a:t>
            </a:r>
          </a:p>
        </p:txBody>
      </p:sp>
    </p:spTree>
    <p:extLst>
      <p:ext uri="{BB962C8B-B14F-4D97-AF65-F5344CB8AC3E}">
        <p14:creationId xmlns:p14="http://schemas.microsoft.com/office/powerpoint/2010/main" val="2861380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FCFF1-95FB-8E05-7C06-482CE3A32D10}"/>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Types of Inheritance</a:t>
            </a:r>
          </a:p>
        </p:txBody>
      </p:sp>
      <p:pic>
        <p:nvPicPr>
          <p:cNvPr id="5" name="Content Placeholder 4">
            <a:extLst>
              <a:ext uri="{FF2B5EF4-FFF2-40B4-BE49-F238E27FC236}">
                <a16:creationId xmlns:a16="http://schemas.microsoft.com/office/drawing/2014/main" id="{AFD6ECFA-A718-23A5-9636-C6C80844C1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63617" y="1482340"/>
            <a:ext cx="6842639" cy="4559686"/>
          </a:xfrm>
        </p:spPr>
      </p:pic>
    </p:spTree>
    <p:extLst>
      <p:ext uri="{BB962C8B-B14F-4D97-AF65-F5344CB8AC3E}">
        <p14:creationId xmlns:p14="http://schemas.microsoft.com/office/powerpoint/2010/main" val="3766931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0A16C-75E9-F960-6469-E4195DBBC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9F7520-CEB3-5A7C-082A-AAB22B4C4837}"/>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1. Single Inheritance</a:t>
            </a:r>
          </a:p>
        </p:txBody>
      </p:sp>
      <p:pic>
        <p:nvPicPr>
          <p:cNvPr id="7" name="Content Placeholder 6">
            <a:extLst>
              <a:ext uri="{FF2B5EF4-FFF2-40B4-BE49-F238E27FC236}">
                <a16:creationId xmlns:a16="http://schemas.microsoft.com/office/drawing/2014/main" id="{D63902E1-EF6D-9816-CEC2-523EA2E255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7094" y="2160588"/>
            <a:ext cx="6617849" cy="3881437"/>
          </a:xfrm>
        </p:spPr>
      </p:pic>
    </p:spTree>
    <p:extLst>
      <p:ext uri="{BB962C8B-B14F-4D97-AF65-F5344CB8AC3E}">
        <p14:creationId xmlns:p14="http://schemas.microsoft.com/office/powerpoint/2010/main" val="494754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45D276-6C31-844A-BFD5-11AC80376CE8}"/>
              </a:ext>
            </a:extLst>
          </p:cNvPr>
          <p:cNvSpPr txBox="1"/>
          <p:nvPr/>
        </p:nvSpPr>
        <p:spPr>
          <a:xfrm>
            <a:off x="1463040" y="474345"/>
            <a:ext cx="8174736" cy="5632311"/>
          </a:xfrm>
          <a:prstGeom prst="rect">
            <a:avLst/>
          </a:prstGeom>
          <a:noFill/>
        </p:spPr>
        <p:txBody>
          <a:bodyPr wrap="square">
            <a:spAutoFit/>
          </a:bodyPr>
          <a:lstStyle/>
          <a:p>
            <a:r>
              <a:rPr lang="en-US" dirty="0"/>
              <a:t>//Super class</a:t>
            </a:r>
          </a:p>
          <a:p>
            <a:r>
              <a:rPr lang="en-US" dirty="0"/>
              <a:t>class Vehicle {</a:t>
            </a:r>
          </a:p>
          <a:p>
            <a:r>
              <a:rPr lang="en-US" dirty="0"/>
              <a:t>    Vehicle() {</a:t>
            </a:r>
          </a:p>
          <a:p>
            <a:r>
              <a:rPr lang="en-US" dirty="0"/>
              <a:t>        </a:t>
            </a:r>
            <a:r>
              <a:rPr lang="en-US" dirty="0" err="1"/>
              <a:t>System.out.println</a:t>
            </a:r>
            <a:r>
              <a:rPr lang="en-US" dirty="0"/>
              <a:t>("This is a Vehicle");</a:t>
            </a:r>
          </a:p>
          <a:p>
            <a:r>
              <a:rPr lang="en-US" dirty="0"/>
              <a:t>    }</a:t>
            </a:r>
          </a:p>
          <a:p>
            <a:r>
              <a:rPr lang="en-US" dirty="0"/>
              <a:t>}</a:t>
            </a:r>
          </a:p>
          <a:p>
            <a:endParaRPr lang="en-US" dirty="0"/>
          </a:p>
          <a:p>
            <a:r>
              <a:rPr lang="en-US" dirty="0"/>
              <a:t>// Subclass </a:t>
            </a:r>
          </a:p>
          <a:p>
            <a:r>
              <a:rPr lang="en-US" dirty="0"/>
              <a:t>class Car extends Vehicle {</a:t>
            </a:r>
          </a:p>
          <a:p>
            <a:r>
              <a:rPr lang="en-US" dirty="0"/>
              <a:t>    Car() {</a:t>
            </a:r>
          </a:p>
          <a:p>
            <a:r>
              <a:rPr lang="en-US" dirty="0"/>
              <a:t>        </a:t>
            </a:r>
            <a:r>
              <a:rPr lang="en-US" dirty="0" err="1"/>
              <a:t>System.out.println</a:t>
            </a:r>
            <a:r>
              <a:rPr lang="en-US" dirty="0"/>
              <a:t>("This Vehicle is Car");</a:t>
            </a:r>
          </a:p>
          <a:p>
            <a:r>
              <a:rPr lang="en-US" dirty="0"/>
              <a:t>    }</a:t>
            </a:r>
          </a:p>
          <a:p>
            <a:r>
              <a:rPr lang="en-US" dirty="0"/>
              <a:t>}</a:t>
            </a:r>
          </a:p>
          <a:p>
            <a:endParaRPr lang="en-US" dirty="0"/>
          </a:p>
          <a:p>
            <a:r>
              <a:rPr lang="en-US" dirty="0"/>
              <a:t>public class Test {</a:t>
            </a:r>
          </a:p>
          <a:p>
            <a:r>
              <a:rPr lang="en-US" dirty="0"/>
              <a:t>    public static void main(String[] </a:t>
            </a:r>
            <a:r>
              <a:rPr lang="en-US" dirty="0" err="1"/>
              <a:t>args</a:t>
            </a:r>
            <a:r>
              <a:rPr lang="en-US" dirty="0"/>
              <a:t>) {</a:t>
            </a:r>
          </a:p>
          <a:p>
            <a:r>
              <a:rPr lang="en-US" dirty="0"/>
              <a:t>        // Creating object of subclass invokes base class constructor</a:t>
            </a:r>
          </a:p>
          <a:p>
            <a:r>
              <a:rPr lang="en-US" dirty="0"/>
              <a:t>        Car obj = new Car();</a:t>
            </a:r>
          </a:p>
          <a:p>
            <a:r>
              <a:rPr lang="en-US" dirty="0"/>
              <a:t>    }</a:t>
            </a:r>
          </a:p>
          <a:p>
            <a:r>
              <a:rPr lang="en-US" dirty="0"/>
              <a:t>}</a:t>
            </a:r>
          </a:p>
        </p:txBody>
      </p:sp>
    </p:spTree>
    <p:extLst>
      <p:ext uri="{BB962C8B-B14F-4D97-AF65-F5344CB8AC3E}">
        <p14:creationId xmlns:p14="http://schemas.microsoft.com/office/powerpoint/2010/main" val="250362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D05AC-E690-3E13-46B2-C23BCFFCA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288C21-D66F-69BD-2D53-11CD757F84C5}"/>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2. Multilevel Inheritance</a:t>
            </a:r>
          </a:p>
        </p:txBody>
      </p:sp>
      <p:pic>
        <p:nvPicPr>
          <p:cNvPr id="6" name="Content Placeholder 5">
            <a:extLst>
              <a:ext uri="{FF2B5EF4-FFF2-40B4-BE49-F238E27FC236}">
                <a16:creationId xmlns:a16="http://schemas.microsoft.com/office/drawing/2014/main" id="{2137FB02-E712-DF79-490B-D975789142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2214" y="1930400"/>
            <a:ext cx="7606908" cy="4461530"/>
          </a:xfrm>
        </p:spPr>
      </p:pic>
    </p:spTree>
    <p:extLst>
      <p:ext uri="{BB962C8B-B14F-4D97-AF65-F5344CB8AC3E}">
        <p14:creationId xmlns:p14="http://schemas.microsoft.com/office/powerpoint/2010/main" val="2287006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FAAD8E-178A-8742-B01A-EC235F2F3BCE}"/>
              </a:ext>
            </a:extLst>
          </p:cNvPr>
          <p:cNvSpPr txBox="1"/>
          <p:nvPr/>
        </p:nvSpPr>
        <p:spPr>
          <a:xfrm>
            <a:off x="914400" y="340418"/>
            <a:ext cx="8234172" cy="5632311"/>
          </a:xfrm>
          <a:prstGeom prst="rect">
            <a:avLst/>
          </a:prstGeom>
          <a:noFill/>
        </p:spPr>
        <p:txBody>
          <a:bodyPr wrap="square">
            <a:spAutoFit/>
          </a:bodyPr>
          <a:lstStyle/>
          <a:p>
            <a:r>
              <a:rPr lang="en-US" dirty="0"/>
              <a:t>class Vehicle {</a:t>
            </a:r>
          </a:p>
          <a:p>
            <a:r>
              <a:rPr lang="en-US" dirty="0"/>
              <a:t>    Vehicle() {</a:t>
            </a:r>
          </a:p>
          <a:p>
            <a:r>
              <a:rPr lang="en-US" dirty="0"/>
              <a:t>        </a:t>
            </a:r>
            <a:r>
              <a:rPr lang="en-US" dirty="0" err="1"/>
              <a:t>System.out.println</a:t>
            </a:r>
            <a:r>
              <a:rPr lang="en-US" dirty="0"/>
              <a:t>("This is a Vehicle");</a:t>
            </a:r>
          </a:p>
          <a:p>
            <a:r>
              <a:rPr lang="en-US" dirty="0"/>
              <a:t>    }</a:t>
            </a:r>
          </a:p>
          <a:p>
            <a:r>
              <a:rPr lang="en-US" dirty="0"/>
              <a:t>}</a:t>
            </a:r>
          </a:p>
          <a:p>
            <a:r>
              <a:rPr lang="en-US" dirty="0"/>
              <a:t>class </a:t>
            </a:r>
            <a:r>
              <a:rPr lang="en-US" dirty="0" err="1"/>
              <a:t>FourWheeler</a:t>
            </a:r>
            <a:r>
              <a:rPr lang="en-US" dirty="0"/>
              <a:t> extends Vehicle {</a:t>
            </a:r>
          </a:p>
          <a:p>
            <a:r>
              <a:rPr lang="en-US" dirty="0"/>
              <a:t>    </a:t>
            </a:r>
            <a:r>
              <a:rPr lang="en-US" dirty="0" err="1"/>
              <a:t>FourWheeler</a:t>
            </a:r>
            <a:r>
              <a:rPr lang="en-US" dirty="0"/>
              <a:t>() {</a:t>
            </a:r>
          </a:p>
          <a:p>
            <a:r>
              <a:rPr lang="en-US" dirty="0"/>
              <a:t>        </a:t>
            </a:r>
            <a:r>
              <a:rPr lang="en-US" dirty="0" err="1"/>
              <a:t>System.out.println</a:t>
            </a:r>
            <a:r>
              <a:rPr lang="en-US" dirty="0"/>
              <a:t>("4 Wheeler Vehicles");</a:t>
            </a:r>
          </a:p>
          <a:p>
            <a:r>
              <a:rPr lang="en-US" dirty="0"/>
              <a:t>    }</a:t>
            </a:r>
          </a:p>
          <a:p>
            <a:r>
              <a:rPr lang="en-US" dirty="0"/>
              <a:t>}</a:t>
            </a:r>
          </a:p>
          <a:p>
            <a:r>
              <a:rPr lang="en-US" dirty="0"/>
              <a:t>class Car extends </a:t>
            </a:r>
            <a:r>
              <a:rPr lang="en-US" dirty="0" err="1"/>
              <a:t>FourWheeler</a:t>
            </a:r>
            <a:r>
              <a:rPr lang="en-US" dirty="0"/>
              <a:t> {</a:t>
            </a:r>
          </a:p>
          <a:p>
            <a:r>
              <a:rPr lang="en-US" dirty="0"/>
              <a:t>    Car() {</a:t>
            </a:r>
          </a:p>
          <a:p>
            <a:r>
              <a:rPr lang="en-US" dirty="0"/>
              <a:t>        </a:t>
            </a:r>
            <a:r>
              <a:rPr lang="en-US" dirty="0" err="1"/>
              <a:t>System.out.println</a:t>
            </a:r>
            <a:r>
              <a:rPr lang="en-US" dirty="0"/>
              <a:t>("This 4 Wheeler Vehicle is a Car");</a:t>
            </a:r>
          </a:p>
          <a:p>
            <a:r>
              <a:rPr lang="en-US" dirty="0"/>
              <a:t>    }</a:t>
            </a:r>
          </a:p>
          <a:p>
            <a:r>
              <a:rPr lang="en-US" dirty="0"/>
              <a:t>}</a:t>
            </a:r>
          </a:p>
          <a:p>
            <a:r>
              <a:rPr lang="en-US" dirty="0"/>
              <a:t>public class Test {</a:t>
            </a:r>
          </a:p>
          <a:p>
            <a:r>
              <a:rPr lang="en-US" dirty="0"/>
              <a:t>    public static void main(String[] </a:t>
            </a:r>
            <a:r>
              <a:rPr lang="en-US" dirty="0" err="1"/>
              <a:t>args</a:t>
            </a:r>
            <a:r>
              <a:rPr lang="en-US" dirty="0"/>
              <a:t>) {</a:t>
            </a:r>
          </a:p>
          <a:p>
            <a:r>
              <a:rPr lang="en-US" dirty="0"/>
              <a:t>        Car obj = new Car(); // Triggers all constructors in order</a:t>
            </a:r>
          </a:p>
          <a:p>
            <a:r>
              <a:rPr lang="en-US" dirty="0"/>
              <a:t>    }</a:t>
            </a:r>
          </a:p>
          <a:p>
            <a:r>
              <a:rPr lang="en-US" dirty="0"/>
              <a:t>}</a:t>
            </a:r>
          </a:p>
        </p:txBody>
      </p:sp>
    </p:spTree>
    <p:extLst>
      <p:ext uri="{BB962C8B-B14F-4D97-AF65-F5344CB8AC3E}">
        <p14:creationId xmlns:p14="http://schemas.microsoft.com/office/powerpoint/2010/main" val="2715039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E0336-36A4-32BD-0F5F-CC55E6E430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2472B-12CB-7F8D-C557-E3EA43B68876}"/>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3. Hierarchical Inheritance</a:t>
            </a:r>
          </a:p>
        </p:txBody>
      </p:sp>
      <p:pic>
        <p:nvPicPr>
          <p:cNvPr id="7" name="Content Placeholder 6">
            <a:extLst>
              <a:ext uri="{FF2B5EF4-FFF2-40B4-BE49-F238E27FC236}">
                <a16:creationId xmlns:a16="http://schemas.microsoft.com/office/drawing/2014/main" id="{F7F02C69-B025-875E-973A-413B842D03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7094" y="1797204"/>
            <a:ext cx="7237420" cy="4244822"/>
          </a:xfrm>
        </p:spPr>
      </p:pic>
    </p:spTree>
    <p:extLst>
      <p:ext uri="{BB962C8B-B14F-4D97-AF65-F5344CB8AC3E}">
        <p14:creationId xmlns:p14="http://schemas.microsoft.com/office/powerpoint/2010/main" val="2915314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80A1D4-AE06-3657-FBC5-ABF54D5C3CEA}"/>
              </a:ext>
            </a:extLst>
          </p:cNvPr>
          <p:cNvSpPr txBox="1"/>
          <p:nvPr/>
        </p:nvSpPr>
        <p:spPr>
          <a:xfrm>
            <a:off x="1143000" y="127427"/>
            <a:ext cx="7987284" cy="6740307"/>
          </a:xfrm>
          <a:prstGeom prst="rect">
            <a:avLst/>
          </a:prstGeom>
          <a:noFill/>
        </p:spPr>
        <p:txBody>
          <a:bodyPr wrap="square">
            <a:spAutoFit/>
          </a:bodyPr>
          <a:lstStyle/>
          <a:p>
            <a:r>
              <a:rPr lang="en-US" dirty="0"/>
              <a:t>class Vehicle {</a:t>
            </a:r>
          </a:p>
          <a:p>
            <a:r>
              <a:rPr lang="en-US" dirty="0"/>
              <a:t>    Vehicle() {</a:t>
            </a:r>
          </a:p>
          <a:p>
            <a:r>
              <a:rPr lang="en-US" dirty="0"/>
              <a:t>        </a:t>
            </a:r>
            <a:r>
              <a:rPr lang="en-US" dirty="0" err="1"/>
              <a:t>System.out.println</a:t>
            </a:r>
            <a:r>
              <a:rPr lang="en-US" dirty="0"/>
              <a:t>("This is a Vehicle");</a:t>
            </a:r>
          </a:p>
          <a:p>
            <a:r>
              <a:rPr lang="en-US" dirty="0"/>
              <a:t>    }</a:t>
            </a:r>
          </a:p>
          <a:p>
            <a:r>
              <a:rPr lang="en-US" dirty="0"/>
              <a:t>}</a:t>
            </a:r>
          </a:p>
          <a:p>
            <a:endParaRPr lang="en-US" dirty="0"/>
          </a:p>
          <a:p>
            <a:r>
              <a:rPr lang="en-US" dirty="0"/>
              <a:t>class Car extends Vehicle {</a:t>
            </a:r>
          </a:p>
          <a:p>
            <a:r>
              <a:rPr lang="en-US" dirty="0"/>
              <a:t>    Car() {</a:t>
            </a:r>
          </a:p>
          <a:p>
            <a:r>
              <a:rPr lang="en-US" dirty="0"/>
              <a:t>        </a:t>
            </a:r>
            <a:r>
              <a:rPr lang="en-US" dirty="0" err="1"/>
              <a:t>System.out.println</a:t>
            </a:r>
            <a:r>
              <a:rPr lang="en-US" dirty="0"/>
              <a:t>("This Vehicle is Car");</a:t>
            </a:r>
          </a:p>
          <a:p>
            <a:r>
              <a:rPr lang="en-US" dirty="0"/>
              <a:t>    }</a:t>
            </a:r>
          </a:p>
          <a:p>
            <a:r>
              <a:rPr lang="en-US" dirty="0"/>
              <a:t>}</a:t>
            </a:r>
          </a:p>
          <a:p>
            <a:endParaRPr lang="en-US" dirty="0"/>
          </a:p>
          <a:p>
            <a:r>
              <a:rPr lang="en-US" dirty="0"/>
              <a:t>class Bus extends Vehicle {</a:t>
            </a:r>
          </a:p>
          <a:p>
            <a:r>
              <a:rPr lang="en-US" dirty="0"/>
              <a:t>    Bus() {</a:t>
            </a:r>
          </a:p>
          <a:p>
            <a:r>
              <a:rPr lang="en-US" dirty="0"/>
              <a:t>        </a:t>
            </a:r>
            <a:r>
              <a:rPr lang="en-US" dirty="0" err="1"/>
              <a:t>System.out.println</a:t>
            </a:r>
            <a:r>
              <a:rPr lang="en-US" dirty="0"/>
              <a:t>("This Vehicle is Bus");</a:t>
            </a:r>
          </a:p>
          <a:p>
            <a:r>
              <a:rPr lang="en-US" dirty="0"/>
              <a:t>    }</a:t>
            </a:r>
          </a:p>
          <a:p>
            <a:r>
              <a:rPr lang="en-US" dirty="0"/>
              <a:t>}</a:t>
            </a:r>
          </a:p>
          <a:p>
            <a:endParaRPr lang="en-US" dirty="0"/>
          </a:p>
          <a:p>
            <a:r>
              <a:rPr lang="en-US" dirty="0"/>
              <a:t>public class Test {</a:t>
            </a:r>
          </a:p>
          <a:p>
            <a:r>
              <a:rPr lang="en-US" dirty="0"/>
              <a:t>    public static void main(String[] </a:t>
            </a:r>
            <a:r>
              <a:rPr lang="en-US" dirty="0" err="1"/>
              <a:t>args</a:t>
            </a:r>
            <a:r>
              <a:rPr lang="en-US" dirty="0"/>
              <a:t>) {</a:t>
            </a:r>
          </a:p>
          <a:p>
            <a:r>
              <a:rPr lang="en-US" dirty="0"/>
              <a:t>        Car obj1 = new Car(); </a:t>
            </a:r>
          </a:p>
          <a:p>
            <a:r>
              <a:rPr lang="en-US" dirty="0"/>
              <a:t>        Bus obj2 = new Bus(); </a:t>
            </a:r>
          </a:p>
          <a:p>
            <a:r>
              <a:rPr lang="en-US" dirty="0"/>
              <a:t>    }</a:t>
            </a:r>
          </a:p>
          <a:p>
            <a:r>
              <a:rPr lang="en-US" dirty="0"/>
              <a:t>}</a:t>
            </a:r>
          </a:p>
        </p:txBody>
      </p:sp>
    </p:spTree>
    <p:extLst>
      <p:ext uri="{BB962C8B-B14F-4D97-AF65-F5344CB8AC3E}">
        <p14:creationId xmlns:p14="http://schemas.microsoft.com/office/powerpoint/2010/main" val="1537969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DF0A3-899C-CE07-8E7E-99AE6A2B2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4767A9-8550-9A03-108F-DD89898C9036}"/>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4. Multiple Inheritance (through interface)</a:t>
            </a:r>
          </a:p>
        </p:txBody>
      </p:sp>
      <p:pic>
        <p:nvPicPr>
          <p:cNvPr id="6" name="Content Placeholder 5">
            <a:extLst>
              <a:ext uri="{FF2B5EF4-FFF2-40B4-BE49-F238E27FC236}">
                <a16:creationId xmlns:a16="http://schemas.microsoft.com/office/drawing/2014/main" id="{BB848F9F-3BE1-5AC7-DDD4-05BF91A1E3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7094" y="1930400"/>
            <a:ext cx="8010306" cy="4111625"/>
          </a:xfrm>
        </p:spPr>
      </p:pic>
    </p:spTree>
    <p:extLst>
      <p:ext uri="{BB962C8B-B14F-4D97-AF65-F5344CB8AC3E}">
        <p14:creationId xmlns:p14="http://schemas.microsoft.com/office/powerpoint/2010/main" val="1718366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75B2BC-16DF-B092-1C18-93DB9E1CEF05}"/>
              </a:ext>
            </a:extLst>
          </p:cNvPr>
          <p:cNvSpPr txBox="1"/>
          <p:nvPr/>
        </p:nvSpPr>
        <p:spPr>
          <a:xfrm>
            <a:off x="448056" y="671494"/>
            <a:ext cx="7790688" cy="4801314"/>
          </a:xfrm>
          <a:prstGeom prst="rect">
            <a:avLst/>
          </a:prstGeom>
          <a:noFill/>
        </p:spPr>
        <p:txBody>
          <a:bodyPr wrap="square">
            <a:spAutoFit/>
          </a:bodyPr>
          <a:lstStyle/>
          <a:p>
            <a:r>
              <a:rPr lang="en-US" dirty="0"/>
              <a:t>interface </a:t>
            </a:r>
            <a:r>
              <a:rPr lang="en-US" dirty="0" err="1"/>
              <a:t>LandVehicle</a:t>
            </a:r>
            <a:r>
              <a:rPr lang="en-US" dirty="0"/>
              <a:t> {</a:t>
            </a:r>
          </a:p>
          <a:p>
            <a:r>
              <a:rPr lang="en-US" dirty="0"/>
              <a:t>    default void </a:t>
            </a:r>
            <a:r>
              <a:rPr lang="en-US" dirty="0" err="1"/>
              <a:t>landInfo</a:t>
            </a:r>
            <a:r>
              <a:rPr lang="en-US" dirty="0"/>
              <a:t>() {</a:t>
            </a:r>
          </a:p>
          <a:p>
            <a:r>
              <a:rPr lang="en-US" dirty="0"/>
              <a:t>        </a:t>
            </a:r>
            <a:r>
              <a:rPr lang="en-US" dirty="0" err="1"/>
              <a:t>System.out.println</a:t>
            </a:r>
            <a:r>
              <a:rPr lang="en-US" dirty="0"/>
              <a:t>("This is a </a:t>
            </a:r>
            <a:r>
              <a:rPr lang="en-US" dirty="0" err="1"/>
              <a:t>LandVehicle</a:t>
            </a:r>
            <a:r>
              <a:rPr lang="en-US" dirty="0"/>
              <a:t>");</a:t>
            </a:r>
          </a:p>
          <a:p>
            <a:r>
              <a:rPr lang="en-US" dirty="0"/>
              <a:t>    }</a:t>
            </a:r>
          </a:p>
          <a:p>
            <a:r>
              <a:rPr lang="en-US" dirty="0"/>
              <a:t>}</a:t>
            </a:r>
          </a:p>
          <a:p>
            <a:r>
              <a:rPr lang="en-US" dirty="0"/>
              <a:t>interface </a:t>
            </a:r>
            <a:r>
              <a:rPr lang="en-US" dirty="0" err="1"/>
              <a:t>WaterVehicle</a:t>
            </a:r>
            <a:r>
              <a:rPr lang="en-US" dirty="0"/>
              <a:t> {</a:t>
            </a:r>
          </a:p>
          <a:p>
            <a:r>
              <a:rPr lang="en-US" dirty="0"/>
              <a:t>    default void </a:t>
            </a:r>
            <a:r>
              <a:rPr lang="en-US" dirty="0" err="1"/>
              <a:t>waterInfo</a:t>
            </a:r>
            <a:r>
              <a:rPr lang="en-US" dirty="0"/>
              <a:t>() {</a:t>
            </a:r>
          </a:p>
          <a:p>
            <a:r>
              <a:rPr lang="en-US" dirty="0"/>
              <a:t>        </a:t>
            </a:r>
            <a:r>
              <a:rPr lang="en-US" dirty="0" err="1"/>
              <a:t>System.out.println</a:t>
            </a:r>
            <a:r>
              <a:rPr lang="en-US" dirty="0"/>
              <a:t>("This is a </a:t>
            </a:r>
            <a:r>
              <a:rPr lang="en-US" dirty="0" err="1"/>
              <a:t>WaterVehicle</a:t>
            </a:r>
            <a:r>
              <a:rPr lang="en-US" dirty="0"/>
              <a:t>");</a:t>
            </a:r>
          </a:p>
          <a:p>
            <a:r>
              <a:rPr lang="en-US" dirty="0"/>
              <a:t>    }</a:t>
            </a:r>
          </a:p>
          <a:p>
            <a:r>
              <a:rPr lang="en-US" dirty="0"/>
              <a:t>}</a:t>
            </a:r>
          </a:p>
          <a:p>
            <a:r>
              <a:rPr lang="en-US" dirty="0"/>
              <a:t>// Subclass implementing both interfaces</a:t>
            </a:r>
          </a:p>
          <a:p>
            <a:r>
              <a:rPr lang="en-US" dirty="0"/>
              <a:t>class </a:t>
            </a:r>
            <a:r>
              <a:rPr lang="en-US" dirty="0" err="1"/>
              <a:t>AmphibiousVehicle</a:t>
            </a:r>
            <a:r>
              <a:rPr lang="en-US" dirty="0"/>
              <a:t> implements </a:t>
            </a:r>
            <a:r>
              <a:rPr lang="en-US" dirty="0" err="1"/>
              <a:t>LandVehicle</a:t>
            </a:r>
            <a:r>
              <a:rPr lang="en-US" dirty="0"/>
              <a:t>, </a:t>
            </a:r>
            <a:r>
              <a:rPr lang="en-US" dirty="0" err="1"/>
              <a:t>WaterVehicle</a:t>
            </a:r>
            <a:r>
              <a:rPr lang="en-US" dirty="0"/>
              <a:t> {</a:t>
            </a:r>
          </a:p>
          <a:p>
            <a:r>
              <a:rPr lang="en-US" dirty="0"/>
              <a:t>    </a:t>
            </a:r>
            <a:r>
              <a:rPr lang="en-US" dirty="0" err="1"/>
              <a:t>AmphibiousVehicle</a:t>
            </a:r>
            <a:r>
              <a:rPr lang="en-US" dirty="0"/>
              <a:t>() {</a:t>
            </a:r>
          </a:p>
          <a:p>
            <a:r>
              <a:rPr lang="en-US" dirty="0"/>
              <a:t>        </a:t>
            </a:r>
            <a:r>
              <a:rPr lang="en-US" dirty="0" err="1"/>
              <a:t>System.out.println</a:t>
            </a:r>
            <a:r>
              <a:rPr lang="en-US" dirty="0"/>
              <a:t>("This is an </a:t>
            </a:r>
            <a:r>
              <a:rPr lang="en-US" dirty="0" err="1"/>
              <a:t>AmphibiousVehicle</a:t>
            </a:r>
            <a:r>
              <a:rPr lang="en-US" dirty="0"/>
              <a:t>");</a:t>
            </a:r>
          </a:p>
          <a:p>
            <a:r>
              <a:rPr lang="en-US" dirty="0"/>
              <a:t>    }</a:t>
            </a:r>
          </a:p>
          <a:p>
            <a:r>
              <a:rPr lang="en-US" dirty="0"/>
              <a:t>}</a:t>
            </a:r>
          </a:p>
          <a:p>
            <a:endParaRPr lang="en-US" dirty="0"/>
          </a:p>
        </p:txBody>
      </p:sp>
      <p:sp>
        <p:nvSpPr>
          <p:cNvPr id="5" name="TextBox 4">
            <a:extLst>
              <a:ext uri="{FF2B5EF4-FFF2-40B4-BE49-F238E27FC236}">
                <a16:creationId xmlns:a16="http://schemas.microsoft.com/office/drawing/2014/main" id="{F82BB394-4EC0-1F91-D898-6356E3FED01F}"/>
              </a:ext>
            </a:extLst>
          </p:cNvPr>
          <p:cNvSpPr txBox="1"/>
          <p:nvPr/>
        </p:nvSpPr>
        <p:spPr>
          <a:xfrm>
            <a:off x="5527548" y="4731342"/>
            <a:ext cx="6099048" cy="2031325"/>
          </a:xfrm>
          <a:prstGeom prst="rect">
            <a:avLst/>
          </a:prstGeom>
          <a:noFill/>
        </p:spPr>
        <p:txBody>
          <a:bodyPr wrap="square">
            <a:spAutoFit/>
          </a:bodyPr>
          <a:lstStyle/>
          <a:p>
            <a:r>
              <a:rPr lang="en-US" dirty="0"/>
              <a:t>public class Test {</a:t>
            </a:r>
          </a:p>
          <a:p>
            <a:r>
              <a:rPr lang="en-US" dirty="0"/>
              <a:t>    public static void main(String[] </a:t>
            </a:r>
            <a:r>
              <a:rPr lang="en-US" dirty="0" err="1"/>
              <a:t>args</a:t>
            </a:r>
            <a:r>
              <a:rPr lang="en-US" dirty="0"/>
              <a:t>) {</a:t>
            </a:r>
          </a:p>
          <a:p>
            <a:r>
              <a:rPr lang="en-US" dirty="0"/>
              <a:t>        </a:t>
            </a:r>
            <a:r>
              <a:rPr lang="en-US" dirty="0" err="1"/>
              <a:t>AmphibiousVehicle</a:t>
            </a:r>
            <a:r>
              <a:rPr lang="en-US" dirty="0"/>
              <a:t> obj = new </a:t>
            </a:r>
            <a:r>
              <a:rPr lang="en-US" dirty="0" err="1"/>
              <a:t>AmphibiousVehicle</a:t>
            </a:r>
            <a:r>
              <a:rPr lang="en-US" dirty="0"/>
              <a:t>();</a:t>
            </a:r>
          </a:p>
          <a:p>
            <a:r>
              <a:rPr lang="en-US" dirty="0"/>
              <a:t>        </a:t>
            </a:r>
            <a:r>
              <a:rPr lang="en-US" dirty="0" err="1"/>
              <a:t>obj.waterInfo</a:t>
            </a:r>
            <a:r>
              <a:rPr lang="en-US" dirty="0"/>
              <a:t>();</a:t>
            </a:r>
          </a:p>
          <a:p>
            <a:r>
              <a:rPr lang="en-US" dirty="0"/>
              <a:t>        </a:t>
            </a:r>
            <a:r>
              <a:rPr lang="en-US" dirty="0" err="1"/>
              <a:t>obj.landInfo</a:t>
            </a:r>
            <a:r>
              <a:rPr lang="en-US" dirty="0"/>
              <a:t>();</a:t>
            </a:r>
          </a:p>
          <a:p>
            <a:r>
              <a:rPr lang="en-US" dirty="0"/>
              <a:t>    }</a:t>
            </a:r>
          </a:p>
          <a:p>
            <a:r>
              <a:rPr lang="en-US" dirty="0"/>
              <a:t>}</a:t>
            </a:r>
          </a:p>
        </p:txBody>
      </p:sp>
    </p:spTree>
    <p:extLst>
      <p:ext uri="{BB962C8B-B14F-4D97-AF65-F5344CB8AC3E}">
        <p14:creationId xmlns:p14="http://schemas.microsoft.com/office/powerpoint/2010/main" val="1362718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DB663-776E-872F-862C-B5D178B8B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88377-7F7E-8C9F-FC05-8A2257D05E22}"/>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5. Hybrid Inheritance</a:t>
            </a:r>
          </a:p>
        </p:txBody>
      </p:sp>
      <p:pic>
        <p:nvPicPr>
          <p:cNvPr id="7" name="Content Placeholder 6">
            <a:extLst>
              <a:ext uri="{FF2B5EF4-FFF2-40B4-BE49-F238E27FC236}">
                <a16:creationId xmlns:a16="http://schemas.microsoft.com/office/drawing/2014/main" id="{33B4A9B6-6C38-4DD4-07CF-6AD7E3EF1F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7094" y="2160588"/>
            <a:ext cx="7106792" cy="3881437"/>
          </a:xfrm>
        </p:spPr>
      </p:pic>
    </p:spTree>
    <p:extLst>
      <p:ext uri="{BB962C8B-B14F-4D97-AF65-F5344CB8AC3E}">
        <p14:creationId xmlns:p14="http://schemas.microsoft.com/office/powerpoint/2010/main" val="395167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C59F5-E53D-6EBD-6236-0A3B7D3D8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4E13E-1673-05EC-0639-6E7C49D2907A}"/>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Polymorphism</a:t>
            </a:r>
          </a:p>
        </p:txBody>
      </p:sp>
      <p:sp>
        <p:nvSpPr>
          <p:cNvPr id="4" name="Content Placeholder 3">
            <a:extLst>
              <a:ext uri="{FF2B5EF4-FFF2-40B4-BE49-F238E27FC236}">
                <a16:creationId xmlns:a16="http://schemas.microsoft.com/office/drawing/2014/main" id="{9B82CE1A-751A-BDAA-190C-EDAB9E374FB1}"/>
              </a:ext>
            </a:extLst>
          </p:cNvPr>
          <p:cNvSpPr>
            <a:spLocks noGrp="1"/>
          </p:cNvSpPr>
          <p:nvPr>
            <p:ph idx="1"/>
          </p:nvPr>
        </p:nvSpPr>
        <p:spPr/>
        <p:txBody>
          <a:bodyPr/>
          <a:lstStyle/>
          <a:p>
            <a:pPr algn="just"/>
            <a:r>
              <a:rPr lang="en-US" sz="2600" dirty="0">
                <a:latin typeface="Times New Roman" panose="02020603050405020304" pitchFamily="18" charset="0"/>
                <a:cs typeface="Times New Roman" panose="02020603050405020304" pitchFamily="18" charset="0"/>
              </a:rPr>
              <a:t>Polymorphism allows the same method or object to behave differently based on the context, specially on the project's actual runtime class</a:t>
            </a:r>
            <a:r>
              <a:rPr lang="en-US" dirty="0"/>
              <a:t>.</a:t>
            </a:r>
          </a:p>
          <a:p>
            <a:r>
              <a:rPr lang="en-US" sz="2600" dirty="0">
                <a:latin typeface="Times New Roman" panose="02020603050405020304" pitchFamily="18" charset="0"/>
                <a:cs typeface="Times New Roman" panose="02020603050405020304" pitchFamily="18" charset="0"/>
              </a:rPr>
              <a:t>Poly means many; morphs - forms </a:t>
            </a:r>
          </a:p>
        </p:txBody>
      </p:sp>
    </p:spTree>
    <p:extLst>
      <p:ext uri="{BB962C8B-B14F-4D97-AF65-F5344CB8AC3E}">
        <p14:creationId xmlns:p14="http://schemas.microsoft.com/office/powerpoint/2010/main" val="2239858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3E3817-B282-8A09-B5A2-863C4159538C}"/>
              </a:ext>
            </a:extLst>
          </p:cNvPr>
          <p:cNvSpPr txBox="1"/>
          <p:nvPr/>
        </p:nvSpPr>
        <p:spPr>
          <a:xfrm>
            <a:off x="571500" y="394692"/>
            <a:ext cx="6099048" cy="6463308"/>
          </a:xfrm>
          <a:prstGeom prst="rect">
            <a:avLst/>
          </a:prstGeom>
          <a:noFill/>
        </p:spPr>
        <p:txBody>
          <a:bodyPr wrap="square">
            <a:spAutoFit/>
          </a:bodyPr>
          <a:lstStyle/>
          <a:p>
            <a:r>
              <a:rPr lang="en-US" dirty="0"/>
              <a:t>// Base class Person</a:t>
            </a:r>
          </a:p>
          <a:p>
            <a:r>
              <a:rPr lang="en-US" dirty="0"/>
              <a:t>class Person {</a:t>
            </a:r>
          </a:p>
          <a:p>
            <a:r>
              <a:rPr lang="en-US" dirty="0"/>
              <a:t>  </a:t>
            </a:r>
          </a:p>
          <a:p>
            <a:r>
              <a:rPr lang="en-US" dirty="0"/>
              <a:t>    // Method that displays the </a:t>
            </a:r>
          </a:p>
          <a:p>
            <a:r>
              <a:rPr lang="en-US" dirty="0"/>
              <a:t>    // role of a person</a:t>
            </a:r>
          </a:p>
          <a:p>
            <a:r>
              <a:rPr lang="en-US" dirty="0"/>
              <a:t>    void role() {</a:t>
            </a:r>
          </a:p>
          <a:p>
            <a:r>
              <a:rPr lang="en-US" dirty="0"/>
              <a:t>        </a:t>
            </a:r>
            <a:r>
              <a:rPr lang="en-US" dirty="0" err="1"/>
              <a:t>System.out.println</a:t>
            </a:r>
            <a:r>
              <a:rPr lang="en-US" dirty="0"/>
              <a:t>("I am a person.");</a:t>
            </a:r>
          </a:p>
          <a:p>
            <a:r>
              <a:rPr lang="en-US" dirty="0"/>
              <a:t>    }</a:t>
            </a:r>
          </a:p>
          <a:p>
            <a:r>
              <a:rPr lang="en-US" dirty="0"/>
              <a:t>}</a:t>
            </a:r>
          </a:p>
          <a:p>
            <a:endParaRPr lang="en-US" dirty="0"/>
          </a:p>
          <a:p>
            <a:r>
              <a:rPr lang="en-US" dirty="0"/>
              <a:t>// Derived class Father that </a:t>
            </a:r>
          </a:p>
          <a:p>
            <a:r>
              <a:rPr lang="en-US" dirty="0"/>
              <a:t>// overrides the role method</a:t>
            </a:r>
          </a:p>
          <a:p>
            <a:r>
              <a:rPr lang="en-US" dirty="0"/>
              <a:t>class Father extends Person {</a:t>
            </a:r>
          </a:p>
          <a:p>
            <a:r>
              <a:rPr lang="en-US" dirty="0"/>
              <a:t>  </a:t>
            </a:r>
          </a:p>
          <a:p>
            <a:r>
              <a:rPr lang="en-US" dirty="0"/>
              <a:t>    // Overridden method to show </a:t>
            </a:r>
          </a:p>
          <a:p>
            <a:r>
              <a:rPr lang="en-US" dirty="0"/>
              <a:t>    // the role of a father</a:t>
            </a:r>
          </a:p>
          <a:p>
            <a:r>
              <a:rPr lang="en-US" dirty="0"/>
              <a:t>    @Override</a:t>
            </a:r>
          </a:p>
          <a:p>
            <a:r>
              <a:rPr lang="en-US" dirty="0"/>
              <a:t>    void role() {</a:t>
            </a:r>
          </a:p>
          <a:p>
            <a:r>
              <a:rPr lang="en-US" dirty="0"/>
              <a:t>        </a:t>
            </a:r>
            <a:r>
              <a:rPr lang="en-US" dirty="0" err="1"/>
              <a:t>System.out.println</a:t>
            </a:r>
            <a:r>
              <a:rPr lang="en-US" dirty="0"/>
              <a:t>("I am a father.");</a:t>
            </a:r>
          </a:p>
          <a:p>
            <a:r>
              <a:rPr lang="en-US" dirty="0"/>
              <a:t>    }</a:t>
            </a:r>
          </a:p>
          <a:p>
            <a:r>
              <a:rPr lang="en-US" dirty="0"/>
              <a:t>}</a:t>
            </a:r>
          </a:p>
          <a:p>
            <a:endParaRPr lang="en-US" dirty="0"/>
          </a:p>
          <a:p>
            <a:endParaRPr lang="en-US" dirty="0"/>
          </a:p>
        </p:txBody>
      </p:sp>
      <p:sp>
        <p:nvSpPr>
          <p:cNvPr id="5" name="TextBox 4">
            <a:extLst>
              <a:ext uri="{FF2B5EF4-FFF2-40B4-BE49-F238E27FC236}">
                <a16:creationId xmlns:a16="http://schemas.microsoft.com/office/drawing/2014/main" id="{BA26061C-B91F-85C4-6C6C-0D27BF63B1C5}"/>
              </a:ext>
            </a:extLst>
          </p:cNvPr>
          <p:cNvSpPr txBox="1"/>
          <p:nvPr/>
        </p:nvSpPr>
        <p:spPr>
          <a:xfrm>
            <a:off x="5875020" y="2109460"/>
            <a:ext cx="6099048" cy="3416320"/>
          </a:xfrm>
          <a:prstGeom prst="rect">
            <a:avLst/>
          </a:prstGeom>
          <a:noFill/>
        </p:spPr>
        <p:txBody>
          <a:bodyPr wrap="square">
            <a:spAutoFit/>
          </a:bodyPr>
          <a:lstStyle/>
          <a:p>
            <a:r>
              <a:rPr lang="en-US" dirty="0"/>
              <a:t>public class Main {</a:t>
            </a:r>
          </a:p>
          <a:p>
            <a:r>
              <a:rPr lang="en-US" dirty="0"/>
              <a:t>    public static void main(String[] </a:t>
            </a:r>
            <a:r>
              <a:rPr lang="en-US" dirty="0" err="1"/>
              <a:t>args</a:t>
            </a:r>
            <a:r>
              <a:rPr lang="en-US" dirty="0"/>
              <a:t>) {</a:t>
            </a:r>
          </a:p>
          <a:p>
            <a:r>
              <a:rPr lang="en-US" dirty="0"/>
              <a:t>      </a:t>
            </a:r>
          </a:p>
          <a:p>
            <a:r>
              <a:rPr lang="en-US" dirty="0"/>
              <a:t>        // Creating a reference of type Person </a:t>
            </a:r>
          </a:p>
          <a:p>
            <a:r>
              <a:rPr lang="en-US" dirty="0"/>
              <a:t>        // but initializing it with Father class object</a:t>
            </a:r>
          </a:p>
          <a:p>
            <a:r>
              <a:rPr lang="en-US" dirty="0"/>
              <a:t>        Person p = new Father();</a:t>
            </a:r>
          </a:p>
          <a:p>
            <a:r>
              <a:rPr lang="en-US" dirty="0"/>
              <a:t>        </a:t>
            </a:r>
          </a:p>
          <a:p>
            <a:r>
              <a:rPr lang="en-US" dirty="0"/>
              <a:t>        // Calling the role method. It calls the </a:t>
            </a:r>
          </a:p>
          <a:p>
            <a:r>
              <a:rPr lang="en-US" dirty="0"/>
              <a:t>        // overridden version in Father class</a:t>
            </a:r>
          </a:p>
          <a:p>
            <a:r>
              <a:rPr lang="en-US" dirty="0"/>
              <a:t>        </a:t>
            </a:r>
            <a:r>
              <a:rPr lang="en-US" dirty="0" err="1"/>
              <a:t>p.role</a:t>
            </a:r>
            <a:r>
              <a:rPr lang="en-US" dirty="0"/>
              <a:t>();  </a:t>
            </a:r>
          </a:p>
          <a:p>
            <a:r>
              <a:rPr lang="en-US" dirty="0"/>
              <a:t>    }</a:t>
            </a:r>
          </a:p>
          <a:p>
            <a:r>
              <a:rPr lang="en-US" dirty="0"/>
              <a:t>}</a:t>
            </a:r>
          </a:p>
        </p:txBody>
      </p:sp>
    </p:spTree>
    <p:extLst>
      <p:ext uri="{BB962C8B-B14F-4D97-AF65-F5344CB8AC3E}">
        <p14:creationId xmlns:p14="http://schemas.microsoft.com/office/powerpoint/2010/main" val="689528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AF118-C2F4-B90F-AE8C-8A141324E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91A2C-934F-68E0-8286-CE204DBCAB06}"/>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Types of Polymorphism</a:t>
            </a:r>
          </a:p>
        </p:txBody>
      </p:sp>
      <p:pic>
        <p:nvPicPr>
          <p:cNvPr id="5" name="Content Placeholder 4">
            <a:extLst>
              <a:ext uri="{FF2B5EF4-FFF2-40B4-BE49-F238E27FC236}">
                <a16:creationId xmlns:a16="http://schemas.microsoft.com/office/drawing/2014/main" id="{B63A500A-9CF5-FF1A-5487-4282A9FD8E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4582" y="2160588"/>
            <a:ext cx="7762873" cy="3881437"/>
          </a:xfrm>
        </p:spPr>
      </p:pic>
    </p:spTree>
    <p:extLst>
      <p:ext uri="{BB962C8B-B14F-4D97-AF65-F5344CB8AC3E}">
        <p14:creationId xmlns:p14="http://schemas.microsoft.com/office/powerpoint/2010/main" val="773561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7C713-2C39-C3EC-3D1C-A945A219CC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0A9E1-4651-2B70-7AE6-9F09B1A79F8A}"/>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Method Overloading</a:t>
            </a:r>
          </a:p>
        </p:txBody>
      </p:sp>
      <p:sp>
        <p:nvSpPr>
          <p:cNvPr id="7" name="Content Placeholder 6">
            <a:extLst>
              <a:ext uri="{FF2B5EF4-FFF2-40B4-BE49-F238E27FC236}">
                <a16:creationId xmlns:a16="http://schemas.microsoft.com/office/drawing/2014/main" id="{E73B2AE8-90F1-4804-A0EA-B8D7BA75DBB1}"/>
              </a:ext>
            </a:extLst>
          </p:cNvPr>
          <p:cNvSpPr>
            <a:spLocks noGrp="1"/>
          </p:cNvSpPr>
          <p:nvPr>
            <p:ph idx="1"/>
          </p:nvPr>
        </p:nvSpPr>
        <p:spPr/>
        <p:txBody>
          <a:bodyPr>
            <a:normAutofit/>
          </a:bodyPr>
          <a:lstStyle/>
          <a:p>
            <a:pPr algn="just"/>
            <a:r>
              <a:rPr lang="en-US" sz="2600" u="sng" dirty="0">
                <a:latin typeface="Times New Roman" panose="02020603050405020304" pitchFamily="18" charset="0"/>
                <a:cs typeface="Times New Roman" panose="02020603050405020304" pitchFamily="18" charset="0"/>
                <a:hlinkClick r:id="rId2"/>
              </a:rPr>
              <a:t>Compile-Time Polymorphism</a:t>
            </a:r>
            <a:r>
              <a:rPr lang="en-US" sz="2600" dirty="0">
                <a:latin typeface="Times New Roman" panose="02020603050405020304" pitchFamily="18" charset="0"/>
                <a:cs typeface="Times New Roman" panose="02020603050405020304" pitchFamily="18" charset="0"/>
              </a:rPr>
              <a:t> in Java is also known as static polymorphism and also known as method overloading. This happens when multiple methods in the same class have the same name but different parameters.</a:t>
            </a:r>
          </a:p>
          <a:p>
            <a:pPr algn="just"/>
            <a:r>
              <a:rPr lang="en-US" sz="2600" dirty="0">
                <a:latin typeface="Times New Roman" panose="02020603050405020304" pitchFamily="18" charset="0"/>
                <a:cs typeface="Times New Roman" panose="02020603050405020304" pitchFamily="18" charset="0"/>
              </a:rPr>
              <a:t> </a:t>
            </a:r>
            <a:r>
              <a:rPr lang="en-US" sz="2600" u="sng" dirty="0">
                <a:latin typeface="Times New Roman" panose="02020603050405020304" pitchFamily="18" charset="0"/>
                <a:cs typeface="Times New Roman" panose="02020603050405020304" pitchFamily="18" charset="0"/>
                <a:hlinkClick r:id="rId3"/>
              </a:rPr>
              <a:t>Method overloading</a:t>
            </a:r>
            <a:r>
              <a:rPr lang="en-US" sz="2600" dirty="0">
                <a:latin typeface="Times New Roman" panose="02020603050405020304" pitchFamily="18" charset="0"/>
                <a:cs typeface="Times New Roman" panose="02020603050405020304" pitchFamily="18" charset="0"/>
              </a:rPr>
              <a:t> in Java means when there are multiple functions with the same name but different parameters then these functions are said to be overloaded. Functions can be overloaded by changes in the number of arguments or/and a change in the type of arguments.</a:t>
            </a:r>
          </a:p>
        </p:txBody>
      </p:sp>
    </p:spTree>
    <p:extLst>
      <p:ext uri="{BB962C8B-B14F-4D97-AF65-F5344CB8AC3E}">
        <p14:creationId xmlns:p14="http://schemas.microsoft.com/office/powerpoint/2010/main" val="3093526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267937-A49D-5862-4FDC-E7AE366303F1}"/>
              </a:ext>
            </a:extLst>
          </p:cNvPr>
          <p:cNvSpPr txBox="1"/>
          <p:nvPr/>
        </p:nvSpPr>
        <p:spPr>
          <a:xfrm>
            <a:off x="772668" y="499420"/>
            <a:ext cx="6099048" cy="5632311"/>
          </a:xfrm>
          <a:prstGeom prst="rect">
            <a:avLst/>
          </a:prstGeom>
          <a:noFill/>
        </p:spPr>
        <p:txBody>
          <a:bodyPr wrap="square">
            <a:spAutoFit/>
          </a:bodyPr>
          <a:lstStyle/>
          <a:p>
            <a:r>
              <a:rPr lang="en-US" dirty="0"/>
              <a:t>// Class 1</a:t>
            </a:r>
          </a:p>
          <a:p>
            <a:r>
              <a:rPr lang="en-US" dirty="0"/>
              <a:t>// Helper class</a:t>
            </a:r>
          </a:p>
          <a:p>
            <a:r>
              <a:rPr lang="en-US" dirty="0"/>
              <a:t>class Helper {</a:t>
            </a:r>
          </a:p>
          <a:p>
            <a:endParaRPr lang="en-US" dirty="0"/>
          </a:p>
          <a:p>
            <a:r>
              <a:rPr lang="en-US" dirty="0"/>
              <a:t>    // Method with 2 integer parameters</a:t>
            </a:r>
          </a:p>
          <a:p>
            <a:r>
              <a:rPr lang="en-US" dirty="0"/>
              <a:t>    static int Multiply(int a, int b)</a:t>
            </a:r>
          </a:p>
          <a:p>
            <a:r>
              <a:rPr lang="en-US" dirty="0"/>
              <a:t>    {</a:t>
            </a:r>
          </a:p>
          <a:p>
            <a:r>
              <a:rPr lang="en-US" dirty="0"/>
              <a:t>        // Returns product of integer numbers</a:t>
            </a:r>
          </a:p>
          <a:p>
            <a:r>
              <a:rPr lang="en-US" dirty="0"/>
              <a:t>        return a * b;</a:t>
            </a:r>
          </a:p>
          <a:p>
            <a:r>
              <a:rPr lang="en-US" dirty="0"/>
              <a:t>    }</a:t>
            </a:r>
          </a:p>
          <a:p>
            <a:endParaRPr lang="en-US" dirty="0"/>
          </a:p>
          <a:p>
            <a:r>
              <a:rPr lang="en-US" dirty="0"/>
              <a:t>    // Method 2</a:t>
            </a:r>
          </a:p>
          <a:p>
            <a:r>
              <a:rPr lang="en-US" dirty="0"/>
              <a:t>    // With same name but with 2 double parameters</a:t>
            </a:r>
          </a:p>
          <a:p>
            <a:r>
              <a:rPr lang="en-US" dirty="0"/>
              <a:t>    static double Multiply(double a, double b)</a:t>
            </a:r>
          </a:p>
          <a:p>
            <a:r>
              <a:rPr lang="en-US" dirty="0"/>
              <a:t>    {</a:t>
            </a:r>
          </a:p>
          <a:p>
            <a:r>
              <a:rPr lang="en-US" dirty="0"/>
              <a:t>        // Returns product of double numbers</a:t>
            </a:r>
          </a:p>
          <a:p>
            <a:r>
              <a:rPr lang="en-US" dirty="0"/>
              <a:t>        return a * b;</a:t>
            </a:r>
          </a:p>
          <a:p>
            <a:r>
              <a:rPr lang="en-US" dirty="0"/>
              <a:t>    }</a:t>
            </a:r>
          </a:p>
          <a:p>
            <a:r>
              <a:rPr lang="en-US" dirty="0"/>
              <a:t>}</a:t>
            </a:r>
          </a:p>
          <a:p>
            <a:endParaRPr lang="en-US" dirty="0"/>
          </a:p>
        </p:txBody>
      </p:sp>
      <p:sp>
        <p:nvSpPr>
          <p:cNvPr id="5" name="TextBox 4">
            <a:extLst>
              <a:ext uri="{FF2B5EF4-FFF2-40B4-BE49-F238E27FC236}">
                <a16:creationId xmlns:a16="http://schemas.microsoft.com/office/drawing/2014/main" id="{FC5E3580-FEB5-1905-7C7F-95416EB49209}"/>
              </a:ext>
            </a:extLst>
          </p:cNvPr>
          <p:cNvSpPr txBox="1"/>
          <p:nvPr/>
        </p:nvSpPr>
        <p:spPr>
          <a:xfrm>
            <a:off x="6405372" y="1852089"/>
            <a:ext cx="6099048" cy="3693319"/>
          </a:xfrm>
          <a:prstGeom prst="rect">
            <a:avLst/>
          </a:prstGeom>
          <a:noFill/>
        </p:spPr>
        <p:txBody>
          <a:bodyPr wrap="square">
            <a:spAutoFit/>
          </a:bodyPr>
          <a:lstStyle/>
          <a:p>
            <a:r>
              <a:rPr lang="en-US" dirty="0"/>
              <a:t>// Class 2</a:t>
            </a:r>
          </a:p>
          <a:p>
            <a:r>
              <a:rPr lang="en-US" dirty="0"/>
              <a:t>// Main class</a:t>
            </a:r>
          </a:p>
          <a:p>
            <a:r>
              <a:rPr lang="en-US" dirty="0"/>
              <a:t>class Geeks</a:t>
            </a:r>
          </a:p>
          <a:p>
            <a:r>
              <a:rPr lang="en-US" dirty="0"/>
              <a:t>{</a:t>
            </a:r>
          </a:p>
          <a:p>
            <a:r>
              <a:rPr lang="en-US" dirty="0"/>
              <a:t>    // Main driver method</a:t>
            </a:r>
          </a:p>
          <a:p>
            <a:r>
              <a:rPr lang="en-US" dirty="0"/>
              <a:t>    public static void main(String[] </a:t>
            </a:r>
            <a:r>
              <a:rPr lang="en-US" dirty="0" err="1"/>
              <a:t>args</a:t>
            </a:r>
            <a:r>
              <a:rPr lang="en-US" dirty="0"/>
              <a:t>) {</a:t>
            </a:r>
          </a:p>
          <a:p>
            <a:r>
              <a:rPr lang="en-US" dirty="0"/>
              <a:t>      </a:t>
            </a:r>
          </a:p>
          <a:p>
            <a:r>
              <a:rPr lang="en-US" dirty="0"/>
              <a:t>        // Calling method by passing</a:t>
            </a:r>
          </a:p>
          <a:p>
            <a:r>
              <a:rPr lang="en-US" dirty="0"/>
              <a:t>        // input as in arguments</a:t>
            </a:r>
          </a:p>
          <a:p>
            <a:r>
              <a:rPr lang="en-US" dirty="0"/>
              <a:t>        </a:t>
            </a:r>
            <a:r>
              <a:rPr lang="en-US" dirty="0" err="1"/>
              <a:t>System.out.println</a:t>
            </a:r>
            <a:r>
              <a:rPr lang="en-US" dirty="0"/>
              <a:t>(</a:t>
            </a:r>
            <a:r>
              <a:rPr lang="en-US" dirty="0" err="1"/>
              <a:t>Helper.Multiply</a:t>
            </a:r>
            <a:r>
              <a:rPr lang="en-US" dirty="0"/>
              <a:t>(2, 4));</a:t>
            </a:r>
          </a:p>
          <a:p>
            <a:r>
              <a:rPr lang="en-US" dirty="0"/>
              <a:t>        </a:t>
            </a:r>
            <a:r>
              <a:rPr lang="en-US" dirty="0" err="1"/>
              <a:t>System.out.println</a:t>
            </a:r>
            <a:r>
              <a:rPr lang="en-US" dirty="0"/>
              <a:t>(</a:t>
            </a:r>
            <a:r>
              <a:rPr lang="en-US" dirty="0" err="1"/>
              <a:t>Helper.Multiply</a:t>
            </a:r>
            <a:r>
              <a:rPr lang="en-US" dirty="0"/>
              <a:t>(5.5, 6.3));</a:t>
            </a:r>
          </a:p>
          <a:p>
            <a:r>
              <a:rPr lang="en-US" dirty="0"/>
              <a:t>    }</a:t>
            </a:r>
          </a:p>
          <a:p>
            <a:r>
              <a:rPr lang="en-US" dirty="0"/>
              <a:t>}</a:t>
            </a:r>
          </a:p>
        </p:txBody>
      </p:sp>
    </p:spTree>
    <p:extLst>
      <p:ext uri="{BB962C8B-B14F-4D97-AF65-F5344CB8AC3E}">
        <p14:creationId xmlns:p14="http://schemas.microsoft.com/office/powerpoint/2010/main" val="1569481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69388-9B96-EDFF-9B28-7684F4801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FA1AFB-8484-594C-7F3E-4FBDCD9577E4}"/>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Method Overriding</a:t>
            </a:r>
          </a:p>
        </p:txBody>
      </p:sp>
      <p:sp>
        <p:nvSpPr>
          <p:cNvPr id="7" name="Content Placeholder 6">
            <a:extLst>
              <a:ext uri="{FF2B5EF4-FFF2-40B4-BE49-F238E27FC236}">
                <a16:creationId xmlns:a16="http://schemas.microsoft.com/office/drawing/2014/main" id="{05822B40-B817-3E0B-4985-8199C29A183A}"/>
              </a:ext>
            </a:extLst>
          </p:cNvPr>
          <p:cNvSpPr>
            <a:spLocks noGrp="1"/>
          </p:cNvSpPr>
          <p:nvPr>
            <p:ph idx="1"/>
          </p:nvPr>
        </p:nvSpPr>
        <p:spPr/>
        <p:txBody>
          <a:bodyPr>
            <a:noAutofit/>
          </a:bodyPr>
          <a:lstStyle/>
          <a:p>
            <a:pPr algn="just"/>
            <a:r>
              <a:rPr lang="en-US" sz="2600" u="sng" dirty="0">
                <a:latin typeface="Times New Roman" panose="02020603050405020304" pitchFamily="18" charset="0"/>
                <a:cs typeface="Times New Roman" panose="02020603050405020304" pitchFamily="18" charset="0"/>
                <a:hlinkClick r:id="rId2"/>
              </a:rPr>
              <a:t>Runtime Polymorphism</a:t>
            </a:r>
            <a:r>
              <a:rPr lang="en-US" sz="2600" dirty="0">
                <a:latin typeface="Times New Roman" panose="02020603050405020304" pitchFamily="18" charset="0"/>
                <a:cs typeface="Times New Roman" panose="02020603050405020304" pitchFamily="18" charset="0"/>
              </a:rPr>
              <a:t> in Java known as Dynamic Method Dispatch. It is a process in which a function call to the overridden method is resolved at Runtime. This type of polymorphism is achieved by Method Overriding.</a:t>
            </a:r>
          </a:p>
          <a:p>
            <a:pPr algn="just"/>
            <a:r>
              <a:rPr lang="en-US" sz="2600" u="sng" dirty="0">
                <a:latin typeface="Times New Roman" panose="02020603050405020304" pitchFamily="18" charset="0"/>
                <a:cs typeface="Times New Roman" panose="02020603050405020304" pitchFamily="18" charset="0"/>
                <a:hlinkClick r:id="rId3"/>
              </a:rPr>
              <a:t>Method overriding </a:t>
            </a:r>
            <a:r>
              <a:rPr lang="en-US" sz="2600" dirty="0">
                <a:latin typeface="Times New Roman" panose="02020603050405020304" pitchFamily="18" charset="0"/>
                <a:cs typeface="Times New Roman" panose="02020603050405020304" pitchFamily="18" charset="0"/>
              </a:rPr>
              <a:t>in Java means when a subclass provides a specific implementation of a method that is already defined in its superclass. The method in the subclass must have the same name, return type, and parameters as the method in the superclass. </a:t>
            </a:r>
          </a:p>
        </p:txBody>
      </p:sp>
    </p:spTree>
    <p:extLst>
      <p:ext uri="{BB962C8B-B14F-4D97-AF65-F5344CB8AC3E}">
        <p14:creationId xmlns:p14="http://schemas.microsoft.com/office/powerpoint/2010/main" val="35462486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215AA-7B37-6948-C672-0EDBE20AE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3C9C02-B1BF-A20A-0EF5-A395229D4AA0}"/>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Method Overriding</a:t>
            </a:r>
          </a:p>
        </p:txBody>
      </p:sp>
      <p:sp>
        <p:nvSpPr>
          <p:cNvPr id="7" name="Content Placeholder 6">
            <a:extLst>
              <a:ext uri="{FF2B5EF4-FFF2-40B4-BE49-F238E27FC236}">
                <a16:creationId xmlns:a16="http://schemas.microsoft.com/office/drawing/2014/main" id="{E3C9E0CE-DDC8-E576-FA9A-4450D33F9DEA}"/>
              </a:ext>
            </a:extLst>
          </p:cNvPr>
          <p:cNvSpPr>
            <a:spLocks noGrp="1"/>
          </p:cNvSpPr>
          <p:nvPr>
            <p:ph idx="1"/>
          </p:nvPr>
        </p:nvSpPr>
        <p:spPr/>
        <p:txBody>
          <a:bodyPr>
            <a:noAutofit/>
          </a:bodyPr>
          <a:lstStyle/>
          <a:p>
            <a:pPr algn="just"/>
            <a:r>
              <a:rPr lang="en-US" sz="2600" dirty="0">
                <a:latin typeface="Times New Roman" panose="02020603050405020304" pitchFamily="18" charset="0"/>
                <a:cs typeface="Times New Roman" panose="02020603050405020304" pitchFamily="18" charset="0"/>
              </a:rPr>
              <a:t>Method overriding allows a subclass to modify or extend the behavior of an existing method in the parent class. This enables dynamic method dispatch, where the method that gets executed is determined at runtime based on the object's actual type.</a:t>
            </a:r>
          </a:p>
        </p:txBody>
      </p:sp>
    </p:spTree>
    <p:extLst>
      <p:ext uri="{BB962C8B-B14F-4D97-AF65-F5344CB8AC3E}">
        <p14:creationId xmlns:p14="http://schemas.microsoft.com/office/powerpoint/2010/main" val="40154981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A8D4D-8773-CA63-75AA-26CBF89E4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F70BF-373D-103D-15D3-2CD19CAA6A59}"/>
              </a:ext>
            </a:extLst>
          </p:cNvPr>
          <p:cNvSpPr>
            <a:spLocks noGrp="1"/>
          </p:cNvSpPr>
          <p:nvPr>
            <p:ph type="title"/>
          </p:nvPr>
        </p:nvSpPr>
        <p:spPr/>
        <p:txBody>
          <a:bodyPr>
            <a:normAutofit/>
          </a:bodyPr>
          <a:lstStyle/>
          <a:p>
            <a:r>
              <a:rPr lang="en-US" b="1" dirty="0"/>
              <a:t>super and this keywords</a:t>
            </a:r>
          </a:p>
        </p:txBody>
      </p:sp>
      <p:sp>
        <p:nvSpPr>
          <p:cNvPr id="7" name="Content Placeholder 6">
            <a:extLst>
              <a:ext uri="{FF2B5EF4-FFF2-40B4-BE49-F238E27FC236}">
                <a16:creationId xmlns:a16="http://schemas.microsoft.com/office/drawing/2014/main" id="{678C5607-9BDB-7243-79DE-2D805AD6C046}"/>
              </a:ext>
            </a:extLst>
          </p:cNvPr>
          <p:cNvSpPr>
            <a:spLocks noGrp="1"/>
          </p:cNvSpPr>
          <p:nvPr>
            <p:ph idx="1"/>
          </p:nvPr>
        </p:nvSpPr>
        <p:spPr/>
        <p:txBody>
          <a:bodyPr>
            <a:noAutofit/>
          </a:bodyPr>
          <a:lstStyle/>
          <a:p>
            <a:pPr algn="just"/>
            <a:r>
              <a:rPr lang="en-US" sz="2600" b="1" dirty="0">
                <a:latin typeface="Times New Roman" panose="02020603050405020304" pitchFamily="18" charset="0"/>
                <a:cs typeface="Times New Roman" panose="02020603050405020304" pitchFamily="18" charset="0"/>
              </a:rPr>
              <a:t>super</a:t>
            </a:r>
            <a:r>
              <a:rPr lang="en-US" sz="2600" dirty="0">
                <a:latin typeface="Times New Roman" panose="02020603050405020304" pitchFamily="18" charset="0"/>
                <a:cs typeface="Times New Roman" panose="02020603050405020304" pitchFamily="18" charset="0"/>
              </a:rPr>
              <a:t> keyword is used to access methods of the </a:t>
            </a:r>
            <a:r>
              <a:rPr lang="en-US" sz="2600" b="1" dirty="0">
                <a:latin typeface="Times New Roman" panose="02020603050405020304" pitchFamily="18" charset="0"/>
                <a:cs typeface="Times New Roman" panose="02020603050405020304" pitchFamily="18" charset="0"/>
              </a:rPr>
              <a:t>parent class</a:t>
            </a:r>
            <a:r>
              <a:rPr lang="en-US" sz="2600" dirty="0">
                <a:latin typeface="Times New Roman" panose="02020603050405020304" pitchFamily="18" charset="0"/>
                <a:cs typeface="Times New Roman" panose="02020603050405020304" pitchFamily="18" charset="0"/>
              </a:rPr>
              <a:t> while </a:t>
            </a:r>
            <a:r>
              <a:rPr lang="en-US" sz="2600" b="1" dirty="0">
                <a:latin typeface="Times New Roman" panose="02020603050405020304" pitchFamily="18" charset="0"/>
                <a:cs typeface="Times New Roman" panose="02020603050405020304" pitchFamily="18" charset="0"/>
              </a:rPr>
              <a:t>this </a:t>
            </a:r>
            <a:r>
              <a:rPr lang="en-US" sz="2600" dirty="0">
                <a:latin typeface="Times New Roman" panose="02020603050405020304" pitchFamily="18" charset="0"/>
                <a:cs typeface="Times New Roman" panose="02020603050405020304" pitchFamily="18" charset="0"/>
              </a:rPr>
              <a:t>is used to access methods of the </a:t>
            </a:r>
            <a:r>
              <a:rPr lang="en-US" sz="2600" b="1" dirty="0">
                <a:latin typeface="Times New Roman" panose="02020603050405020304" pitchFamily="18" charset="0"/>
                <a:cs typeface="Times New Roman" panose="02020603050405020304" pitchFamily="18" charset="0"/>
              </a:rPr>
              <a:t>current class</a:t>
            </a:r>
            <a:r>
              <a:rPr lang="en-US" sz="2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79578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CC19F-CE9D-8701-5EE4-30970877EB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30E65-365C-0C94-4660-B0AD603EC812}"/>
              </a:ext>
            </a:extLst>
          </p:cNvPr>
          <p:cNvSpPr>
            <a:spLocks noGrp="1"/>
          </p:cNvSpPr>
          <p:nvPr>
            <p:ph type="title"/>
          </p:nvPr>
        </p:nvSpPr>
        <p:spPr/>
        <p:txBody>
          <a:bodyPr>
            <a:normAutofit/>
          </a:bodyPr>
          <a:lstStyle/>
          <a:p>
            <a:r>
              <a:rPr lang="en-US" b="1" dirty="0"/>
              <a:t>this keyword</a:t>
            </a:r>
          </a:p>
        </p:txBody>
      </p:sp>
      <p:sp>
        <p:nvSpPr>
          <p:cNvPr id="7" name="Content Placeholder 6">
            <a:extLst>
              <a:ext uri="{FF2B5EF4-FFF2-40B4-BE49-F238E27FC236}">
                <a16:creationId xmlns:a16="http://schemas.microsoft.com/office/drawing/2014/main" id="{B29A169D-8324-3505-0721-1F63739BE588}"/>
              </a:ext>
            </a:extLst>
          </p:cNvPr>
          <p:cNvSpPr>
            <a:spLocks noGrp="1"/>
          </p:cNvSpPr>
          <p:nvPr>
            <p:ph idx="1"/>
          </p:nvPr>
        </p:nvSpPr>
        <p:spPr>
          <a:xfrm>
            <a:off x="750486" y="1685101"/>
            <a:ext cx="8596668" cy="3880773"/>
          </a:xfrm>
        </p:spPr>
        <p:txBody>
          <a:bodyPr>
            <a:noAutofit/>
          </a:bodyPr>
          <a:lstStyle/>
          <a:p>
            <a:pPr fontAlgn="base"/>
            <a:r>
              <a:rPr lang="en-US" sz="2600" b="1" u="sng" dirty="0">
                <a:latin typeface="Times New Roman" panose="02020603050405020304" pitchFamily="18" charset="0"/>
                <a:cs typeface="Times New Roman" panose="02020603050405020304" pitchFamily="18" charset="0"/>
                <a:hlinkClick r:id="rId2"/>
              </a:rPr>
              <a:t>this keyword</a:t>
            </a:r>
            <a:r>
              <a:rPr lang="en-US" sz="2600" b="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is a reserved keyword in java </a:t>
            </a:r>
            <a:r>
              <a:rPr lang="en-US" sz="2600" dirty="0" err="1">
                <a:latin typeface="Times New Roman" panose="02020603050405020304" pitchFamily="18" charset="0"/>
                <a:cs typeface="Times New Roman" panose="02020603050405020304" pitchFamily="18" charset="0"/>
              </a:rPr>
              <a:t>i.e</a:t>
            </a:r>
            <a:r>
              <a:rPr lang="en-US" sz="2600" dirty="0">
                <a:latin typeface="Times New Roman" panose="02020603050405020304" pitchFamily="18" charset="0"/>
                <a:cs typeface="Times New Roman" panose="02020603050405020304" pitchFamily="18" charset="0"/>
              </a:rPr>
              <a:t>, we can't use it as an identifier. It is used to refer current class's instance as well as static members. It</a:t>
            </a:r>
            <a:r>
              <a:rPr lang="en-US" sz="2600" b="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can be used in various contexts as given below:</a:t>
            </a:r>
          </a:p>
          <a:p>
            <a:pPr fontAlgn="base"/>
            <a:r>
              <a:rPr lang="en-US" sz="2600" dirty="0">
                <a:latin typeface="Times New Roman" panose="02020603050405020304" pitchFamily="18" charset="0"/>
                <a:cs typeface="Times New Roman" panose="02020603050405020304" pitchFamily="18" charset="0"/>
              </a:rPr>
              <a:t>to refer instance variable of current class</a:t>
            </a:r>
          </a:p>
          <a:p>
            <a:pPr fontAlgn="base"/>
            <a:r>
              <a:rPr lang="en-US" sz="2600" dirty="0">
                <a:latin typeface="Times New Roman" panose="02020603050405020304" pitchFamily="18" charset="0"/>
                <a:cs typeface="Times New Roman" panose="02020603050405020304" pitchFamily="18" charset="0"/>
              </a:rPr>
              <a:t>to invoke or initiate current class constructor</a:t>
            </a:r>
          </a:p>
          <a:p>
            <a:pPr fontAlgn="base"/>
            <a:r>
              <a:rPr lang="en-US" sz="2600" dirty="0">
                <a:latin typeface="Times New Roman" panose="02020603050405020304" pitchFamily="18" charset="0"/>
                <a:cs typeface="Times New Roman" panose="02020603050405020304" pitchFamily="18" charset="0"/>
              </a:rPr>
              <a:t>can be passed as an argument in the method call</a:t>
            </a:r>
          </a:p>
          <a:p>
            <a:pPr fontAlgn="base"/>
            <a:r>
              <a:rPr lang="en-US" sz="2600" dirty="0">
                <a:latin typeface="Times New Roman" panose="02020603050405020304" pitchFamily="18" charset="0"/>
                <a:cs typeface="Times New Roman" panose="02020603050405020304" pitchFamily="18" charset="0"/>
              </a:rPr>
              <a:t>can be passed as argument in the constructor call</a:t>
            </a:r>
          </a:p>
          <a:p>
            <a:pPr fontAlgn="base"/>
            <a:r>
              <a:rPr lang="en-US" sz="2600" dirty="0">
                <a:latin typeface="Times New Roman" panose="02020603050405020304" pitchFamily="18" charset="0"/>
                <a:cs typeface="Times New Roman" panose="02020603050405020304" pitchFamily="18" charset="0"/>
              </a:rPr>
              <a:t>can be used to return the current class instance</a:t>
            </a:r>
          </a:p>
          <a:p>
            <a:pPr algn="just"/>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0777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1470B6-F358-238A-C648-7AE93D7614DC}"/>
              </a:ext>
            </a:extLst>
          </p:cNvPr>
          <p:cNvSpPr txBox="1"/>
          <p:nvPr/>
        </p:nvSpPr>
        <p:spPr>
          <a:xfrm>
            <a:off x="589788" y="188524"/>
            <a:ext cx="6099048" cy="7017306"/>
          </a:xfrm>
          <a:prstGeom prst="rect">
            <a:avLst/>
          </a:prstGeom>
          <a:noFill/>
        </p:spPr>
        <p:txBody>
          <a:bodyPr wrap="square">
            <a:spAutoFit/>
          </a:bodyPr>
          <a:lstStyle/>
          <a:p>
            <a:r>
              <a:rPr lang="en-US" dirty="0"/>
              <a:t>// Program to illustrate this keyword </a:t>
            </a:r>
          </a:p>
          <a:p>
            <a:r>
              <a:rPr lang="en-US" dirty="0"/>
              <a:t>// is used to refer current class</a:t>
            </a:r>
          </a:p>
          <a:p>
            <a:r>
              <a:rPr lang="en-US" dirty="0"/>
              <a:t>class RR {</a:t>
            </a:r>
          </a:p>
          <a:p>
            <a:r>
              <a:rPr lang="en-US" dirty="0"/>
              <a:t>    // instance variable</a:t>
            </a:r>
          </a:p>
          <a:p>
            <a:r>
              <a:rPr lang="en-US" dirty="0"/>
              <a:t>    int a = 10;</a:t>
            </a:r>
          </a:p>
          <a:p>
            <a:endParaRPr lang="en-US" dirty="0"/>
          </a:p>
          <a:p>
            <a:r>
              <a:rPr lang="en-US" dirty="0"/>
              <a:t>    // static variable</a:t>
            </a:r>
          </a:p>
          <a:p>
            <a:r>
              <a:rPr lang="en-US" dirty="0"/>
              <a:t>    static int b = 20;</a:t>
            </a:r>
          </a:p>
          <a:p>
            <a:endParaRPr lang="en-US" dirty="0"/>
          </a:p>
          <a:p>
            <a:r>
              <a:rPr lang="en-US" dirty="0"/>
              <a:t>    void GFG()</a:t>
            </a:r>
          </a:p>
          <a:p>
            <a:r>
              <a:rPr lang="en-US" dirty="0"/>
              <a:t>    {</a:t>
            </a:r>
          </a:p>
          <a:p>
            <a:r>
              <a:rPr lang="en-US" dirty="0"/>
              <a:t>        // referring current class(</a:t>
            </a:r>
            <a:r>
              <a:rPr lang="en-US" dirty="0" err="1"/>
              <a:t>i.e</a:t>
            </a:r>
            <a:r>
              <a:rPr lang="en-US" dirty="0"/>
              <a:t>, class RR) </a:t>
            </a:r>
          </a:p>
          <a:p>
            <a:r>
              <a:rPr lang="en-US" dirty="0"/>
              <a:t>        // instance variable(</a:t>
            </a:r>
            <a:r>
              <a:rPr lang="en-US" dirty="0" err="1"/>
              <a:t>i.e</a:t>
            </a:r>
            <a:r>
              <a:rPr lang="en-US" dirty="0"/>
              <a:t>, a)</a:t>
            </a:r>
          </a:p>
          <a:p>
            <a:r>
              <a:rPr lang="en-US" dirty="0"/>
              <a:t>        </a:t>
            </a:r>
            <a:r>
              <a:rPr lang="en-US" dirty="0" err="1"/>
              <a:t>this.a</a:t>
            </a:r>
            <a:r>
              <a:rPr lang="en-US" dirty="0"/>
              <a:t> = 100;</a:t>
            </a:r>
          </a:p>
          <a:p>
            <a:endParaRPr lang="en-US" dirty="0"/>
          </a:p>
          <a:p>
            <a:r>
              <a:rPr lang="en-US" dirty="0"/>
              <a:t>        </a:t>
            </a:r>
            <a:r>
              <a:rPr lang="en-US" dirty="0" err="1"/>
              <a:t>System.out.println</a:t>
            </a:r>
            <a:r>
              <a:rPr lang="en-US" dirty="0"/>
              <a:t>(a);</a:t>
            </a:r>
          </a:p>
          <a:p>
            <a:endParaRPr lang="en-US" dirty="0"/>
          </a:p>
          <a:p>
            <a:r>
              <a:rPr lang="en-US" dirty="0"/>
              <a:t>        // referring current class(</a:t>
            </a:r>
            <a:r>
              <a:rPr lang="en-US" dirty="0" err="1"/>
              <a:t>i.e</a:t>
            </a:r>
            <a:r>
              <a:rPr lang="en-US" dirty="0"/>
              <a:t>, class RR) </a:t>
            </a:r>
          </a:p>
          <a:p>
            <a:r>
              <a:rPr lang="en-US" dirty="0"/>
              <a:t>        // static variable(</a:t>
            </a:r>
            <a:r>
              <a:rPr lang="en-US" dirty="0" err="1"/>
              <a:t>i.e</a:t>
            </a:r>
            <a:r>
              <a:rPr lang="en-US" dirty="0"/>
              <a:t>, b)</a:t>
            </a:r>
          </a:p>
          <a:p>
            <a:r>
              <a:rPr lang="en-US" dirty="0"/>
              <a:t>        </a:t>
            </a:r>
            <a:r>
              <a:rPr lang="en-US" dirty="0" err="1"/>
              <a:t>this.b</a:t>
            </a:r>
            <a:r>
              <a:rPr lang="en-US" dirty="0"/>
              <a:t> = 600;</a:t>
            </a:r>
          </a:p>
          <a:p>
            <a:endParaRPr lang="en-US" dirty="0"/>
          </a:p>
          <a:p>
            <a:r>
              <a:rPr lang="en-US" dirty="0"/>
              <a:t>        </a:t>
            </a:r>
            <a:r>
              <a:rPr lang="en-US" dirty="0" err="1"/>
              <a:t>System.out.println</a:t>
            </a:r>
            <a:r>
              <a:rPr lang="en-US" dirty="0"/>
              <a:t>(b);</a:t>
            </a:r>
          </a:p>
          <a:p>
            <a:r>
              <a:rPr lang="en-US" dirty="0"/>
              <a:t>    }</a:t>
            </a:r>
          </a:p>
          <a:p>
            <a:endParaRPr lang="en-US" dirty="0"/>
          </a:p>
          <a:p>
            <a:endParaRPr lang="en-US" dirty="0"/>
          </a:p>
        </p:txBody>
      </p:sp>
      <p:sp>
        <p:nvSpPr>
          <p:cNvPr id="5" name="TextBox 4">
            <a:extLst>
              <a:ext uri="{FF2B5EF4-FFF2-40B4-BE49-F238E27FC236}">
                <a16:creationId xmlns:a16="http://schemas.microsoft.com/office/drawing/2014/main" id="{BAF01A23-A03F-E3D5-95C8-D7F0270FFBBA}"/>
              </a:ext>
            </a:extLst>
          </p:cNvPr>
          <p:cNvSpPr txBox="1"/>
          <p:nvPr/>
        </p:nvSpPr>
        <p:spPr>
          <a:xfrm>
            <a:off x="6387084" y="2404515"/>
            <a:ext cx="6099048" cy="2585323"/>
          </a:xfrm>
          <a:prstGeom prst="rect">
            <a:avLst/>
          </a:prstGeom>
          <a:noFill/>
        </p:spPr>
        <p:txBody>
          <a:bodyPr wrap="square">
            <a:spAutoFit/>
          </a:bodyPr>
          <a:lstStyle/>
          <a:p>
            <a:r>
              <a:rPr lang="en-US" dirty="0"/>
              <a:t> public static void main(String[] </a:t>
            </a:r>
            <a:r>
              <a:rPr lang="en-US" dirty="0" err="1"/>
              <a:t>args</a:t>
            </a:r>
            <a:r>
              <a:rPr lang="en-US" dirty="0"/>
              <a:t>)</a:t>
            </a:r>
          </a:p>
          <a:p>
            <a:r>
              <a:rPr lang="en-US" dirty="0"/>
              <a:t>    {</a:t>
            </a:r>
          </a:p>
          <a:p>
            <a:r>
              <a:rPr lang="en-US" dirty="0"/>
              <a:t>        // Uncomment this and see here you get </a:t>
            </a:r>
          </a:p>
          <a:p>
            <a:r>
              <a:rPr lang="en-US" dirty="0"/>
              <a:t>        // Compile Time Error since cannot use </a:t>
            </a:r>
          </a:p>
          <a:p>
            <a:r>
              <a:rPr lang="en-US" dirty="0"/>
              <a:t>        // 'this' in static context.</a:t>
            </a:r>
          </a:p>
          <a:p>
            <a:r>
              <a:rPr lang="en-US" dirty="0"/>
              <a:t>        // </a:t>
            </a:r>
            <a:r>
              <a:rPr lang="en-US" dirty="0" err="1"/>
              <a:t>this.a</a:t>
            </a:r>
            <a:r>
              <a:rPr lang="en-US" dirty="0"/>
              <a:t> = 700;</a:t>
            </a:r>
          </a:p>
          <a:p>
            <a:r>
              <a:rPr lang="en-US" dirty="0"/>
              <a:t>        new RR().GFG();</a:t>
            </a:r>
          </a:p>
          <a:p>
            <a:r>
              <a:rPr lang="en-US" dirty="0"/>
              <a:t>    }</a:t>
            </a:r>
          </a:p>
          <a:p>
            <a:r>
              <a:rPr lang="en-US" dirty="0"/>
              <a:t>}</a:t>
            </a:r>
          </a:p>
        </p:txBody>
      </p:sp>
    </p:spTree>
    <p:extLst>
      <p:ext uri="{BB962C8B-B14F-4D97-AF65-F5344CB8AC3E}">
        <p14:creationId xmlns:p14="http://schemas.microsoft.com/office/powerpoint/2010/main" val="346364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C4D7C-E487-E52B-CA3B-37A86B95A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DF5B7D-EAD1-FF12-33BE-338F0665ADE8}"/>
              </a:ext>
            </a:extLst>
          </p:cNvPr>
          <p:cNvSpPr>
            <a:spLocks noGrp="1"/>
          </p:cNvSpPr>
          <p:nvPr>
            <p:ph type="title"/>
          </p:nvPr>
        </p:nvSpPr>
        <p:spPr/>
        <p:txBody>
          <a:bodyPr>
            <a:normAutofit/>
          </a:bodyPr>
          <a:lstStyle/>
          <a:p>
            <a:r>
              <a:rPr lang="en-US" b="1" dirty="0"/>
              <a:t>super keyword</a:t>
            </a:r>
          </a:p>
        </p:txBody>
      </p:sp>
      <p:sp>
        <p:nvSpPr>
          <p:cNvPr id="7" name="Content Placeholder 6">
            <a:extLst>
              <a:ext uri="{FF2B5EF4-FFF2-40B4-BE49-F238E27FC236}">
                <a16:creationId xmlns:a16="http://schemas.microsoft.com/office/drawing/2014/main" id="{BD14E5F9-3F78-2C16-DE0C-6517637B7937}"/>
              </a:ext>
            </a:extLst>
          </p:cNvPr>
          <p:cNvSpPr>
            <a:spLocks noGrp="1"/>
          </p:cNvSpPr>
          <p:nvPr>
            <p:ph idx="1"/>
          </p:nvPr>
        </p:nvSpPr>
        <p:spPr>
          <a:xfrm>
            <a:off x="476166" y="1621093"/>
            <a:ext cx="9728538" cy="3880773"/>
          </a:xfrm>
        </p:spPr>
        <p:txBody>
          <a:bodyPr>
            <a:noAutofit/>
          </a:bodyPr>
          <a:lstStyle/>
          <a:p>
            <a:pPr algn="just" fontAlgn="base"/>
            <a:r>
              <a:rPr lang="en-US" sz="2600" b="1" dirty="0">
                <a:latin typeface="Times New Roman" panose="02020603050405020304" pitchFamily="18" charset="0"/>
                <a:cs typeface="Times New Roman" panose="02020603050405020304" pitchFamily="18" charset="0"/>
              </a:rPr>
              <a:t>super</a:t>
            </a:r>
            <a:r>
              <a:rPr lang="en-US" sz="2600" dirty="0">
                <a:latin typeface="Times New Roman" panose="02020603050405020304" pitchFamily="18" charset="0"/>
                <a:cs typeface="Times New Roman" panose="02020603050405020304" pitchFamily="18" charset="0"/>
              </a:rPr>
              <a:t> is a reserved keyword in java </a:t>
            </a:r>
            <a:r>
              <a:rPr lang="en-US" sz="2600" dirty="0" err="1">
                <a:latin typeface="Times New Roman" panose="02020603050405020304" pitchFamily="18" charset="0"/>
                <a:cs typeface="Times New Roman" panose="02020603050405020304" pitchFamily="18" charset="0"/>
              </a:rPr>
              <a:t>i.e</a:t>
            </a:r>
            <a:r>
              <a:rPr lang="en-US" sz="2600" dirty="0">
                <a:latin typeface="Times New Roman" panose="02020603050405020304" pitchFamily="18" charset="0"/>
                <a:cs typeface="Times New Roman" panose="02020603050405020304" pitchFamily="18" charset="0"/>
              </a:rPr>
              <a:t>, we can't use it as an identifier.</a:t>
            </a:r>
          </a:p>
          <a:p>
            <a:pPr algn="just" fontAlgn="base"/>
            <a:r>
              <a:rPr lang="en-US" sz="2600" b="1" dirty="0">
                <a:latin typeface="Times New Roman" panose="02020603050405020304" pitchFamily="18" charset="0"/>
                <a:cs typeface="Times New Roman" panose="02020603050405020304" pitchFamily="18" charset="0"/>
              </a:rPr>
              <a:t>super</a:t>
            </a:r>
            <a:r>
              <a:rPr lang="en-US" sz="2600" dirty="0">
                <a:latin typeface="Times New Roman" panose="02020603050405020304" pitchFamily="18" charset="0"/>
                <a:cs typeface="Times New Roman" panose="02020603050405020304" pitchFamily="18" charset="0"/>
              </a:rPr>
              <a:t> is used to refer </a:t>
            </a:r>
            <a:r>
              <a:rPr lang="en-US" sz="2600" b="1" dirty="0">
                <a:latin typeface="Times New Roman" panose="02020603050405020304" pitchFamily="18" charset="0"/>
                <a:cs typeface="Times New Roman" panose="02020603050405020304" pitchFamily="18" charset="0"/>
              </a:rPr>
              <a:t>super-class's instance as well as static members</a:t>
            </a:r>
            <a:r>
              <a:rPr lang="en-US" sz="2600" dirty="0">
                <a:latin typeface="Times New Roman" panose="02020603050405020304" pitchFamily="18" charset="0"/>
                <a:cs typeface="Times New Roman" panose="02020603050405020304" pitchFamily="18" charset="0"/>
              </a:rPr>
              <a:t>.</a:t>
            </a:r>
          </a:p>
          <a:p>
            <a:pPr algn="just" fontAlgn="base"/>
            <a:r>
              <a:rPr lang="en-US" sz="2600" b="1" dirty="0">
                <a:latin typeface="Times New Roman" panose="02020603050405020304" pitchFamily="18" charset="0"/>
                <a:cs typeface="Times New Roman" panose="02020603050405020304" pitchFamily="18" charset="0"/>
              </a:rPr>
              <a:t>super</a:t>
            </a:r>
            <a:r>
              <a:rPr lang="en-US" sz="2600" dirty="0">
                <a:latin typeface="Times New Roman" panose="02020603050405020304" pitchFamily="18" charset="0"/>
                <a:cs typeface="Times New Roman" panose="02020603050405020304" pitchFamily="18" charset="0"/>
              </a:rPr>
              <a:t> is also used to invoke</a:t>
            </a:r>
            <a:r>
              <a:rPr lang="en-US" sz="2600" b="1" dirty="0">
                <a:latin typeface="Times New Roman" panose="02020603050405020304" pitchFamily="18" charset="0"/>
                <a:cs typeface="Times New Roman" panose="02020603050405020304" pitchFamily="18" charset="0"/>
              </a:rPr>
              <a:t> super-class's method or constructor</a:t>
            </a:r>
            <a:r>
              <a:rPr lang="en-US" sz="2600" dirty="0">
                <a:latin typeface="Times New Roman" panose="02020603050405020304" pitchFamily="18" charset="0"/>
                <a:cs typeface="Times New Roman" panose="02020603050405020304" pitchFamily="18" charset="0"/>
              </a:rPr>
              <a:t>.</a:t>
            </a:r>
          </a:p>
          <a:p>
            <a:pPr algn="just" fontAlgn="base"/>
            <a:r>
              <a:rPr lang="en-US" sz="2600" b="1" dirty="0">
                <a:latin typeface="Times New Roman" panose="02020603050405020304" pitchFamily="18" charset="0"/>
                <a:cs typeface="Times New Roman" panose="02020603050405020304" pitchFamily="18" charset="0"/>
              </a:rPr>
              <a:t>super</a:t>
            </a:r>
            <a:r>
              <a:rPr lang="en-US" sz="2600" dirty="0">
                <a:latin typeface="Times New Roman" panose="02020603050405020304" pitchFamily="18" charset="0"/>
                <a:cs typeface="Times New Roman" panose="02020603050405020304" pitchFamily="18" charset="0"/>
              </a:rPr>
              <a:t> keyword in java programming language refers to the superclass of the class where the super keyword is currently being used.</a:t>
            </a:r>
          </a:p>
          <a:p>
            <a:pPr algn="just" fontAlgn="base"/>
            <a:r>
              <a:rPr lang="en-US" sz="2600" dirty="0">
                <a:latin typeface="Times New Roman" panose="02020603050405020304" pitchFamily="18" charset="0"/>
                <a:cs typeface="Times New Roman" panose="02020603050405020304" pitchFamily="18" charset="0"/>
              </a:rPr>
              <a:t>The most common use of </a:t>
            </a:r>
            <a:r>
              <a:rPr lang="en-US" sz="2600" b="1" dirty="0">
                <a:latin typeface="Times New Roman" panose="02020603050405020304" pitchFamily="18" charset="0"/>
                <a:cs typeface="Times New Roman" panose="02020603050405020304" pitchFamily="18" charset="0"/>
              </a:rPr>
              <a:t>super</a:t>
            </a:r>
            <a:r>
              <a:rPr lang="en-US" sz="2600" dirty="0">
                <a:latin typeface="Times New Roman" panose="02020603050405020304" pitchFamily="18" charset="0"/>
                <a:cs typeface="Times New Roman" panose="02020603050405020304" pitchFamily="18" charset="0"/>
              </a:rPr>
              <a:t> keyword is that it eliminates the confusion between the </a:t>
            </a:r>
            <a:r>
              <a:rPr lang="en-US" sz="2600" dirty="0" err="1">
                <a:latin typeface="Times New Roman" panose="02020603050405020304" pitchFamily="18" charset="0"/>
                <a:cs typeface="Times New Roman" panose="02020603050405020304" pitchFamily="18" charset="0"/>
              </a:rPr>
              <a:t>superclasses</a:t>
            </a:r>
            <a:r>
              <a:rPr lang="en-US" sz="2600" dirty="0">
                <a:latin typeface="Times New Roman" panose="02020603050405020304" pitchFamily="18" charset="0"/>
                <a:cs typeface="Times New Roman" panose="02020603050405020304" pitchFamily="18" charset="0"/>
              </a:rPr>
              <a:t> and subclasses that have methods with same name.</a:t>
            </a:r>
          </a:p>
          <a:p>
            <a:pPr algn="just"/>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4209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D7C41E-F825-256E-1E39-E68714649512}"/>
              </a:ext>
            </a:extLst>
          </p:cNvPr>
          <p:cNvSpPr txBox="1"/>
          <p:nvPr/>
        </p:nvSpPr>
        <p:spPr>
          <a:xfrm>
            <a:off x="553212" y="409319"/>
            <a:ext cx="6099048" cy="6740307"/>
          </a:xfrm>
          <a:prstGeom prst="rect">
            <a:avLst/>
          </a:prstGeom>
          <a:noFill/>
        </p:spPr>
        <p:txBody>
          <a:bodyPr wrap="square">
            <a:spAutoFit/>
          </a:bodyPr>
          <a:lstStyle/>
          <a:p>
            <a:r>
              <a:rPr lang="en-US" dirty="0"/>
              <a:t>// Program to illustrate super keyword</a:t>
            </a:r>
          </a:p>
          <a:p>
            <a:r>
              <a:rPr lang="en-US" dirty="0"/>
              <a:t>// refers super-class instance</a:t>
            </a:r>
          </a:p>
          <a:p>
            <a:endParaRPr lang="en-US" dirty="0"/>
          </a:p>
          <a:p>
            <a:r>
              <a:rPr lang="en-US" dirty="0"/>
              <a:t>class Parent {</a:t>
            </a:r>
          </a:p>
          <a:p>
            <a:r>
              <a:rPr lang="en-US" dirty="0"/>
              <a:t>    // instance variable</a:t>
            </a:r>
          </a:p>
          <a:p>
            <a:r>
              <a:rPr lang="en-US" dirty="0"/>
              <a:t>    int a = 10;</a:t>
            </a:r>
          </a:p>
          <a:p>
            <a:endParaRPr lang="en-US" dirty="0"/>
          </a:p>
          <a:p>
            <a:r>
              <a:rPr lang="en-US" dirty="0"/>
              <a:t>    // static variable</a:t>
            </a:r>
          </a:p>
          <a:p>
            <a:r>
              <a:rPr lang="en-US" dirty="0"/>
              <a:t>    static int b = 20;</a:t>
            </a:r>
          </a:p>
          <a:p>
            <a:r>
              <a:rPr lang="en-US" dirty="0"/>
              <a:t>}</a:t>
            </a:r>
          </a:p>
          <a:p>
            <a:endParaRPr lang="en-US" dirty="0"/>
          </a:p>
          <a:p>
            <a:r>
              <a:rPr lang="en-US" dirty="0"/>
              <a:t>class Base extends Parent {</a:t>
            </a:r>
          </a:p>
          <a:p>
            <a:r>
              <a:rPr lang="en-US" dirty="0"/>
              <a:t>    void </a:t>
            </a:r>
            <a:r>
              <a:rPr lang="en-US" dirty="0" err="1"/>
              <a:t>rr</a:t>
            </a:r>
            <a:r>
              <a:rPr lang="en-US" dirty="0"/>
              <a:t>()</a:t>
            </a:r>
          </a:p>
          <a:p>
            <a:r>
              <a:rPr lang="en-US" dirty="0"/>
              <a:t>    {</a:t>
            </a:r>
          </a:p>
          <a:p>
            <a:r>
              <a:rPr lang="en-US" dirty="0"/>
              <a:t>        // referring parent class(</a:t>
            </a:r>
            <a:r>
              <a:rPr lang="en-US" dirty="0" err="1"/>
              <a:t>i.e</a:t>
            </a:r>
            <a:r>
              <a:rPr lang="en-US" dirty="0"/>
              <a:t>, class Parent)</a:t>
            </a:r>
          </a:p>
          <a:p>
            <a:r>
              <a:rPr lang="en-US" dirty="0"/>
              <a:t>        // instance variable(</a:t>
            </a:r>
            <a:r>
              <a:rPr lang="en-US" dirty="0" err="1"/>
              <a:t>i.e</a:t>
            </a:r>
            <a:r>
              <a:rPr lang="en-US" dirty="0"/>
              <a:t>, a)</a:t>
            </a:r>
          </a:p>
          <a:p>
            <a:r>
              <a:rPr lang="en-US" dirty="0"/>
              <a:t>        </a:t>
            </a:r>
            <a:r>
              <a:rPr lang="en-US" dirty="0" err="1"/>
              <a:t>System.out.println</a:t>
            </a:r>
            <a:r>
              <a:rPr lang="en-US" dirty="0"/>
              <a:t>(</a:t>
            </a:r>
            <a:r>
              <a:rPr lang="en-US" dirty="0" err="1"/>
              <a:t>super.a</a:t>
            </a:r>
            <a:r>
              <a:rPr lang="en-US" dirty="0"/>
              <a:t>);</a:t>
            </a:r>
          </a:p>
          <a:p>
            <a:endParaRPr lang="en-US" dirty="0"/>
          </a:p>
          <a:p>
            <a:r>
              <a:rPr lang="en-US" dirty="0"/>
              <a:t>        // referring parent class(</a:t>
            </a:r>
            <a:r>
              <a:rPr lang="en-US" dirty="0" err="1"/>
              <a:t>i.e</a:t>
            </a:r>
            <a:r>
              <a:rPr lang="en-US" dirty="0"/>
              <a:t>, class Parent)</a:t>
            </a:r>
          </a:p>
          <a:p>
            <a:r>
              <a:rPr lang="en-US" dirty="0"/>
              <a:t>        // static variable(</a:t>
            </a:r>
            <a:r>
              <a:rPr lang="en-US" dirty="0" err="1"/>
              <a:t>i.e</a:t>
            </a:r>
            <a:r>
              <a:rPr lang="en-US" dirty="0"/>
              <a:t>, b)</a:t>
            </a:r>
          </a:p>
          <a:p>
            <a:r>
              <a:rPr lang="en-US" dirty="0"/>
              <a:t>        </a:t>
            </a:r>
            <a:r>
              <a:rPr lang="en-US" dirty="0" err="1"/>
              <a:t>System.out.println</a:t>
            </a:r>
            <a:r>
              <a:rPr lang="en-US" dirty="0"/>
              <a:t>(</a:t>
            </a:r>
            <a:r>
              <a:rPr lang="en-US" dirty="0" err="1"/>
              <a:t>super.b</a:t>
            </a:r>
            <a:r>
              <a:rPr lang="en-US" dirty="0"/>
              <a:t>);</a:t>
            </a:r>
          </a:p>
          <a:p>
            <a:r>
              <a:rPr lang="en-US" dirty="0"/>
              <a:t>    }</a:t>
            </a:r>
          </a:p>
          <a:p>
            <a:endParaRPr lang="en-US" dirty="0"/>
          </a:p>
          <a:p>
            <a:r>
              <a:rPr lang="en-US" dirty="0"/>
              <a:t>    </a:t>
            </a:r>
          </a:p>
        </p:txBody>
      </p:sp>
      <p:sp>
        <p:nvSpPr>
          <p:cNvPr id="5" name="TextBox 4">
            <a:extLst>
              <a:ext uri="{FF2B5EF4-FFF2-40B4-BE49-F238E27FC236}">
                <a16:creationId xmlns:a16="http://schemas.microsoft.com/office/drawing/2014/main" id="{21D1A4F1-DBE7-0E4B-81D2-E0583DA353AD}"/>
              </a:ext>
            </a:extLst>
          </p:cNvPr>
          <p:cNvSpPr txBox="1"/>
          <p:nvPr/>
        </p:nvSpPr>
        <p:spPr>
          <a:xfrm>
            <a:off x="6368796" y="2486810"/>
            <a:ext cx="6099048" cy="2585323"/>
          </a:xfrm>
          <a:prstGeom prst="rect">
            <a:avLst/>
          </a:prstGeom>
          <a:noFill/>
        </p:spPr>
        <p:txBody>
          <a:bodyPr wrap="square">
            <a:spAutoFit/>
          </a:bodyPr>
          <a:lstStyle/>
          <a:p>
            <a:r>
              <a:rPr lang="en-US" dirty="0"/>
              <a:t>public static void main(String[] </a:t>
            </a:r>
            <a:r>
              <a:rPr lang="en-US" dirty="0" err="1"/>
              <a:t>args</a:t>
            </a:r>
            <a:r>
              <a:rPr lang="en-US" dirty="0"/>
              <a:t>)</a:t>
            </a:r>
          </a:p>
          <a:p>
            <a:r>
              <a:rPr lang="en-US" dirty="0"/>
              <a:t>    {</a:t>
            </a:r>
          </a:p>
          <a:p>
            <a:r>
              <a:rPr lang="en-US" dirty="0"/>
              <a:t>        // Uncomment this and see here you get</a:t>
            </a:r>
          </a:p>
          <a:p>
            <a:r>
              <a:rPr lang="en-US" dirty="0"/>
              <a:t>        // Compile Time Error since cannot use 'super'</a:t>
            </a:r>
          </a:p>
          <a:p>
            <a:r>
              <a:rPr lang="en-US" dirty="0"/>
              <a:t>        // in static context.</a:t>
            </a:r>
          </a:p>
          <a:p>
            <a:r>
              <a:rPr lang="en-US" dirty="0"/>
              <a:t>        // </a:t>
            </a:r>
            <a:r>
              <a:rPr lang="en-US" dirty="0" err="1"/>
              <a:t>super.a</a:t>
            </a:r>
            <a:r>
              <a:rPr lang="en-US" dirty="0"/>
              <a:t> = 700;</a:t>
            </a:r>
          </a:p>
          <a:p>
            <a:r>
              <a:rPr lang="en-US" dirty="0"/>
              <a:t>        new Base().</a:t>
            </a:r>
            <a:r>
              <a:rPr lang="en-US" dirty="0" err="1"/>
              <a:t>rr</a:t>
            </a:r>
            <a:r>
              <a:rPr lang="en-US" dirty="0"/>
              <a:t>();</a:t>
            </a:r>
          </a:p>
          <a:p>
            <a:r>
              <a:rPr lang="en-US" dirty="0"/>
              <a:t>    }</a:t>
            </a:r>
          </a:p>
          <a:p>
            <a:r>
              <a:rPr lang="en-US" dirty="0"/>
              <a:t>}</a:t>
            </a:r>
          </a:p>
        </p:txBody>
      </p:sp>
    </p:spTree>
    <p:extLst>
      <p:ext uri="{BB962C8B-B14F-4D97-AF65-F5344CB8AC3E}">
        <p14:creationId xmlns:p14="http://schemas.microsoft.com/office/powerpoint/2010/main" val="40820745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082D5-0E6D-1732-F59D-838C80EB1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0C09C-5A8A-2207-B3C1-AFE82849BF77}"/>
              </a:ext>
            </a:extLst>
          </p:cNvPr>
          <p:cNvSpPr>
            <a:spLocks noGrp="1"/>
          </p:cNvSpPr>
          <p:nvPr>
            <p:ph type="title"/>
          </p:nvPr>
        </p:nvSpPr>
        <p:spPr/>
        <p:txBody>
          <a:bodyPr>
            <a:normAutofit/>
          </a:bodyPr>
          <a:lstStyle/>
          <a:p>
            <a:r>
              <a:rPr lang="en-US" b="1" dirty="0"/>
              <a:t>Constructors</a:t>
            </a:r>
          </a:p>
        </p:txBody>
      </p:sp>
      <p:sp>
        <p:nvSpPr>
          <p:cNvPr id="7" name="Content Placeholder 6">
            <a:extLst>
              <a:ext uri="{FF2B5EF4-FFF2-40B4-BE49-F238E27FC236}">
                <a16:creationId xmlns:a16="http://schemas.microsoft.com/office/drawing/2014/main" id="{665A834D-08DD-5C99-8B52-608463E80854}"/>
              </a:ext>
            </a:extLst>
          </p:cNvPr>
          <p:cNvSpPr>
            <a:spLocks noGrp="1"/>
          </p:cNvSpPr>
          <p:nvPr>
            <p:ph idx="1"/>
          </p:nvPr>
        </p:nvSpPr>
        <p:spPr/>
        <p:txBody>
          <a:bodyPr>
            <a:noAutofit/>
          </a:bodyPr>
          <a:lstStyle/>
          <a:p>
            <a:pPr algn="just"/>
            <a:r>
              <a:rPr lang="en-US" sz="2600" dirty="0">
                <a:latin typeface="Times New Roman" panose="02020603050405020304" pitchFamily="18" charset="0"/>
                <a:cs typeface="Times New Roman" panose="02020603050405020304" pitchFamily="18" charset="0"/>
              </a:rPr>
              <a:t>A constructor in Java is a special member that is called when an object is created. It initializes the new object’s state. It is used to set default or user-defined values for the object's attributes.</a:t>
            </a:r>
          </a:p>
          <a:p>
            <a:pPr lvl="1" fontAlgn="base"/>
            <a:r>
              <a:rPr lang="en-US" sz="2600" dirty="0">
                <a:latin typeface="Times New Roman" panose="02020603050405020304" pitchFamily="18" charset="0"/>
                <a:cs typeface="Times New Roman" panose="02020603050405020304" pitchFamily="18" charset="0"/>
              </a:rPr>
              <a:t>A constructor has the same name as the class.</a:t>
            </a:r>
          </a:p>
          <a:p>
            <a:pPr lvl="1" fontAlgn="base"/>
            <a:r>
              <a:rPr lang="en-US" sz="2600" dirty="0">
                <a:latin typeface="Times New Roman" panose="02020603050405020304" pitchFamily="18" charset="0"/>
                <a:cs typeface="Times New Roman" panose="02020603050405020304" pitchFamily="18" charset="0"/>
              </a:rPr>
              <a:t>It does not have a return type, not even void.</a:t>
            </a:r>
          </a:p>
          <a:p>
            <a:pPr lvl="1" fontAlgn="base"/>
            <a:r>
              <a:rPr lang="en-US" sz="2600" dirty="0">
                <a:latin typeface="Times New Roman" panose="02020603050405020304" pitchFamily="18" charset="0"/>
                <a:cs typeface="Times New Roman" panose="02020603050405020304" pitchFamily="18" charset="0"/>
              </a:rPr>
              <a:t>It can accept parameters to initialize object properties.</a:t>
            </a:r>
          </a:p>
          <a:p>
            <a:pPr lvl="1"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18713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8FFA9-A269-9425-4632-280339E7B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DD3E1-9B23-2BB7-74BB-15E3FCFEC612}"/>
              </a:ext>
            </a:extLst>
          </p:cNvPr>
          <p:cNvSpPr>
            <a:spLocks noGrp="1"/>
          </p:cNvSpPr>
          <p:nvPr>
            <p:ph type="title"/>
          </p:nvPr>
        </p:nvSpPr>
        <p:spPr/>
        <p:txBody>
          <a:bodyPr>
            <a:normAutofit/>
          </a:bodyPr>
          <a:lstStyle/>
          <a:p>
            <a:r>
              <a:rPr lang="en-US" b="1" dirty="0"/>
              <a:t>Types of Constructors</a:t>
            </a:r>
          </a:p>
        </p:txBody>
      </p:sp>
      <p:pic>
        <p:nvPicPr>
          <p:cNvPr id="4" name="Content Placeholder 3">
            <a:extLst>
              <a:ext uri="{FF2B5EF4-FFF2-40B4-BE49-F238E27FC236}">
                <a16:creationId xmlns:a16="http://schemas.microsoft.com/office/drawing/2014/main" id="{448F1184-20E2-22FA-9FF8-D68519A842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2314323"/>
            <a:ext cx="8596312" cy="2613278"/>
          </a:xfrm>
        </p:spPr>
      </p:pic>
    </p:spTree>
    <p:extLst>
      <p:ext uri="{BB962C8B-B14F-4D97-AF65-F5344CB8AC3E}">
        <p14:creationId xmlns:p14="http://schemas.microsoft.com/office/powerpoint/2010/main" val="33859661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02FA7-342B-B623-4FD7-7910C64F9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DE736-3C0E-B588-EC2A-46EB8425CA71}"/>
              </a:ext>
            </a:extLst>
          </p:cNvPr>
          <p:cNvSpPr>
            <a:spLocks noGrp="1"/>
          </p:cNvSpPr>
          <p:nvPr>
            <p:ph type="title"/>
          </p:nvPr>
        </p:nvSpPr>
        <p:spPr/>
        <p:txBody>
          <a:bodyPr>
            <a:normAutofit/>
          </a:bodyPr>
          <a:lstStyle/>
          <a:p>
            <a:r>
              <a:rPr lang="en-US" b="1" dirty="0"/>
              <a:t>1. Default Constructors</a:t>
            </a:r>
          </a:p>
        </p:txBody>
      </p:sp>
      <p:sp>
        <p:nvSpPr>
          <p:cNvPr id="5" name="Content Placeholder 4">
            <a:extLst>
              <a:ext uri="{FF2B5EF4-FFF2-40B4-BE49-F238E27FC236}">
                <a16:creationId xmlns:a16="http://schemas.microsoft.com/office/drawing/2014/main" id="{5E6CFE62-1913-B530-832E-2C66058391C9}"/>
              </a:ext>
            </a:extLst>
          </p:cNvPr>
          <p:cNvSpPr>
            <a:spLocks noGrp="1"/>
          </p:cNvSpPr>
          <p:nvPr>
            <p:ph idx="1"/>
          </p:nvPr>
        </p:nvSpPr>
        <p:spPr/>
        <p:txBody>
          <a:bodyPr>
            <a:normAutofit/>
          </a:bodyPr>
          <a:lstStyle/>
          <a:p>
            <a:pPr algn="just"/>
            <a:r>
              <a:rPr lang="en-US" sz="2600" dirty="0">
                <a:latin typeface="Times New Roman" panose="02020603050405020304" pitchFamily="18" charset="0"/>
                <a:cs typeface="Times New Roman" panose="02020603050405020304" pitchFamily="18" charset="0"/>
              </a:rPr>
              <a:t>A default constructor has no parameters. It’s used to assign default values to an object. If no constructor is explicitly defined, Java provides a default constructor.</a:t>
            </a:r>
          </a:p>
        </p:txBody>
      </p:sp>
    </p:spTree>
    <p:extLst>
      <p:ext uri="{BB962C8B-B14F-4D97-AF65-F5344CB8AC3E}">
        <p14:creationId xmlns:p14="http://schemas.microsoft.com/office/powerpoint/2010/main" val="22291005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57CCAE-B455-7864-B83B-309EC19BA78F}"/>
              </a:ext>
            </a:extLst>
          </p:cNvPr>
          <p:cNvSpPr txBox="1"/>
          <p:nvPr/>
        </p:nvSpPr>
        <p:spPr>
          <a:xfrm>
            <a:off x="1367028" y="1053882"/>
            <a:ext cx="6099048" cy="3970318"/>
          </a:xfrm>
          <a:prstGeom prst="rect">
            <a:avLst/>
          </a:prstGeom>
          <a:noFill/>
        </p:spPr>
        <p:txBody>
          <a:bodyPr wrap="square">
            <a:spAutoFit/>
          </a:bodyPr>
          <a:lstStyle/>
          <a:p>
            <a:endParaRPr lang="en-US" dirty="0"/>
          </a:p>
          <a:p>
            <a:r>
              <a:rPr lang="en-US" dirty="0"/>
              <a:t>class Testing{</a:t>
            </a:r>
          </a:p>
          <a:p>
            <a:endParaRPr lang="en-US" dirty="0"/>
          </a:p>
          <a:p>
            <a:r>
              <a:rPr lang="en-US" dirty="0"/>
              <a:t>    // Default Constructor</a:t>
            </a:r>
          </a:p>
          <a:p>
            <a:r>
              <a:rPr lang="en-US" dirty="0"/>
              <a:t>    Geeks(){</a:t>
            </a:r>
          </a:p>
          <a:p>
            <a:r>
              <a:rPr lang="en-US" dirty="0"/>
              <a:t>        </a:t>
            </a:r>
          </a:p>
          <a:p>
            <a:r>
              <a:rPr lang="en-US" dirty="0"/>
              <a:t>        </a:t>
            </a:r>
            <a:r>
              <a:rPr lang="en-US" dirty="0" err="1"/>
              <a:t>System.out.println</a:t>
            </a:r>
            <a:r>
              <a:rPr lang="en-US" dirty="0"/>
              <a:t>("Default constructor"); </a:t>
            </a:r>
          </a:p>
          <a:p>
            <a:r>
              <a:rPr lang="en-US" dirty="0"/>
              <a:t>        </a:t>
            </a:r>
          </a:p>
          <a:p>
            <a:r>
              <a:rPr lang="en-US" dirty="0"/>
              <a:t>    }</a:t>
            </a:r>
          </a:p>
          <a:p>
            <a:r>
              <a:rPr lang="en-US" dirty="0"/>
              <a:t>    public static void main(String[] </a:t>
            </a:r>
            <a:r>
              <a:rPr lang="en-US" dirty="0" err="1"/>
              <a:t>args</a:t>
            </a:r>
            <a:r>
              <a:rPr lang="en-US" dirty="0"/>
              <a:t>){</a:t>
            </a:r>
          </a:p>
          <a:p>
            <a:r>
              <a:rPr lang="en-US" dirty="0"/>
              <a:t>        </a:t>
            </a:r>
          </a:p>
          <a:p>
            <a:r>
              <a:rPr lang="en-US" dirty="0"/>
              <a:t>        Testing hello = new Testing();</a:t>
            </a:r>
          </a:p>
          <a:p>
            <a:r>
              <a:rPr lang="en-US" dirty="0"/>
              <a:t>    }</a:t>
            </a:r>
          </a:p>
          <a:p>
            <a:r>
              <a:rPr lang="en-US" dirty="0"/>
              <a:t>}</a:t>
            </a:r>
          </a:p>
        </p:txBody>
      </p:sp>
    </p:spTree>
    <p:extLst>
      <p:ext uri="{BB962C8B-B14F-4D97-AF65-F5344CB8AC3E}">
        <p14:creationId xmlns:p14="http://schemas.microsoft.com/office/powerpoint/2010/main" val="37146651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146C1-42B4-0A2F-594E-AED9C0333C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BA649-1ABA-972D-0254-C3B16E8E920A}"/>
              </a:ext>
            </a:extLst>
          </p:cNvPr>
          <p:cNvSpPr>
            <a:spLocks noGrp="1"/>
          </p:cNvSpPr>
          <p:nvPr>
            <p:ph type="title"/>
          </p:nvPr>
        </p:nvSpPr>
        <p:spPr/>
        <p:txBody>
          <a:bodyPr>
            <a:normAutofit/>
          </a:bodyPr>
          <a:lstStyle/>
          <a:p>
            <a:r>
              <a:rPr lang="en-US" b="1" dirty="0"/>
              <a:t>2. Parameterized Constructors</a:t>
            </a:r>
          </a:p>
        </p:txBody>
      </p:sp>
      <p:sp>
        <p:nvSpPr>
          <p:cNvPr id="5" name="Content Placeholder 4">
            <a:extLst>
              <a:ext uri="{FF2B5EF4-FFF2-40B4-BE49-F238E27FC236}">
                <a16:creationId xmlns:a16="http://schemas.microsoft.com/office/drawing/2014/main" id="{3D14496F-FA3E-C926-928C-003C48D59E4C}"/>
              </a:ext>
            </a:extLst>
          </p:cNvPr>
          <p:cNvSpPr>
            <a:spLocks noGrp="1"/>
          </p:cNvSpPr>
          <p:nvPr>
            <p:ph idx="1"/>
          </p:nvPr>
        </p:nvSpPr>
        <p:spPr/>
        <p:txBody>
          <a:bodyPr>
            <a:normAutofit/>
          </a:bodyPr>
          <a:lstStyle/>
          <a:p>
            <a:pPr algn="just"/>
            <a:r>
              <a:rPr lang="en-US" sz="2600" dirty="0">
                <a:latin typeface="Times New Roman" panose="02020603050405020304" pitchFamily="18" charset="0"/>
                <a:cs typeface="Times New Roman" panose="02020603050405020304" pitchFamily="18" charset="0"/>
              </a:rPr>
              <a:t>A constructor that has parameters is known as parameterized constructor. If we want to initialize fields of the class with our own values, then use a parameterized constructor.</a:t>
            </a:r>
          </a:p>
        </p:txBody>
      </p:sp>
    </p:spTree>
    <p:extLst>
      <p:ext uri="{BB962C8B-B14F-4D97-AF65-F5344CB8AC3E}">
        <p14:creationId xmlns:p14="http://schemas.microsoft.com/office/powerpoint/2010/main" val="6056557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41E5958-2956-42CC-3489-30F2AFD90D7A}"/>
              </a:ext>
            </a:extLst>
          </p:cNvPr>
          <p:cNvSpPr txBox="1"/>
          <p:nvPr/>
        </p:nvSpPr>
        <p:spPr>
          <a:xfrm>
            <a:off x="519684" y="617417"/>
            <a:ext cx="6099048" cy="5355312"/>
          </a:xfrm>
          <a:prstGeom prst="rect">
            <a:avLst/>
          </a:prstGeom>
          <a:noFill/>
        </p:spPr>
        <p:txBody>
          <a:bodyPr wrap="square">
            <a:spAutoFit/>
          </a:bodyPr>
          <a:lstStyle/>
          <a:p>
            <a:r>
              <a:rPr lang="en-US" dirty="0"/>
              <a:t>class Demo{</a:t>
            </a:r>
          </a:p>
          <a:p>
            <a:endParaRPr lang="en-US" dirty="0"/>
          </a:p>
          <a:p>
            <a:r>
              <a:rPr lang="en-US" dirty="0"/>
              <a:t>    // data members of the class</a:t>
            </a:r>
          </a:p>
          <a:p>
            <a:r>
              <a:rPr lang="en-US" dirty="0"/>
              <a:t>    String name;</a:t>
            </a:r>
          </a:p>
          <a:p>
            <a:r>
              <a:rPr lang="en-US" dirty="0"/>
              <a:t>    int id;</a:t>
            </a:r>
          </a:p>
          <a:p>
            <a:endParaRPr lang="en-US" dirty="0"/>
          </a:p>
          <a:p>
            <a:r>
              <a:rPr lang="en-US" dirty="0"/>
              <a:t>    // Parameterized Constructor</a:t>
            </a:r>
          </a:p>
          <a:p>
            <a:r>
              <a:rPr lang="en-US" dirty="0"/>
              <a:t>    Demo(String name, int id)</a:t>
            </a:r>
          </a:p>
          <a:p>
            <a:r>
              <a:rPr lang="en-US" dirty="0"/>
              <a:t>    {</a:t>
            </a:r>
          </a:p>
          <a:p>
            <a:r>
              <a:rPr lang="en-US" dirty="0"/>
              <a:t>        this.name = name;</a:t>
            </a:r>
          </a:p>
          <a:p>
            <a:r>
              <a:rPr lang="en-US" dirty="0"/>
              <a:t>        this.id = id;</a:t>
            </a:r>
          </a:p>
          <a:p>
            <a:r>
              <a:rPr lang="en-US" dirty="0"/>
              <a:t>    }</a:t>
            </a:r>
          </a:p>
          <a:p>
            <a:endParaRPr lang="en-US" dirty="0"/>
          </a:p>
          <a:p>
            <a:r>
              <a:rPr lang="en-US" dirty="0"/>
              <a:t>    // Method to display object data</a:t>
            </a:r>
          </a:p>
          <a:p>
            <a:r>
              <a:rPr lang="en-US" dirty="0"/>
              <a:t>    void display(){</a:t>
            </a:r>
          </a:p>
          <a:p>
            <a:r>
              <a:rPr lang="en-US" dirty="0"/>
              <a:t>        </a:t>
            </a:r>
          </a:p>
          <a:p>
            <a:r>
              <a:rPr lang="en-US" dirty="0"/>
              <a:t>        </a:t>
            </a:r>
            <a:r>
              <a:rPr lang="en-US" dirty="0" err="1"/>
              <a:t>System.out.println</a:t>
            </a:r>
            <a:r>
              <a:rPr lang="en-US" dirty="0"/>
              <a:t>("Name: " + name</a:t>
            </a:r>
          </a:p>
          <a:p>
            <a:r>
              <a:rPr lang="en-US" dirty="0"/>
              <a:t>                           + " and Id: " + id);</a:t>
            </a:r>
          </a:p>
          <a:p>
            <a:r>
              <a:rPr lang="en-US" dirty="0"/>
              <a:t>    }</a:t>
            </a:r>
          </a:p>
        </p:txBody>
      </p:sp>
      <p:sp>
        <p:nvSpPr>
          <p:cNvPr id="7" name="TextBox 6">
            <a:extLst>
              <a:ext uri="{FF2B5EF4-FFF2-40B4-BE49-F238E27FC236}">
                <a16:creationId xmlns:a16="http://schemas.microsoft.com/office/drawing/2014/main" id="{75CF5FC4-B015-79C7-CF47-03FCFC57EDCC}"/>
              </a:ext>
            </a:extLst>
          </p:cNvPr>
          <p:cNvSpPr txBox="1"/>
          <p:nvPr/>
        </p:nvSpPr>
        <p:spPr>
          <a:xfrm>
            <a:off x="5948172" y="1863912"/>
            <a:ext cx="6099048" cy="2862322"/>
          </a:xfrm>
          <a:prstGeom prst="rect">
            <a:avLst/>
          </a:prstGeom>
          <a:noFill/>
        </p:spPr>
        <p:txBody>
          <a:bodyPr wrap="square">
            <a:spAutoFit/>
          </a:bodyPr>
          <a:lstStyle/>
          <a:p>
            <a:endParaRPr lang="en-US" dirty="0"/>
          </a:p>
          <a:p>
            <a:r>
              <a:rPr lang="en-US" dirty="0"/>
              <a:t>    // main() method — placed inside the same class for</a:t>
            </a:r>
          </a:p>
          <a:p>
            <a:r>
              <a:rPr lang="en-US" dirty="0"/>
              <a:t>    // universal compatibility</a:t>
            </a:r>
          </a:p>
          <a:p>
            <a:r>
              <a:rPr lang="en-US" dirty="0"/>
              <a:t>    public static void main(String[] </a:t>
            </a:r>
            <a:r>
              <a:rPr lang="en-US" dirty="0" err="1"/>
              <a:t>args</a:t>
            </a:r>
            <a:r>
              <a:rPr lang="en-US" dirty="0"/>
              <a:t>){</a:t>
            </a:r>
          </a:p>
          <a:p>
            <a:r>
              <a:rPr lang="en-US" dirty="0"/>
              <a:t>        </a:t>
            </a:r>
          </a:p>
          <a:p>
            <a:r>
              <a:rPr lang="en-US" dirty="0"/>
              <a:t>        // This will invoke the parameterized constructor</a:t>
            </a:r>
          </a:p>
          <a:p>
            <a:r>
              <a:rPr lang="en-US" dirty="0"/>
              <a:t>        Demo d= new Demo("Sweta", 68);</a:t>
            </a:r>
          </a:p>
          <a:p>
            <a:r>
              <a:rPr lang="en-US" dirty="0"/>
              <a:t>        </a:t>
            </a:r>
            <a:r>
              <a:rPr lang="en-US" dirty="0" err="1"/>
              <a:t>d.display</a:t>
            </a:r>
            <a:r>
              <a:rPr lang="en-US" dirty="0"/>
              <a:t>();</a:t>
            </a:r>
          </a:p>
          <a:p>
            <a:r>
              <a:rPr lang="en-US" dirty="0"/>
              <a:t>    }</a:t>
            </a:r>
          </a:p>
          <a:p>
            <a:r>
              <a:rPr lang="en-US" dirty="0"/>
              <a:t>}</a:t>
            </a:r>
          </a:p>
        </p:txBody>
      </p:sp>
    </p:spTree>
    <p:extLst>
      <p:ext uri="{BB962C8B-B14F-4D97-AF65-F5344CB8AC3E}">
        <p14:creationId xmlns:p14="http://schemas.microsoft.com/office/powerpoint/2010/main" val="25310685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FBA19-8E31-BA3D-4236-DD2E3666F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A72912-91D7-55D0-502C-91E92850B0C0}"/>
              </a:ext>
            </a:extLst>
          </p:cNvPr>
          <p:cNvSpPr>
            <a:spLocks noGrp="1"/>
          </p:cNvSpPr>
          <p:nvPr>
            <p:ph type="title"/>
          </p:nvPr>
        </p:nvSpPr>
        <p:spPr/>
        <p:txBody>
          <a:bodyPr>
            <a:normAutofit/>
          </a:bodyPr>
          <a:lstStyle/>
          <a:p>
            <a:r>
              <a:rPr lang="en-US" b="1" dirty="0"/>
              <a:t>3. Copy Constructors</a:t>
            </a:r>
          </a:p>
        </p:txBody>
      </p:sp>
      <p:sp>
        <p:nvSpPr>
          <p:cNvPr id="5" name="Content Placeholder 4">
            <a:extLst>
              <a:ext uri="{FF2B5EF4-FFF2-40B4-BE49-F238E27FC236}">
                <a16:creationId xmlns:a16="http://schemas.microsoft.com/office/drawing/2014/main" id="{71A38491-46F8-BB24-B257-42B626992875}"/>
              </a:ext>
            </a:extLst>
          </p:cNvPr>
          <p:cNvSpPr>
            <a:spLocks noGrp="1"/>
          </p:cNvSpPr>
          <p:nvPr>
            <p:ph idx="1"/>
          </p:nvPr>
        </p:nvSpPr>
        <p:spPr/>
        <p:txBody>
          <a:bodyPr>
            <a:normAutofit/>
          </a:bodyPr>
          <a:lstStyle/>
          <a:p>
            <a:pPr algn="just"/>
            <a:r>
              <a:rPr lang="en-US" sz="2600" dirty="0">
                <a:latin typeface="Times New Roman" panose="02020603050405020304" pitchFamily="18" charset="0"/>
                <a:cs typeface="Times New Roman" panose="02020603050405020304" pitchFamily="18" charset="0"/>
              </a:rPr>
              <a:t>Unlike other constructors </a:t>
            </a:r>
            <a:r>
              <a:rPr lang="en-US" sz="2600" u="sng" dirty="0">
                <a:latin typeface="Times New Roman" panose="02020603050405020304" pitchFamily="18" charset="0"/>
                <a:cs typeface="Times New Roman" panose="02020603050405020304" pitchFamily="18" charset="0"/>
                <a:hlinkClick r:id="rId2"/>
              </a:rPr>
              <a:t>copy constructor</a:t>
            </a:r>
            <a:r>
              <a:rPr lang="en-US" sz="2600" dirty="0">
                <a:latin typeface="Times New Roman" panose="02020603050405020304" pitchFamily="18" charset="0"/>
                <a:cs typeface="Times New Roman" panose="02020603050405020304" pitchFamily="18" charset="0"/>
              </a:rPr>
              <a:t> is passed with another object which copies the data available from the passed object to the newly created object.</a:t>
            </a:r>
          </a:p>
        </p:txBody>
      </p:sp>
    </p:spTree>
    <p:extLst>
      <p:ext uri="{BB962C8B-B14F-4D97-AF65-F5344CB8AC3E}">
        <p14:creationId xmlns:p14="http://schemas.microsoft.com/office/powerpoint/2010/main" val="11007306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AF50F1-E2BF-CFFB-74E0-51978CE6A83C}"/>
              </a:ext>
            </a:extLst>
          </p:cNvPr>
          <p:cNvSpPr txBox="1"/>
          <p:nvPr/>
        </p:nvSpPr>
        <p:spPr>
          <a:xfrm>
            <a:off x="342900" y="197346"/>
            <a:ext cx="6099048" cy="6463308"/>
          </a:xfrm>
          <a:prstGeom prst="rect">
            <a:avLst/>
          </a:prstGeom>
          <a:noFill/>
        </p:spPr>
        <p:txBody>
          <a:bodyPr wrap="square">
            <a:spAutoFit/>
          </a:bodyPr>
          <a:lstStyle/>
          <a:p>
            <a:endParaRPr lang="en-US" dirty="0"/>
          </a:p>
          <a:p>
            <a:r>
              <a:rPr lang="en-US" dirty="0"/>
              <a:t>class Test{</a:t>
            </a:r>
          </a:p>
          <a:p>
            <a:r>
              <a:rPr lang="en-US" dirty="0"/>
              <a:t>    </a:t>
            </a:r>
          </a:p>
          <a:p>
            <a:r>
              <a:rPr lang="en-US" dirty="0"/>
              <a:t>    // data members of the class</a:t>
            </a:r>
          </a:p>
          <a:p>
            <a:r>
              <a:rPr lang="en-US" dirty="0"/>
              <a:t>    String name;</a:t>
            </a:r>
          </a:p>
          <a:p>
            <a:r>
              <a:rPr lang="en-US" dirty="0"/>
              <a:t>    int id;</a:t>
            </a:r>
          </a:p>
          <a:p>
            <a:endParaRPr lang="en-US" dirty="0"/>
          </a:p>
          <a:p>
            <a:r>
              <a:rPr lang="en-US" dirty="0"/>
              <a:t>    // Parameterized Constructor</a:t>
            </a:r>
          </a:p>
          <a:p>
            <a:r>
              <a:rPr lang="en-US" dirty="0"/>
              <a:t>    Test(String name, int id)</a:t>
            </a:r>
          </a:p>
          <a:p>
            <a:r>
              <a:rPr lang="en-US" dirty="0"/>
              <a:t>    {</a:t>
            </a:r>
          </a:p>
          <a:p>
            <a:r>
              <a:rPr lang="en-US" dirty="0"/>
              <a:t>        this.name = name;</a:t>
            </a:r>
          </a:p>
          <a:p>
            <a:r>
              <a:rPr lang="en-US" dirty="0"/>
              <a:t>        this.id = id;</a:t>
            </a:r>
          </a:p>
          <a:p>
            <a:r>
              <a:rPr lang="en-US" dirty="0"/>
              <a:t>    }</a:t>
            </a:r>
          </a:p>
          <a:p>
            <a:endParaRPr lang="en-US" dirty="0"/>
          </a:p>
          <a:p>
            <a:r>
              <a:rPr lang="en-US" dirty="0"/>
              <a:t>    // Copy Constructor</a:t>
            </a:r>
          </a:p>
          <a:p>
            <a:r>
              <a:rPr lang="en-US" dirty="0"/>
              <a:t>    Test(Test obj2)</a:t>
            </a:r>
          </a:p>
          <a:p>
            <a:r>
              <a:rPr lang="en-US" dirty="0"/>
              <a:t>    {</a:t>
            </a:r>
          </a:p>
          <a:p>
            <a:r>
              <a:rPr lang="en-US" dirty="0"/>
              <a:t>        this.name = obj2.name;</a:t>
            </a:r>
          </a:p>
          <a:p>
            <a:r>
              <a:rPr lang="en-US" dirty="0"/>
              <a:t>        this.id = obj2.id;</a:t>
            </a:r>
          </a:p>
          <a:p>
            <a:r>
              <a:rPr lang="en-US" dirty="0"/>
              <a:t>    }</a:t>
            </a:r>
          </a:p>
          <a:p>
            <a:r>
              <a:rPr lang="en-US" dirty="0"/>
              <a:t>}</a:t>
            </a:r>
          </a:p>
          <a:p>
            <a:endParaRPr lang="en-US" dirty="0"/>
          </a:p>
          <a:p>
            <a:endParaRPr lang="en-US" dirty="0"/>
          </a:p>
        </p:txBody>
      </p:sp>
      <p:sp>
        <p:nvSpPr>
          <p:cNvPr id="5" name="TextBox 4">
            <a:extLst>
              <a:ext uri="{FF2B5EF4-FFF2-40B4-BE49-F238E27FC236}">
                <a16:creationId xmlns:a16="http://schemas.microsoft.com/office/drawing/2014/main" id="{FDAEFE66-F3F5-3A4D-3862-97B6FDE6BE24}"/>
              </a:ext>
            </a:extLst>
          </p:cNvPr>
          <p:cNvSpPr txBox="1"/>
          <p:nvPr/>
        </p:nvSpPr>
        <p:spPr>
          <a:xfrm>
            <a:off x="5061204" y="335292"/>
            <a:ext cx="5490972" cy="5632311"/>
          </a:xfrm>
          <a:prstGeom prst="rect">
            <a:avLst/>
          </a:prstGeom>
          <a:noFill/>
        </p:spPr>
        <p:txBody>
          <a:bodyPr wrap="square">
            <a:spAutoFit/>
          </a:bodyPr>
          <a:lstStyle/>
          <a:p>
            <a:r>
              <a:rPr lang="en-US" dirty="0"/>
              <a:t>class GFG {</a:t>
            </a:r>
          </a:p>
          <a:p>
            <a:r>
              <a:rPr lang="en-US" dirty="0"/>
              <a:t>    public static void main(String[] </a:t>
            </a:r>
            <a:r>
              <a:rPr lang="en-US" dirty="0" err="1"/>
              <a:t>args</a:t>
            </a:r>
            <a:r>
              <a:rPr lang="en-US" dirty="0"/>
              <a:t>)</a:t>
            </a:r>
          </a:p>
          <a:p>
            <a:r>
              <a:rPr lang="en-US" dirty="0"/>
              <a:t>    {</a:t>
            </a:r>
          </a:p>
          <a:p>
            <a:r>
              <a:rPr lang="en-US" dirty="0"/>
              <a:t>        // This would invoke the parameterized constructor</a:t>
            </a:r>
          </a:p>
          <a:p>
            <a:r>
              <a:rPr lang="en-US" dirty="0"/>
              <a:t>        </a:t>
            </a:r>
            <a:r>
              <a:rPr lang="en-US" dirty="0" err="1"/>
              <a:t>System.out.println</a:t>
            </a:r>
            <a:r>
              <a:rPr lang="en-US" dirty="0"/>
              <a:t>("First Object");</a:t>
            </a:r>
          </a:p>
          <a:p>
            <a:r>
              <a:rPr lang="en-US" dirty="0"/>
              <a:t>        Test t = new Test("Sweta", 68);</a:t>
            </a:r>
          </a:p>
          <a:p>
            <a:r>
              <a:rPr lang="en-US" dirty="0"/>
              <a:t>        </a:t>
            </a:r>
            <a:r>
              <a:rPr lang="en-US" dirty="0" err="1"/>
              <a:t>System.out.println</a:t>
            </a:r>
            <a:r>
              <a:rPr lang="en-US" dirty="0"/>
              <a:t>("Name: " + t.name</a:t>
            </a:r>
          </a:p>
          <a:p>
            <a:r>
              <a:rPr lang="en-US" dirty="0"/>
              <a:t>                           + " and Id: " + tgeek1.id);</a:t>
            </a:r>
          </a:p>
          <a:p>
            <a:endParaRPr lang="en-US" dirty="0"/>
          </a:p>
          <a:p>
            <a:r>
              <a:rPr lang="en-US" dirty="0"/>
              <a:t>        </a:t>
            </a:r>
            <a:r>
              <a:rPr lang="en-US" dirty="0" err="1"/>
              <a:t>System.out.println</a:t>
            </a:r>
            <a:r>
              <a:rPr lang="en-US" dirty="0"/>
              <a:t>();</a:t>
            </a:r>
          </a:p>
          <a:p>
            <a:endParaRPr lang="en-US" dirty="0"/>
          </a:p>
          <a:p>
            <a:r>
              <a:rPr lang="en-US" dirty="0"/>
              <a:t>        // This would invoke the copy constructor</a:t>
            </a:r>
          </a:p>
          <a:p>
            <a:r>
              <a:rPr lang="en-US" dirty="0"/>
              <a:t>        Test t1 = new Test(t);</a:t>
            </a:r>
          </a:p>
          <a:p>
            <a:r>
              <a:rPr lang="en-US" dirty="0"/>
              <a:t>        </a:t>
            </a:r>
            <a:r>
              <a:rPr lang="en-US" dirty="0" err="1"/>
              <a:t>System.out.println</a:t>
            </a:r>
            <a:r>
              <a:rPr lang="en-US" dirty="0"/>
              <a:t>(</a:t>
            </a:r>
          </a:p>
          <a:p>
            <a:r>
              <a:rPr lang="en-US" dirty="0"/>
              <a:t>            "Copy Constructor used Second Object");</a:t>
            </a:r>
          </a:p>
          <a:p>
            <a:r>
              <a:rPr lang="en-US" dirty="0"/>
              <a:t>        </a:t>
            </a:r>
            <a:r>
              <a:rPr lang="en-US" dirty="0" err="1"/>
              <a:t>System.out.println</a:t>
            </a:r>
            <a:r>
              <a:rPr lang="en-US" dirty="0"/>
              <a:t>("Name: " + t1.name</a:t>
            </a:r>
          </a:p>
          <a:p>
            <a:r>
              <a:rPr lang="en-US" dirty="0"/>
              <a:t>                           + " and Id: " + t1.id);</a:t>
            </a:r>
          </a:p>
          <a:p>
            <a:r>
              <a:rPr lang="en-US" dirty="0"/>
              <a:t>    }</a:t>
            </a:r>
          </a:p>
          <a:p>
            <a:r>
              <a:rPr lang="en-US" dirty="0"/>
              <a:t>}</a:t>
            </a:r>
          </a:p>
        </p:txBody>
      </p:sp>
    </p:spTree>
    <p:extLst>
      <p:ext uri="{BB962C8B-B14F-4D97-AF65-F5344CB8AC3E}">
        <p14:creationId xmlns:p14="http://schemas.microsoft.com/office/powerpoint/2010/main" val="9599908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89F1D-D87D-B463-90D9-7127461A1C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F3D1C-AAAF-E32F-6575-6F37E87BD83D}"/>
              </a:ext>
            </a:extLst>
          </p:cNvPr>
          <p:cNvSpPr>
            <a:spLocks noGrp="1"/>
          </p:cNvSpPr>
          <p:nvPr>
            <p:ph type="title"/>
          </p:nvPr>
        </p:nvSpPr>
        <p:spPr/>
        <p:txBody>
          <a:bodyPr>
            <a:normAutofit/>
          </a:bodyPr>
          <a:lstStyle/>
          <a:p>
            <a:r>
              <a:rPr lang="en-US" b="1" dirty="0"/>
              <a:t>4. Private Constructors</a:t>
            </a:r>
          </a:p>
        </p:txBody>
      </p:sp>
      <p:sp>
        <p:nvSpPr>
          <p:cNvPr id="5" name="Content Placeholder 4">
            <a:extLst>
              <a:ext uri="{FF2B5EF4-FFF2-40B4-BE49-F238E27FC236}">
                <a16:creationId xmlns:a16="http://schemas.microsoft.com/office/drawing/2014/main" id="{45BDC04A-26B2-C413-6131-93C269DFF345}"/>
              </a:ext>
            </a:extLst>
          </p:cNvPr>
          <p:cNvSpPr>
            <a:spLocks noGrp="1"/>
          </p:cNvSpPr>
          <p:nvPr>
            <p:ph idx="1"/>
          </p:nvPr>
        </p:nvSpPr>
        <p:spPr/>
        <p:txBody>
          <a:bodyPr>
            <a:normAutofit/>
          </a:bodyPr>
          <a:lstStyle/>
          <a:p>
            <a:pPr algn="just" fontAlgn="base"/>
            <a:r>
              <a:rPr lang="en-US" sz="2600" dirty="0">
                <a:latin typeface="Times New Roman" panose="02020603050405020304" pitchFamily="18" charset="0"/>
                <a:cs typeface="Times New Roman" panose="02020603050405020304" pitchFamily="18" charset="0"/>
              </a:rPr>
              <a:t>A private constructor cannot be accessed from outside the class. It is commonly used in:</a:t>
            </a:r>
          </a:p>
          <a:p>
            <a:pPr algn="just" fontAlgn="base"/>
            <a:r>
              <a:rPr lang="en-US" sz="2600" b="1" u="sng" dirty="0">
                <a:latin typeface="Times New Roman" panose="02020603050405020304" pitchFamily="18" charset="0"/>
                <a:cs typeface="Times New Roman" panose="02020603050405020304" pitchFamily="18" charset="0"/>
                <a:hlinkClick r:id="rId2"/>
              </a:rPr>
              <a:t>Singleton Pattern</a:t>
            </a:r>
            <a:r>
              <a:rPr lang="en-US" sz="2600" b="1"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 To ensure only one instance of a class is created.</a:t>
            </a:r>
          </a:p>
          <a:p>
            <a:pPr algn="just" fontAlgn="base"/>
            <a:r>
              <a:rPr lang="en-US" sz="2600" b="1" dirty="0">
                <a:latin typeface="Times New Roman" panose="02020603050405020304" pitchFamily="18" charset="0"/>
                <a:cs typeface="Times New Roman" panose="02020603050405020304" pitchFamily="18" charset="0"/>
              </a:rPr>
              <a:t>Utility/Helper Classes:</a:t>
            </a:r>
            <a:r>
              <a:rPr lang="en-US" sz="2600" dirty="0">
                <a:latin typeface="Times New Roman" panose="02020603050405020304" pitchFamily="18" charset="0"/>
                <a:cs typeface="Times New Roman" panose="02020603050405020304" pitchFamily="18" charset="0"/>
              </a:rPr>
              <a:t> To prevent instantiation of a class containing only static methods.</a:t>
            </a:r>
          </a:p>
        </p:txBody>
      </p:sp>
    </p:spTree>
    <p:extLst>
      <p:ext uri="{BB962C8B-B14F-4D97-AF65-F5344CB8AC3E}">
        <p14:creationId xmlns:p14="http://schemas.microsoft.com/office/powerpoint/2010/main" val="41829720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3AFBF0-160B-88C4-30D5-A7C27A5D25BA}"/>
              </a:ext>
            </a:extLst>
          </p:cNvPr>
          <p:cNvSpPr txBox="1"/>
          <p:nvPr/>
        </p:nvSpPr>
        <p:spPr>
          <a:xfrm>
            <a:off x="2002536" y="63419"/>
            <a:ext cx="7146036" cy="6740307"/>
          </a:xfrm>
          <a:prstGeom prst="rect">
            <a:avLst/>
          </a:prstGeom>
          <a:noFill/>
        </p:spPr>
        <p:txBody>
          <a:bodyPr wrap="square">
            <a:spAutoFit/>
          </a:bodyPr>
          <a:lstStyle/>
          <a:p>
            <a:r>
              <a:rPr lang="en-US" dirty="0"/>
              <a:t>class GFG {</a:t>
            </a:r>
          </a:p>
          <a:p>
            <a:endParaRPr lang="en-US" dirty="0"/>
          </a:p>
          <a:p>
            <a:r>
              <a:rPr lang="en-US" dirty="0"/>
              <a:t>    // Private constructor</a:t>
            </a:r>
          </a:p>
          <a:p>
            <a:r>
              <a:rPr lang="en-US" dirty="0"/>
              <a:t>    private GFG(){</a:t>
            </a:r>
          </a:p>
          <a:p>
            <a:r>
              <a:rPr lang="en-US" dirty="0"/>
              <a:t>        </a:t>
            </a:r>
          </a:p>
          <a:p>
            <a:r>
              <a:rPr lang="en-US" dirty="0"/>
              <a:t>        </a:t>
            </a:r>
            <a:r>
              <a:rPr lang="en-US" dirty="0" err="1"/>
              <a:t>System.out.println</a:t>
            </a:r>
            <a:r>
              <a:rPr lang="en-US" dirty="0"/>
              <a:t>("Private constructor called");</a:t>
            </a:r>
          </a:p>
          <a:p>
            <a:r>
              <a:rPr lang="en-US" dirty="0"/>
              <a:t>    }</a:t>
            </a:r>
          </a:p>
          <a:p>
            <a:endParaRPr lang="en-US" dirty="0"/>
          </a:p>
          <a:p>
            <a:r>
              <a:rPr lang="en-US" dirty="0"/>
              <a:t>    // Static method</a:t>
            </a:r>
          </a:p>
          <a:p>
            <a:r>
              <a:rPr lang="en-US" dirty="0"/>
              <a:t>    public static void </a:t>
            </a:r>
            <a:r>
              <a:rPr lang="en-US" dirty="0" err="1"/>
              <a:t>displayMessage</a:t>
            </a:r>
            <a:r>
              <a:rPr lang="en-US" dirty="0"/>
              <a:t>(){</a:t>
            </a:r>
          </a:p>
          <a:p>
            <a:r>
              <a:rPr lang="en-US" dirty="0"/>
              <a:t>        </a:t>
            </a:r>
          </a:p>
          <a:p>
            <a:r>
              <a:rPr lang="en-US" dirty="0"/>
              <a:t>        </a:t>
            </a:r>
            <a:r>
              <a:rPr lang="en-US" dirty="0" err="1"/>
              <a:t>System.out.println</a:t>
            </a:r>
            <a:r>
              <a:rPr lang="en-US" dirty="0"/>
              <a:t>("Hello from GFG class!");</a:t>
            </a:r>
          </a:p>
          <a:p>
            <a:r>
              <a:rPr lang="en-US" dirty="0"/>
              <a:t>    }</a:t>
            </a:r>
          </a:p>
          <a:p>
            <a:r>
              <a:rPr lang="en-US" dirty="0"/>
              <a:t>}</a:t>
            </a:r>
          </a:p>
          <a:p>
            <a:endParaRPr lang="en-US" dirty="0"/>
          </a:p>
          <a:p>
            <a:r>
              <a:rPr lang="en-US" dirty="0"/>
              <a:t>class Main{</a:t>
            </a:r>
          </a:p>
          <a:p>
            <a:r>
              <a:rPr lang="en-US" dirty="0"/>
              <a:t>    </a:t>
            </a:r>
          </a:p>
          <a:p>
            <a:r>
              <a:rPr lang="en-US" dirty="0"/>
              <a:t>    public static void main(String[] </a:t>
            </a:r>
            <a:r>
              <a:rPr lang="en-US" dirty="0" err="1"/>
              <a:t>args</a:t>
            </a:r>
            <a:r>
              <a:rPr lang="en-US" dirty="0"/>
              <a:t>){</a:t>
            </a:r>
          </a:p>
          <a:p>
            <a:r>
              <a:rPr lang="en-US" dirty="0"/>
              <a:t>        </a:t>
            </a:r>
          </a:p>
          <a:p>
            <a:r>
              <a:rPr lang="en-US" dirty="0"/>
              <a:t>        // GFG u = new GFG(); // Error: constructor is</a:t>
            </a:r>
          </a:p>
          <a:p>
            <a:r>
              <a:rPr lang="en-US" dirty="0"/>
              <a:t>        // private</a:t>
            </a:r>
          </a:p>
          <a:p>
            <a:r>
              <a:rPr lang="en-US" dirty="0"/>
              <a:t>       </a:t>
            </a:r>
            <a:r>
              <a:rPr lang="en-US" dirty="0" err="1"/>
              <a:t>GFG.displayMessage</a:t>
            </a:r>
            <a:r>
              <a:rPr lang="en-US" dirty="0"/>
              <a:t>();</a:t>
            </a:r>
          </a:p>
          <a:p>
            <a:r>
              <a:rPr lang="en-US" dirty="0"/>
              <a:t>    }</a:t>
            </a:r>
          </a:p>
          <a:p>
            <a:r>
              <a:rPr lang="en-US" dirty="0"/>
              <a:t>}</a:t>
            </a:r>
          </a:p>
        </p:txBody>
      </p:sp>
    </p:spTree>
    <p:extLst>
      <p:ext uri="{BB962C8B-B14F-4D97-AF65-F5344CB8AC3E}">
        <p14:creationId xmlns:p14="http://schemas.microsoft.com/office/powerpoint/2010/main" val="36695860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C2C29-1BD4-5B55-9251-BA2119A668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2B397-BD9C-1828-19BB-EE65BCBD94C7}"/>
              </a:ext>
            </a:extLst>
          </p:cNvPr>
          <p:cNvSpPr>
            <a:spLocks noGrp="1"/>
          </p:cNvSpPr>
          <p:nvPr>
            <p:ph type="title"/>
          </p:nvPr>
        </p:nvSpPr>
        <p:spPr/>
        <p:txBody>
          <a:bodyPr>
            <a:normAutofit/>
          </a:bodyPr>
          <a:lstStyle/>
          <a:p>
            <a:r>
              <a:rPr lang="en-US" b="1" dirty="0"/>
              <a:t>Abstraction</a:t>
            </a:r>
          </a:p>
        </p:txBody>
      </p:sp>
      <p:sp>
        <p:nvSpPr>
          <p:cNvPr id="5" name="Content Placeholder 4">
            <a:extLst>
              <a:ext uri="{FF2B5EF4-FFF2-40B4-BE49-F238E27FC236}">
                <a16:creationId xmlns:a16="http://schemas.microsoft.com/office/drawing/2014/main" id="{3502CB1F-7D0B-0739-5BED-81636F18D420}"/>
              </a:ext>
            </a:extLst>
          </p:cNvPr>
          <p:cNvSpPr>
            <a:spLocks noGrp="1"/>
          </p:cNvSpPr>
          <p:nvPr>
            <p:ph idx="1"/>
          </p:nvPr>
        </p:nvSpPr>
        <p:spPr/>
        <p:txBody>
          <a:bodyPr>
            <a:normAutofit/>
          </a:bodyPr>
          <a:lstStyle/>
          <a:p>
            <a:pPr algn="just" fontAlgn="base"/>
            <a:r>
              <a:rPr lang="en-US" sz="2600" dirty="0">
                <a:latin typeface="Times New Roman" panose="02020603050405020304" pitchFamily="18" charset="0"/>
                <a:cs typeface="Times New Roman" panose="02020603050405020304" pitchFamily="18" charset="0"/>
              </a:rPr>
              <a:t>Abstraction in Java is the process of hiding internal implementation details and showing only essential functionality to the user. It focuses on what an object does rather than how it does it.</a:t>
            </a:r>
          </a:p>
        </p:txBody>
      </p:sp>
    </p:spTree>
    <p:extLst>
      <p:ext uri="{BB962C8B-B14F-4D97-AF65-F5344CB8AC3E}">
        <p14:creationId xmlns:p14="http://schemas.microsoft.com/office/powerpoint/2010/main" val="1468055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9FC97-A8CB-6616-66B7-D32AC51653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1399B-2EDC-9489-6A7A-945A0B29B756}"/>
              </a:ext>
            </a:extLst>
          </p:cNvPr>
          <p:cNvSpPr>
            <a:spLocks noGrp="1"/>
          </p:cNvSpPr>
          <p:nvPr>
            <p:ph type="title"/>
          </p:nvPr>
        </p:nvSpPr>
        <p:spPr/>
        <p:txBody>
          <a:bodyPr>
            <a:normAutofit/>
          </a:bodyPr>
          <a:lstStyle/>
          <a:p>
            <a:r>
              <a:rPr lang="en-US" b="1" dirty="0"/>
              <a:t>Abstraction</a:t>
            </a:r>
          </a:p>
        </p:txBody>
      </p:sp>
      <p:sp>
        <p:nvSpPr>
          <p:cNvPr id="5" name="Content Placeholder 4">
            <a:extLst>
              <a:ext uri="{FF2B5EF4-FFF2-40B4-BE49-F238E27FC236}">
                <a16:creationId xmlns:a16="http://schemas.microsoft.com/office/drawing/2014/main" id="{3F59B0C1-714B-E6A4-BE09-0098631B1401}"/>
              </a:ext>
            </a:extLst>
          </p:cNvPr>
          <p:cNvSpPr>
            <a:spLocks noGrp="1"/>
          </p:cNvSpPr>
          <p:nvPr>
            <p:ph idx="1"/>
          </p:nvPr>
        </p:nvSpPr>
        <p:spPr/>
        <p:txBody>
          <a:bodyPr>
            <a:normAutofit/>
          </a:bodyPr>
          <a:lstStyle/>
          <a:p>
            <a:pPr algn="just" fontAlgn="base"/>
            <a:r>
              <a:rPr lang="en-US" sz="2600" dirty="0">
                <a:latin typeface="Times New Roman" panose="02020603050405020304" pitchFamily="18" charset="0"/>
                <a:cs typeface="Times New Roman" panose="02020603050405020304" pitchFamily="18" charset="0"/>
              </a:rPr>
              <a:t>Abstraction hides the complex details and shows only essential features.</a:t>
            </a:r>
          </a:p>
          <a:p>
            <a:pPr algn="just" fontAlgn="base"/>
            <a:r>
              <a:rPr lang="en-US" sz="2600" dirty="0">
                <a:latin typeface="Times New Roman" panose="02020603050405020304" pitchFamily="18" charset="0"/>
                <a:cs typeface="Times New Roman" panose="02020603050405020304" pitchFamily="18" charset="0"/>
              </a:rPr>
              <a:t>Abstract classes may have methods without implementation and must be implemented by subclasses.</a:t>
            </a:r>
          </a:p>
          <a:p>
            <a:pPr algn="just" fontAlgn="base"/>
            <a:r>
              <a:rPr lang="en-US" sz="2600" dirty="0">
                <a:latin typeface="Times New Roman" panose="02020603050405020304" pitchFamily="18" charset="0"/>
                <a:cs typeface="Times New Roman" panose="02020603050405020304" pitchFamily="18" charset="0"/>
              </a:rPr>
              <a:t>By abstracting functionality, changes in the implementation do not affect the code that depends on the abstraction.</a:t>
            </a:r>
          </a:p>
        </p:txBody>
      </p:sp>
    </p:spTree>
    <p:extLst>
      <p:ext uri="{BB962C8B-B14F-4D97-AF65-F5344CB8AC3E}">
        <p14:creationId xmlns:p14="http://schemas.microsoft.com/office/powerpoint/2010/main" val="12992651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0C46AE-C14B-1D8F-58EC-2EC28991EDBB}"/>
              </a:ext>
            </a:extLst>
          </p:cNvPr>
          <p:cNvSpPr txBox="1"/>
          <p:nvPr/>
        </p:nvSpPr>
        <p:spPr>
          <a:xfrm>
            <a:off x="434340" y="436751"/>
            <a:ext cx="6099048" cy="6186309"/>
          </a:xfrm>
          <a:prstGeom prst="rect">
            <a:avLst/>
          </a:prstGeom>
          <a:noFill/>
        </p:spPr>
        <p:txBody>
          <a:bodyPr wrap="square">
            <a:spAutoFit/>
          </a:bodyPr>
          <a:lstStyle/>
          <a:p>
            <a:r>
              <a:rPr lang="en-US" dirty="0"/>
              <a:t>abstract class TV{</a:t>
            </a:r>
          </a:p>
          <a:p>
            <a:r>
              <a:rPr lang="en-US" dirty="0"/>
              <a:t>    </a:t>
            </a:r>
          </a:p>
          <a:p>
            <a:r>
              <a:rPr lang="en-US" dirty="0"/>
              <a:t>    abstract void </a:t>
            </a:r>
            <a:r>
              <a:rPr lang="en-US" dirty="0" err="1"/>
              <a:t>turnOn</a:t>
            </a:r>
            <a:r>
              <a:rPr lang="en-US" dirty="0"/>
              <a:t>();</a:t>
            </a:r>
          </a:p>
          <a:p>
            <a:r>
              <a:rPr lang="en-US" dirty="0"/>
              <a:t>    abstract void </a:t>
            </a:r>
            <a:r>
              <a:rPr lang="en-US" dirty="0" err="1"/>
              <a:t>turnOff</a:t>
            </a:r>
            <a:r>
              <a:rPr lang="en-US" dirty="0"/>
              <a:t>();</a:t>
            </a:r>
          </a:p>
          <a:p>
            <a:r>
              <a:rPr lang="en-US" dirty="0"/>
              <a:t>}</a:t>
            </a:r>
          </a:p>
          <a:p>
            <a:endParaRPr lang="en-US" dirty="0"/>
          </a:p>
          <a:p>
            <a:r>
              <a:rPr lang="en-US" dirty="0"/>
              <a:t>// Concrete class implementing the abstract methods</a:t>
            </a:r>
          </a:p>
          <a:p>
            <a:r>
              <a:rPr lang="en-US" dirty="0"/>
              <a:t>class </a:t>
            </a:r>
            <a:r>
              <a:rPr lang="en-US" dirty="0" err="1"/>
              <a:t>TVRemote</a:t>
            </a:r>
            <a:r>
              <a:rPr lang="en-US" dirty="0"/>
              <a:t> extends TV{</a:t>
            </a:r>
          </a:p>
          <a:p>
            <a:r>
              <a:rPr lang="en-US" dirty="0"/>
              <a:t>    </a:t>
            </a:r>
          </a:p>
          <a:p>
            <a:r>
              <a:rPr lang="en-US" dirty="0"/>
              <a:t>    @Override</a:t>
            </a:r>
          </a:p>
          <a:p>
            <a:r>
              <a:rPr lang="en-US" dirty="0"/>
              <a:t>    void </a:t>
            </a:r>
            <a:r>
              <a:rPr lang="en-US" dirty="0" err="1"/>
              <a:t>turnOn</a:t>
            </a:r>
            <a:r>
              <a:rPr lang="en-US" dirty="0"/>
              <a:t>(){</a:t>
            </a:r>
          </a:p>
          <a:p>
            <a:r>
              <a:rPr lang="en-US" dirty="0"/>
              <a:t>        </a:t>
            </a:r>
          </a:p>
          <a:p>
            <a:r>
              <a:rPr lang="en-US" dirty="0"/>
              <a:t>        </a:t>
            </a:r>
            <a:r>
              <a:rPr lang="en-US" dirty="0" err="1"/>
              <a:t>System.out.println</a:t>
            </a:r>
            <a:r>
              <a:rPr lang="en-US" dirty="0"/>
              <a:t>("TV is turned ON.");</a:t>
            </a:r>
          </a:p>
          <a:p>
            <a:r>
              <a:rPr lang="en-US" dirty="0"/>
              <a:t>    }</a:t>
            </a:r>
          </a:p>
          <a:p>
            <a:endParaRPr lang="en-US" dirty="0"/>
          </a:p>
          <a:p>
            <a:r>
              <a:rPr lang="en-US" dirty="0"/>
              <a:t>    @Override</a:t>
            </a:r>
          </a:p>
          <a:p>
            <a:r>
              <a:rPr lang="en-US" dirty="0"/>
              <a:t>    void </a:t>
            </a:r>
            <a:r>
              <a:rPr lang="en-US" dirty="0" err="1"/>
              <a:t>turnOff</a:t>
            </a:r>
            <a:r>
              <a:rPr lang="en-US" dirty="0"/>
              <a:t>(){</a:t>
            </a:r>
          </a:p>
          <a:p>
            <a:r>
              <a:rPr lang="en-US" dirty="0"/>
              <a:t>        </a:t>
            </a:r>
          </a:p>
          <a:p>
            <a:r>
              <a:rPr lang="en-US" dirty="0"/>
              <a:t>        </a:t>
            </a:r>
            <a:r>
              <a:rPr lang="en-US" dirty="0" err="1"/>
              <a:t>System.out.println</a:t>
            </a:r>
            <a:r>
              <a:rPr lang="en-US" dirty="0"/>
              <a:t>("TV is turned OFF.");</a:t>
            </a:r>
          </a:p>
          <a:p>
            <a:r>
              <a:rPr lang="en-US" dirty="0"/>
              <a:t>    }</a:t>
            </a:r>
          </a:p>
          <a:p>
            <a:r>
              <a:rPr lang="en-US" dirty="0"/>
              <a:t>}</a:t>
            </a:r>
          </a:p>
          <a:p>
            <a:endParaRPr lang="en-US" dirty="0"/>
          </a:p>
        </p:txBody>
      </p:sp>
      <p:sp>
        <p:nvSpPr>
          <p:cNvPr id="5" name="TextBox 4">
            <a:extLst>
              <a:ext uri="{FF2B5EF4-FFF2-40B4-BE49-F238E27FC236}">
                <a16:creationId xmlns:a16="http://schemas.microsoft.com/office/drawing/2014/main" id="{F089D50E-1F7E-E6D8-1CB9-B8CC3A9B0E3D}"/>
              </a:ext>
            </a:extLst>
          </p:cNvPr>
          <p:cNvSpPr txBox="1"/>
          <p:nvPr/>
        </p:nvSpPr>
        <p:spPr>
          <a:xfrm>
            <a:off x="6899148" y="1828675"/>
            <a:ext cx="6099048" cy="2862322"/>
          </a:xfrm>
          <a:prstGeom prst="rect">
            <a:avLst/>
          </a:prstGeom>
          <a:noFill/>
        </p:spPr>
        <p:txBody>
          <a:bodyPr wrap="square">
            <a:spAutoFit/>
          </a:bodyPr>
          <a:lstStyle/>
          <a:p>
            <a:r>
              <a:rPr lang="en-US" dirty="0"/>
              <a:t>// Main class to demonstrate abstraction</a:t>
            </a:r>
          </a:p>
          <a:p>
            <a:r>
              <a:rPr lang="en-US" dirty="0"/>
              <a:t>public class Test{</a:t>
            </a:r>
          </a:p>
          <a:p>
            <a:r>
              <a:rPr lang="en-US" dirty="0"/>
              <a:t>    </a:t>
            </a:r>
          </a:p>
          <a:p>
            <a:r>
              <a:rPr lang="en-US" dirty="0"/>
              <a:t>    public static void main(String[] </a:t>
            </a:r>
            <a:r>
              <a:rPr lang="en-US" dirty="0" err="1"/>
              <a:t>args</a:t>
            </a:r>
            <a:r>
              <a:rPr lang="en-US" dirty="0"/>
              <a:t>){</a:t>
            </a:r>
          </a:p>
          <a:p>
            <a:r>
              <a:rPr lang="en-US" dirty="0"/>
              <a:t>        </a:t>
            </a:r>
          </a:p>
          <a:p>
            <a:r>
              <a:rPr lang="en-US" dirty="0"/>
              <a:t>        TV remote = new </a:t>
            </a:r>
            <a:r>
              <a:rPr lang="en-US" dirty="0" err="1"/>
              <a:t>TVRemote</a:t>
            </a:r>
            <a:r>
              <a:rPr lang="en-US" dirty="0"/>
              <a:t>();</a:t>
            </a:r>
          </a:p>
          <a:p>
            <a:r>
              <a:rPr lang="en-US" dirty="0"/>
              <a:t>        </a:t>
            </a:r>
            <a:r>
              <a:rPr lang="en-US" dirty="0" err="1"/>
              <a:t>remote.turnOn</a:t>
            </a:r>
            <a:r>
              <a:rPr lang="en-US" dirty="0"/>
              <a:t>();   </a:t>
            </a:r>
          </a:p>
          <a:p>
            <a:r>
              <a:rPr lang="en-US" dirty="0"/>
              <a:t>        </a:t>
            </a:r>
            <a:r>
              <a:rPr lang="en-US" dirty="0" err="1"/>
              <a:t>remote.turnOff</a:t>
            </a:r>
            <a:r>
              <a:rPr lang="en-US" dirty="0"/>
              <a:t>();  </a:t>
            </a:r>
          </a:p>
          <a:p>
            <a:r>
              <a:rPr lang="en-US" dirty="0"/>
              <a:t>    }</a:t>
            </a:r>
          </a:p>
          <a:p>
            <a:r>
              <a:rPr lang="en-US" dirty="0"/>
              <a:t>}</a:t>
            </a:r>
          </a:p>
        </p:txBody>
      </p:sp>
    </p:spTree>
    <p:extLst>
      <p:ext uri="{BB962C8B-B14F-4D97-AF65-F5344CB8AC3E}">
        <p14:creationId xmlns:p14="http://schemas.microsoft.com/office/powerpoint/2010/main" val="183414849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149</TotalTime>
  <Words>3018</Words>
  <Application>Microsoft Office PowerPoint</Application>
  <PresentationFormat>Widescreen</PresentationFormat>
  <Paragraphs>501</Paragraphs>
  <Slides>46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Times New Roman</vt:lpstr>
      <vt:lpstr>Trebuchet MS</vt:lpstr>
      <vt:lpstr>Wingdings 3</vt:lpstr>
      <vt:lpstr>Facet</vt:lpstr>
      <vt:lpstr>Object Oriented Software Development Lab</vt:lpstr>
      <vt:lpstr>Installation</vt:lpstr>
      <vt:lpstr>Week 1: Review of Object-Oriented Programming Concepts</vt:lpstr>
      <vt:lpstr>Class and Object</vt:lpstr>
      <vt:lpstr>Class and Object</vt:lpstr>
      <vt:lpstr>Class and Object - Example</vt:lpstr>
      <vt:lpstr>Encapsulation</vt:lpstr>
      <vt:lpstr>Encapsulation</vt:lpstr>
      <vt:lpstr>Implementation of Encapsulation</vt:lpstr>
      <vt:lpstr>Inheritance</vt:lpstr>
      <vt:lpstr>PowerPoint Presentation</vt:lpstr>
      <vt:lpstr>Types of Inheritance</vt:lpstr>
      <vt:lpstr>1. Single Inheritance</vt:lpstr>
      <vt:lpstr>PowerPoint Presentation</vt:lpstr>
      <vt:lpstr>2. Multilevel Inheritance</vt:lpstr>
      <vt:lpstr>PowerPoint Presentation</vt:lpstr>
      <vt:lpstr>3. Hierarchical Inheritance</vt:lpstr>
      <vt:lpstr>PowerPoint Presentation</vt:lpstr>
      <vt:lpstr>4. Multiple Inheritance (through interface)</vt:lpstr>
      <vt:lpstr>PowerPoint Presentation</vt:lpstr>
      <vt:lpstr>5. Hybrid Inheritance</vt:lpstr>
      <vt:lpstr>Polymorphism</vt:lpstr>
      <vt:lpstr>PowerPoint Presentation</vt:lpstr>
      <vt:lpstr>Types of Polymorphism</vt:lpstr>
      <vt:lpstr>Method Overloading</vt:lpstr>
      <vt:lpstr>PowerPoint Presentation</vt:lpstr>
      <vt:lpstr>Method Overriding</vt:lpstr>
      <vt:lpstr>Method Overriding</vt:lpstr>
      <vt:lpstr>super and this keywords</vt:lpstr>
      <vt:lpstr>this keyword</vt:lpstr>
      <vt:lpstr>PowerPoint Presentation</vt:lpstr>
      <vt:lpstr>super keyword</vt:lpstr>
      <vt:lpstr>PowerPoint Presentation</vt:lpstr>
      <vt:lpstr>Constructors</vt:lpstr>
      <vt:lpstr>Types of Constructors</vt:lpstr>
      <vt:lpstr>1. Default Constructors</vt:lpstr>
      <vt:lpstr>PowerPoint Presentation</vt:lpstr>
      <vt:lpstr>2. Parameterized Constructors</vt:lpstr>
      <vt:lpstr>PowerPoint Presentation</vt:lpstr>
      <vt:lpstr>3. Copy Constructors</vt:lpstr>
      <vt:lpstr>PowerPoint Presentation</vt:lpstr>
      <vt:lpstr>4. Private Constructors</vt:lpstr>
      <vt:lpstr>PowerPoint Presentation</vt:lpstr>
      <vt:lpstr>Abstraction</vt:lpstr>
      <vt:lpstr>Abstraction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Jayashree Hegde K [MAHE-MIT]</dc:creator>
  <cp:lastModifiedBy>Jayashree Hegde K [MAHE-MIT]</cp:lastModifiedBy>
  <cp:revision>1</cp:revision>
  <dcterms:created xsi:type="dcterms:W3CDTF">2026-01-04T21:37:22Z</dcterms:created>
  <dcterms:modified xsi:type="dcterms:W3CDTF">2026-01-05T00:06:33Z</dcterms:modified>
</cp:coreProperties>
</file>